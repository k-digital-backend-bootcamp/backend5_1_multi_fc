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258" r:id="rId4"/>
    <p:sldId id="276" r:id="rId5"/>
    <p:sldId id="259" r:id="rId6"/>
    <p:sldId id="271" r:id="rId7"/>
    <p:sldId id="282" r:id="rId8"/>
    <p:sldId id="279" r:id="rId9"/>
    <p:sldId id="318" r:id="rId10"/>
    <p:sldId id="265" r:id="rId11"/>
    <p:sldId id="264" r:id="rId12"/>
    <p:sldId id="284" r:id="rId13"/>
    <p:sldId id="285" r:id="rId14"/>
    <p:sldId id="286" r:id="rId15"/>
    <p:sldId id="287" r:id="rId16"/>
    <p:sldId id="294" r:id="rId17"/>
    <p:sldId id="289" r:id="rId18"/>
    <p:sldId id="290" r:id="rId19"/>
    <p:sldId id="319" r:id="rId20"/>
    <p:sldId id="324" r:id="rId21"/>
    <p:sldId id="291" r:id="rId22"/>
    <p:sldId id="325" r:id="rId23"/>
    <p:sldId id="328" r:id="rId24"/>
    <p:sldId id="329" r:id="rId25"/>
    <p:sldId id="326" r:id="rId26"/>
    <p:sldId id="330" r:id="rId27"/>
    <p:sldId id="327" r:id="rId28"/>
    <p:sldId id="331" r:id="rId29"/>
    <p:sldId id="292" r:id="rId30"/>
    <p:sldId id="293" r:id="rId31"/>
    <p:sldId id="311" r:id="rId32"/>
    <p:sldId id="312" r:id="rId33"/>
    <p:sldId id="313" r:id="rId34"/>
    <p:sldId id="261" r:id="rId35"/>
    <p:sldId id="288" r:id="rId36"/>
    <p:sldId id="295" r:id="rId37"/>
    <p:sldId id="306" r:id="rId38"/>
    <p:sldId id="314" r:id="rId39"/>
    <p:sldId id="320" r:id="rId40"/>
    <p:sldId id="321" r:id="rId41"/>
    <p:sldId id="322" r:id="rId42"/>
    <p:sldId id="323" r:id="rId43"/>
    <p:sldId id="296" r:id="rId44"/>
    <p:sldId id="301" r:id="rId45"/>
    <p:sldId id="304" r:id="rId46"/>
    <p:sldId id="336" r:id="rId47"/>
    <p:sldId id="339" r:id="rId48"/>
    <p:sldId id="340" r:id="rId49"/>
    <p:sldId id="334" r:id="rId50"/>
    <p:sldId id="335" r:id="rId51"/>
    <p:sldId id="338" r:id="rId52"/>
    <p:sldId id="337" r:id="rId53"/>
    <p:sldId id="297" r:id="rId54"/>
    <p:sldId id="263" r:id="rId55"/>
    <p:sldId id="342" r:id="rId56"/>
    <p:sldId id="343" r:id="rId57"/>
    <p:sldId id="341" r:id="rId58"/>
    <p:sldId id="275" r:id="rId59"/>
    <p:sldId id="310" r:id="rId60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923A"/>
    <a:srgbClr val="294717"/>
    <a:srgbClr val="FBF6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86" autoAdjust="0"/>
    <p:restoredTop sz="86257" autoAdjust="0"/>
  </p:normalViewPr>
  <p:slideViewPr>
    <p:cSldViewPr>
      <p:cViewPr varScale="1">
        <p:scale>
          <a:sx n="36" d="100"/>
          <a:sy n="36" d="100"/>
        </p:scale>
        <p:origin x="744" y="48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2B2BC9D-A816-4D0A-858B-1D023B3A8ACA}" type="datetime1">
              <a:rPr lang="ko-KR" altLang="en-US" smtClean="0"/>
              <a:pPr lvl="0"/>
              <a:t>2025-12-02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09F4262C-968C-4EE9-8164-CE16364706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72476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967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860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343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78042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6749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3323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216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85850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8842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10519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30038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23093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2955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66616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20129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95362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18159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00855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0555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9434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2041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591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05518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82457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7295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9995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3347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32464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4782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9632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90531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3814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37913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06695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8407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74785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47781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450358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74597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60654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9398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232869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015133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811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png"/><Relationship Id="rId7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2.png"/><Relationship Id="rId5" Type="http://schemas.openxmlformats.org/officeDocument/2006/relationships/image" Target="../media/image18.png"/><Relationship Id="rId10" Type="http://schemas.openxmlformats.org/officeDocument/2006/relationships/image" Target="../media/image10.png"/><Relationship Id="rId4" Type="http://schemas.openxmlformats.org/officeDocument/2006/relationships/image" Target="../media/image17.png"/><Relationship Id="rId9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jpe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4.png"/><Relationship Id="rId7" Type="http://schemas.openxmlformats.org/officeDocument/2006/relationships/image" Target="../media/image3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10.png"/><Relationship Id="rId9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4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34.png"/><Relationship Id="rId9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10.png"/><Relationship Id="rId3" Type="http://schemas.openxmlformats.org/officeDocument/2006/relationships/image" Target="../media/image16.png"/><Relationship Id="rId7" Type="http://schemas.openxmlformats.org/officeDocument/2006/relationships/image" Target="../media/image43.png"/><Relationship Id="rId12" Type="http://schemas.openxmlformats.org/officeDocument/2006/relationships/image" Target="../media/image4.png"/><Relationship Id="rId17" Type="http://schemas.openxmlformats.org/officeDocument/2006/relationships/image" Target="../media/image4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2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16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10.png"/><Relationship Id="rId10" Type="http://schemas.openxmlformats.org/officeDocument/2006/relationships/hyperlink" Target="https://lavish-mountain-fb1.notion.site/5-29928b27a55980b6a7aadc441435643a?source=copy_link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5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K-digital-backend-bootcamp/Backend5_1_Multi_FC" TargetMode="External"/><Relationship Id="rId3" Type="http://schemas.openxmlformats.org/officeDocument/2006/relationships/image" Target="../media/image16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10.png"/><Relationship Id="rId10" Type="http://schemas.openxmlformats.org/officeDocument/2006/relationships/image" Target="../media/image58.png"/><Relationship Id="rId4" Type="http://schemas.openxmlformats.org/officeDocument/2006/relationships/image" Target="../media/image4.png"/><Relationship Id="rId9" Type="http://schemas.openxmlformats.org/officeDocument/2006/relationships/image" Target="../media/image5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16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16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16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10.png"/><Relationship Id="rId10" Type="http://schemas.openxmlformats.org/officeDocument/2006/relationships/image" Target="../media/image68.png"/><Relationship Id="rId4" Type="http://schemas.openxmlformats.org/officeDocument/2006/relationships/image" Target="../media/image4.png"/><Relationship Id="rId9" Type="http://schemas.openxmlformats.org/officeDocument/2006/relationships/image" Target="../media/image6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taeran0129@naver.com" TargetMode="Externa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16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5" Type="http://schemas.openxmlformats.org/officeDocument/2006/relationships/image" Target="../media/image10.png"/><Relationship Id="rId10" Type="http://schemas.openxmlformats.org/officeDocument/2006/relationships/image" Target="../media/image85.png"/><Relationship Id="rId4" Type="http://schemas.openxmlformats.org/officeDocument/2006/relationships/image" Target="../media/image4.png"/><Relationship Id="rId9" Type="http://schemas.openxmlformats.org/officeDocument/2006/relationships/image" Target="../media/image84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6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1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3">
            <a:lum bright="70000" contrast="-70000"/>
            <a:alphaModFix amt="35000"/>
          </a:blip>
          <a:stretch>
            <a:fillRect/>
          </a:stretch>
        </p:blipFill>
        <p:spPr>
          <a:xfrm>
            <a:off x="-1447800" y="-990600"/>
            <a:ext cx="8686800" cy="868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3"/>
          <p:cNvSpPr txBox="1"/>
          <p:nvPr/>
        </p:nvSpPr>
        <p:spPr>
          <a:xfrm>
            <a:off x="762000" y="4114800"/>
            <a:ext cx="19735800" cy="2286000"/>
          </a:xfrm>
          <a:prstGeom prst="rect">
            <a:avLst/>
          </a:prstGeom>
        </p:spPr>
        <p:txBody>
          <a:bodyPr lIns="0" tIns="639011" rIns="0" bIns="0" anchor="t"/>
          <a:lstStyle/>
          <a:p>
            <a:pPr lvl="0" algn="l">
              <a:lnSpc>
                <a:spcPct val="83000"/>
              </a:lnSpc>
              <a:defRPr/>
            </a:pPr>
            <a:r>
              <a:rPr lang="ko-KR" altLang="en-US" sz="10000" i="0" u="none" strike="noStrike" spc="-1006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개인  유저를  위한   </a:t>
            </a:r>
            <a:r>
              <a:rPr lang="ko-KR" altLang="en-US" sz="10000" i="0" u="none" strike="noStrike" spc="-1006" dirty="0" err="1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풋살매칭</a:t>
            </a:r>
            <a:r>
              <a:rPr lang="ko-KR" altLang="en-US" sz="10000" spc="-1006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  </a:t>
            </a:r>
            <a:r>
              <a:rPr lang="ko-KR" altLang="en-US" sz="10000" i="0" u="none" strike="noStrike" spc="-1006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플랫폼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98600" y="800100"/>
            <a:ext cx="3289300" cy="508000"/>
          </a:xfrm>
          <a:prstGeom prst="rect">
            <a:avLst/>
          </a:prstGeom>
        </p:spPr>
        <p:txBody>
          <a:bodyPr lIns="0" tIns="36058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2839" b="0" i="0" u="none" strike="noStrike" dirty="0" err="1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Multi_FC</a:t>
            </a:r>
            <a:endParaRPr lang="en-US" altLang="ko-KR" sz="2839" b="0" i="0" u="none" strike="noStrike" dirty="0">
              <a:solidFill>
                <a:srgbClr val="464749"/>
              </a:solidFill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543300" y="6591300"/>
            <a:ext cx="19964400" cy="4495800"/>
          </a:xfrm>
          <a:prstGeom prst="rect">
            <a:avLst/>
          </a:prstGeom>
          <a:effectLst>
            <a:outerShdw blurRad="76200" dist="76200" dir="2700000" algn="ctr" rotWithShape="0">
              <a:srgbClr val="000000">
                <a:alpha val="56000"/>
              </a:srgbClr>
            </a:outerShdw>
          </a:effectLst>
        </p:spPr>
        <p:txBody>
          <a:bodyPr lIns="0" tIns="641850" rIns="0" bIns="0" anchor="t"/>
          <a:lstStyle/>
          <a:p>
            <a:pPr lvl="0" algn="r">
              <a:lnSpc>
                <a:spcPct val="83000"/>
              </a:lnSpc>
              <a:defRPr/>
            </a:pPr>
            <a:r>
              <a:rPr lang="en-US" altLang="ko-KR" sz="25269" b="1" i="0" u="none" strike="noStrike" spc="-1010" dirty="0" err="1">
                <a:solidFill>
                  <a:srgbClr val="294717"/>
                </a:solidFill>
                <a:latin typeface="나눔휴먼OTF Heavy" panose="020B0600000101010101" pitchFamily="34" charset="-127"/>
                <a:ea typeface="나눔휴먼OTF Heavy" panose="020B0600000101010101" pitchFamily="34" charset="-127"/>
              </a:rPr>
              <a:t>Multi_FC</a:t>
            </a:r>
            <a:endParaRPr lang="en-US" altLang="ko-KR" sz="25269" b="1" i="0" u="none" strike="noStrike" spc="-1010" dirty="0">
              <a:solidFill>
                <a:srgbClr val="294717"/>
              </a:solidFill>
              <a:latin typeface="나눔휴먼OTF Heavy" panose="020B0600000101010101" pitchFamily="34" charset="-127"/>
              <a:ea typeface="나눔휴먼OTF Heavy" panose="020B0600000101010101" pitchFamily="34" charset="-127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9354800" y="863600"/>
            <a:ext cx="4025900" cy="457200"/>
          </a:xfrm>
          <a:prstGeom prst="rect">
            <a:avLst/>
          </a:prstGeom>
        </p:spPr>
        <p:txBody>
          <a:bodyPr anchor="t"/>
          <a:lstStyle/>
          <a:p>
            <a:pPr lvl="0" algn="r">
              <a:lnSpc>
                <a:spcPct val="124499"/>
              </a:lnSpc>
              <a:defRPr/>
            </a:pPr>
            <a:r>
              <a:rPr lang="en-US" altLang="ko-KR" sz="2592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December 03</a:t>
            </a:r>
            <a:r>
              <a:rPr lang="en" sz="2592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, </a:t>
            </a:r>
            <a:r>
              <a:rPr lang="en-US" altLang="ko-KR" sz="2592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2025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10833100"/>
            <a:ext cx="22364700" cy="25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990600" y="12268200"/>
            <a:ext cx="7010400" cy="546100"/>
          </a:xfrm>
          <a:prstGeom prst="rect">
            <a:avLst/>
          </a:prstGeom>
        </p:spPr>
        <p:txBody>
          <a:bodyPr lIns="0" tIns="89578" rIns="0" bIns="0" anchor="t"/>
          <a:lstStyle/>
          <a:p>
            <a:pPr lvl="0" algn="l">
              <a:lnSpc>
                <a:spcPct val="78020"/>
              </a:lnSpc>
              <a:defRPr/>
            </a:pPr>
            <a:r>
              <a:rPr lang="en-US" altLang="ko-KR" sz="3066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[5</a:t>
            </a:r>
            <a:r>
              <a:rPr lang="ko-KR" altLang="en-US" sz="3066" b="0" i="0" u="none" strike="noStrike" dirty="0" err="1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회차</a:t>
            </a:r>
            <a:r>
              <a:rPr lang="en-US" altLang="ko-KR" sz="3066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]</a:t>
            </a:r>
            <a:r>
              <a:rPr lang="ko-KR" altLang="en-US" sz="3066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 </a:t>
            </a:r>
            <a:r>
              <a:rPr lang="ko-KR" altLang="en-US" sz="3066" b="0" i="0" u="none" strike="noStrike" dirty="0" err="1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백엔드</a:t>
            </a:r>
            <a:r>
              <a:rPr lang="ko-KR" altLang="en-US" sz="3066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 개발자 부트캠프</a:t>
            </a:r>
            <a:r>
              <a:rPr lang="en-US" altLang="ko-KR" sz="3066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(</a:t>
            </a:r>
            <a:r>
              <a:rPr lang="ko-KR" altLang="en-US" sz="3066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스프링</a:t>
            </a:r>
            <a:r>
              <a:rPr lang="en-US" altLang="ko-KR" sz="3066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0600" y="11506200"/>
            <a:ext cx="2895600" cy="4953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67660"/>
              </a:lnSpc>
              <a:defRPr/>
            </a:pPr>
            <a:r>
              <a:rPr lang="en-US" altLang="ko-KR" sz="28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MULTICAMPUS</a:t>
            </a:r>
          </a:p>
        </p:txBody>
      </p:sp>
      <p:sp>
        <p:nvSpPr>
          <p:cNvPr id="16" name="TextBox 10"/>
          <p:cNvSpPr txBox="1"/>
          <p:nvPr/>
        </p:nvSpPr>
        <p:spPr>
          <a:xfrm>
            <a:off x="20802600" y="12255500"/>
            <a:ext cx="2590800" cy="546100"/>
          </a:xfrm>
          <a:prstGeom prst="rect">
            <a:avLst/>
          </a:prstGeom>
        </p:spPr>
        <p:txBody>
          <a:bodyPr lIns="0" tIns="89578" rIns="0" bIns="0" anchor="t"/>
          <a:lstStyle/>
          <a:p>
            <a:pPr lvl="0" algn="l">
              <a:lnSpc>
                <a:spcPct val="78020"/>
              </a:lnSpc>
              <a:defRPr/>
            </a:pPr>
            <a:r>
              <a:rPr lang="en-US" altLang="ko-KR" sz="3066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1</a:t>
            </a:r>
            <a:r>
              <a:rPr lang="ko-KR" altLang="en-US" sz="3066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조  </a:t>
            </a:r>
            <a:r>
              <a:rPr lang="en-US" altLang="ko-KR" sz="3066" b="0" i="0" u="none" strike="noStrike" dirty="0" err="1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Multi_fc</a:t>
            </a:r>
            <a:endParaRPr lang="en-US" altLang="ko-KR" sz="3066" b="0" i="0" u="none" strike="noStrike" dirty="0">
              <a:solidFill>
                <a:srgbClr val="464749"/>
              </a:solidFill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3E9DFEF-A393-608B-400A-61475D35A5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8509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80B63C50-9E12-96A3-5FBD-DD245AB6E7E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-401748"/>
            <a:ext cx="24384000" cy="14519495"/>
            <a:chOff x="0" y="-401748"/>
            <a:chExt cx="24384000" cy="14519495"/>
          </a:xfrm>
        </p:grpSpPr>
        <p:pic>
          <p:nvPicPr>
            <p:cNvPr id="2" name="Picture 2"/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alphaModFix amt="80000"/>
            </a:blip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</p:pic>
        <p:pic>
          <p:nvPicPr>
            <p:cNvPr id="20" name="그림 19"/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4">
              <a:lum bright="70000" contrast="-70000"/>
              <a:alphaModFix amt="20000"/>
            </a:blip>
            <a:stretch>
              <a:fillRect/>
            </a:stretch>
          </p:blipFill>
          <p:spPr>
            <a:xfrm>
              <a:off x="4994415" y="-401748"/>
              <a:ext cx="14519495" cy="14519495"/>
            </a:xfrm>
            <a:prstGeom prst="rect">
              <a:avLst/>
            </a:prstGeom>
          </p:spPr>
        </p:pic>
      </p:grpSp>
      <p:pic>
        <p:nvPicPr>
          <p:cNvPr id="3" name="Picture 3"/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52000" y="8077200"/>
            <a:ext cx="22680000" cy="720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914401" y="304800"/>
            <a:ext cx="2057399" cy="2768600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800" b="1" i="0" u="none" strike="noStrike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목차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01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5105164-62FF-FB91-DA55-B452F1E3F887}"/>
              </a:ext>
            </a:extLst>
          </p:cNvPr>
          <p:cNvGrpSpPr/>
          <p:nvPr/>
        </p:nvGrpSpPr>
        <p:grpSpPr>
          <a:xfrm>
            <a:off x="3388314" y="2842846"/>
            <a:ext cx="4460286" cy="3100754"/>
            <a:chOff x="9490634" y="457200"/>
            <a:chExt cx="3728010" cy="3100754"/>
          </a:xfrm>
        </p:grpSpPr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A0FC120C-58E1-2ED1-BFD9-D138B8077361}"/>
                </a:ext>
              </a:extLst>
            </p:cNvPr>
            <p:cNvGrpSpPr/>
            <p:nvPr/>
          </p:nvGrpSpPr>
          <p:grpSpPr>
            <a:xfrm>
              <a:off x="10421190" y="457200"/>
              <a:ext cx="1866900" cy="787400"/>
              <a:chOff x="8045450" y="2477192"/>
              <a:chExt cx="1866900" cy="787400"/>
            </a:xfrm>
          </p:grpSpPr>
          <p:pic>
            <p:nvPicPr>
              <p:cNvPr id="53" name="Picture 10">
                <a:extLst>
                  <a:ext uri="{FF2B5EF4-FFF2-40B4-BE49-F238E27FC236}">
                    <a16:creationId xmlns:a16="http://schemas.microsoft.com/office/drawing/2014/main" id="{34107011-D3C9-A3B1-3AED-F088FC172D9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tretch>
                <a:fillRect/>
              </a:stretch>
            </p:blipFill>
            <p:spPr>
              <a:xfrm>
                <a:off x="8045450" y="2477192"/>
                <a:ext cx="1866900" cy="787400"/>
              </a:xfrm>
              <a:prstGeom prst="rect">
                <a:avLst/>
              </a:prstGeom>
            </p:spPr>
          </p:pic>
          <p:sp>
            <p:nvSpPr>
              <p:cNvPr id="54" name="TextBox 11">
                <a:extLst>
                  <a:ext uri="{FF2B5EF4-FFF2-40B4-BE49-F238E27FC236}">
                    <a16:creationId xmlns:a16="http://schemas.microsoft.com/office/drawing/2014/main" id="{BF76700F-DA87-666B-5D32-44C039D181ED}"/>
                  </a:ext>
                </a:extLst>
              </p:cNvPr>
              <p:cNvSpPr txBox="1"/>
              <p:nvPr/>
            </p:nvSpPr>
            <p:spPr>
              <a:xfrm>
                <a:off x="8222380" y="2537599"/>
                <a:ext cx="1447800" cy="571500"/>
              </a:xfrm>
              <a:prstGeom prst="rect">
                <a:avLst/>
              </a:prstGeom>
            </p:spPr>
            <p:txBody>
              <a:bodyPr anchor="ctr"/>
              <a:lstStyle/>
              <a:p>
                <a:pPr lvl="0" algn="ctr">
                  <a:lnSpc>
                    <a:spcPct val="124499"/>
                  </a:lnSpc>
                  <a:defRPr/>
                </a:pPr>
                <a:r>
                  <a:rPr lang="en" sz="4000" b="1" i="0" u="none" strike="noStrike" dirty="0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Part 1</a:t>
                </a:r>
              </a:p>
            </p:txBody>
          </p:sp>
        </p:grpSp>
        <p:sp>
          <p:nvSpPr>
            <p:cNvPr id="56" name="TextBox 15">
              <a:extLst>
                <a:ext uri="{FF2B5EF4-FFF2-40B4-BE49-F238E27FC236}">
                  <a16:creationId xmlns:a16="http://schemas.microsoft.com/office/drawing/2014/main" id="{A4C1C90B-124E-A62A-5D2B-1EE24A24B938}"/>
                </a:ext>
              </a:extLst>
            </p:cNvPr>
            <p:cNvSpPr txBox="1"/>
            <p:nvPr/>
          </p:nvSpPr>
          <p:spPr>
            <a:xfrm>
              <a:off x="9490634" y="2922954"/>
              <a:ext cx="3728010" cy="635000"/>
            </a:xfrm>
            <a:prstGeom prst="rect">
              <a:avLst/>
            </a:prstGeom>
          </p:spPr>
          <p:txBody>
            <a:bodyPr anchor="ctr" anchorCtr="0"/>
            <a:lstStyle/>
            <a:p>
              <a:pPr lvl="0" algn="ctr">
                <a:lnSpc>
                  <a:spcPts val="4800"/>
                </a:lnSpc>
                <a:defRPr/>
              </a:pPr>
              <a:r>
                <a:rPr lang="ko-KR" altLang="en-US" sz="3200" b="0" i="0" u="none" strike="noStrike" dirty="0">
                  <a:solidFill>
                    <a:srgbClr val="294717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rPr>
                <a:t>팀 소개</a:t>
              </a:r>
              <a:endParaRPr lang="en-US" altLang="ko-KR" sz="3200" dirty="0">
                <a:solidFill>
                  <a:srgbClr val="294717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endParaRPr>
            </a:p>
            <a:p>
              <a:pPr lvl="0" algn="ctr">
                <a:lnSpc>
                  <a:spcPts val="4800"/>
                </a:lnSpc>
                <a:defRPr/>
              </a:pPr>
              <a:r>
                <a:rPr lang="ko-KR" altLang="en-US" sz="3200" dirty="0">
                  <a:solidFill>
                    <a:srgbClr val="294717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rPr>
                <a:t>프로젝트 소개</a:t>
              </a:r>
              <a:endParaRPr lang="en-US" altLang="ko-KR" sz="3200" dirty="0">
                <a:solidFill>
                  <a:srgbClr val="294717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endParaRPr>
            </a:p>
            <a:p>
              <a:pPr lvl="0" algn="ctr">
                <a:lnSpc>
                  <a:spcPts val="4800"/>
                </a:lnSpc>
                <a:defRPr/>
              </a:pPr>
              <a:r>
                <a:rPr lang="ko-KR" altLang="en-US" sz="3200" b="0" i="0" u="none" strike="noStrike" dirty="0">
                  <a:solidFill>
                    <a:srgbClr val="294717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rPr>
                <a:t>프로젝트 로드맵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1B9B5D9-F509-CA74-EC43-E96E11C7A6A1}"/>
                </a:ext>
              </a:extLst>
            </p:cNvPr>
            <p:cNvSpPr txBox="1"/>
            <p:nvPr/>
          </p:nvSpPr>
          <p:spPr>
            <a:xfrm>
              <a:off x="9610131" y="1447800"/>
              <a:ext cx="348901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4800" dirty="0">
                  <a:latin typeface="나눔휴먼OTF Bold" panose="020B0600000101010101" pitchFamily="34" charset="-127"/>
                  <a:ea typeface="나눔휴먼OTF Bold" panose="020B0600000101010101" pitchFamily="34" charset="-127"/>
                </a:rPr>
                <a:t>프로젝트 개요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23E1A75-E08E-5150-DEB5-E6F4980C04DD}"/>
              </a:ext>
            </a:extLst>
          </p:cNvPr>
          <p:cNvGrpSpPr/>
          <p:nvPr/>
        </p:nvGrpSpPr>
        <p:grpSpPr>
          <a:xfrm>
            <a:off x="9942059" y="2819400"/>
            <a:ext cx="4460286" cy="3809999"/>
            <a:chOff x="8283800" y="-32503"/>
            <a:chExt cx="3728010" cy="3580134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F856B4C2-BF12-D150-5B0D-DA14D0387D92}"/>
                </a:ext>
              </a:extLst>
            </p:cNvPr>
            <p:cNvGrpSpPr/>
            <p:nvPr/>
          </p:nvGrpSpPr>
          <p:grpSpPr>
            <a:xfrm>
              <a:off x="9214356" y="-32503"/>
              <a:ext cx="1866900" cy="787400"/>
              <a:chOff x="8045450" y="2477192"/>
              <a:chExt cx="1866900" cy="787400"/>
            </a:xfrm>
          </p:grpSpPr>
          <p:pic>
            <p:nvPicPr>
              <p:cNvPr id="10" name="Picture 10">
                <a:extLst>
                  <a:ext uri="{FF2B5EF4-FFF2-40B4-BE49-F238E27FC236}">
                    <a16:creationId xmlns:a16="http://schemas.microsoft.com/office/drawing/2014/main" id="{000345DF-7332-EEDA-6B6B-D7B13392BDE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tretch>
                <a:fillRect/>
              </a:stretch>
            </p:blipFill>
            <p:spPr>
              <a:xfrm>
                <a:off x="8045450" y="2477192"/>
                <a:ext cx="1866900" cy="787400"/>
              </a:xfrm>
              <a:prstGeom prst="rect">
                <a:avLst/>
              </a:prstGeom>
            </p:spPr>
          </p:pic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A1D3F900-411B-2631-8D25-F0870C2BEA2E}"/>
                  </a:ext>
                </a:extLst>
              </p:cNvPr>
              <p:cNvSpPr txBox="1"/>
              <p:nvPr/>
            </p:nvSpPr>
            <p:spPr>
              <a:xfrm>
                <a:off x="8221835" y="2537599"/>
                <a:ext cx="1447800" cy="571500"/>
              </a:xfrm>
              <a:prstGeom prst="rect">
                <a:avLst/>
              </a:prstGeom>
            </p:spPr>
            <p:txBody>
              <a:bodyPr anchor="ctr"/>
              <a:lstStyle/>
              <a:p>
                <a:pPr lvl="0" algn="ctr">
                  <a:lnSpc>
                    <a:spcPct val="124499"/>
                  </a:lnSpc>
                  <a:defRPr/>
                </a:pPr>
                <a:r>
                  <a:rPr lang="en" sz="4000" b="1" i="0" u="none" strike="noStrike" dirty="0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Part 2</a:t>
                </a:r>
              </a:p>
            </p:txBody>
          </p:sp>
        </p:grpSp>
        <p:sp>
          <p:nvSpPr>
            <p:cNvPr id="8" name="TextBox 15">
              <a:extLst>
                <a:ext uri="{FF2B5EF4-FFF2-40B4-BE49-F238E27FC236}">
                  <a16:creationId xmlns:a16="http://schemas.microsoft.com/office/drawing/2014/main" id="{5157DC46-F320-FCDD-B03F-12809AAE11E2}"/>
                </a:ext>
              </a:extLst>
            </p:cNvPr>
            <p:cNvSpPr txBox="1"/>
            <p:nvPr/>
          </p:nvSpPr>
          <p:spPr>
            <a:xfrm>
              <a:off x="8283800" y="2912631"/>
              <a:ext cx="3728010" cy="635000"/>
            </a:xfrm>
            <a:prstGeom prst="rect">
              <a:avLst/>
            </a:prstGeom>
          </p:spPr>
          <p:txBody>
            <a:bodyPr anchor="ctr" anchorCtr="0"/>
            <a:lstStyle/>
            <a:p>
              <a:pPr lvl="0" algn="ctr">
                <a:lnSpc>
                  <a:spcPts val="4800"/>
                </a:lnSpc>
                <a:defRPr/>
              </a:pPr>
              <a:r>
                <a:rPr lang="ko-KR" altLang="en-US" sz="3200" b="0" i="0" u="none" strike="noStrike" dirty="0">
                  <a:solidFill>
                    <a:srgbClr val="294717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rPr>
                <a:t>아키텍처 설계</a:t>
              </a:r>
              <a:endParaRPr lang="en-US" altLang="ko-KR" sz="3200" b="0" i="0" u="none" strike="noStrike" dirty="0">
                <a:solidFill>
                  <a:srgbClr val="294717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endParaRPr>
            </a:p>
            <a:p>
              <a:pPr lvl="0" algn="ctr">
                <a:lnSpc>
                  <a:spcPts val="4800"/>
                </a:lnSpc>
                <a:defRPr/>
              </a:pPr>
              <a:r>
                <a:rPr lang="ko-KR" altLang="en-US" sz="3200" b="0" i="0" u="none" strike="noStrike" dirty="0">
                  <a:solidFill>
                    <a:srgbClr val="294717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rPr>
                <a:t>화면 설계</a:t>
              </a:r>
              <a:endParaRPr lang="en-US" altLang="ko-KR" sz="3200" b="0" i="0" u="none" strike="noStrike" dirty="0">
                <a:solidFill>
                  <a:srgbClr val="294717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endParaRPr>
            </a:p>
            <a:p>
              <a:pPr lvl="0" algn="ctr">
                <a:lnSpc>
                  <a:spcPts val="4800"/>
                </a:lnSpc>
                <a:defRPr/>
              </a:pPr>
              <a:r>
                <a:rPr lang="en-US" altLang="ko-KR" sz="3200" dirty="0">
                  <a:solidFill>
                    <a:srgbClr val="294717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rPr>
                <a:t>DB</a:t>
              </a:r>
              <a:r>
                <a:rPr lang="ko-KR" altLang="en-US" sz="3200" dirty="0">
                  <a:solidFill>
                    <a:srgbClr val="294717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rPr>
                <a:t> 설계</a:t>
              </a:r>
              <a:endParaRPr lang="en-US" altLang="ko-KR" sz="3200" dirty="0">
                <a:solidFill>
                  <a:srgbClr val="294717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endParaRPr>
            </a:p>
            <a:p>
              <a:pPr lvl="0" algn="ctr">
                <a:lnSpc>
                  <a:spcPts val="4800"/>
                </a:lnSpc>
                <a:defRPr/>
              </a:pPr>
              <a:r>
                <a:rPr lang="ko-KR" altLang="en-US" sz="3200" dirty="0">
                  <a:solidFill>
                    <a:srgbClr val="294717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rPr>
                <a:t>도메인 설계</a:t>
              </a:r>
              <a:endParaRPr lang="en-US" altLang="ko-KR" sz="3200" dirty="0">
                <a:solidFill>
                  <a:srgbClr val="294717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endParaRPr>
            </a:p>
            <a:p>
              <a:pPr lvl="0" algn="ctr">
                <a:lnSpc>
                  <a:spcPts val="4800"/>
                </a:lnSpc>
                <a:defRPr/>
              </a:pPr>
              <a:r>
                <a:rPr lang="en-US" altLang="ko-KR" sz="3200" dirty="0">
                  <a:solidFill>
                    <a:srgbClr val="294717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rPr>
                <a:t>API </a:t>
              </a:r>
              <a:r>
                <a:rPr lang="ko-KR" altLang="en-US" sz="3200" dirty="0">
                  <a:solidFill>
                    <a:srgbClr val="294717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rPr>
                <a:t>명세서</a:t>
              </a:r>
              <a:endParaRPr lang="en-US" altLang="ko-KR" sz="3200" dirty="0">
                <a:solidFill>
                  <a:srgbClr val="294717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EB5D6DF-F834-74E3-5C14-E70B6AB8C5B0}"/>
                </a:ext>
              </a:extLst>
            </p:cNvPr>
            <p:cNvSpPr txBox="1"/>
            <p:nvPr/>
          </p:nvSpPr>
          <p:spPr>
            <a:xfrm>
              <a:off x="8403297" y="958097"/>
              <a:ext cx="3489017" cy="7808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4800" dirty="0">
                  <a:latin typeface="나눔휴먼OTF Bold" panose="020B0600000101010101" pitchFamily="34" charset="-127"/>
                  <a:ea typeface="나눔휴먼OTF Bold" panose="020B0600000101010101" pitchFamily="34" charset="-127"/>
                </a:rPr>
                <a:t>프로젝트 설계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BCFCA9C-0CB0-DDEB-28AF-A428E456AC0F}"/>
              </a:ext>
            </a:extLst>
          </p:cNvPr>
          <p:cNvGrpSpPr/>
          <p:nvPr/>
        </p:nvGrpSpPr>
        <p:grpSpPr>
          <a:xfrm>
            <a:off x="16495803" y="2819400"/>
            <a:ext cx="4460286" cy="2969399"/>
            <a:chOff x="9490634" y="457200"/>
            <a:chExt cx="3728010" cy="2969399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6B896185-C6A6-8B7C-0551-8F4320036D25}"/>
                </a:ext>
              </a:extLst>
            </p:cNvPr>
            <p:cNvGrpSpPr/>
            <p:nvPr/>
          </p:nvGrpSpPr>
          <p:grpSpPr>
            <a:xfrm>
              <a:off x="10421190" y="457200"/>
              <a:ext cx="1866900" cy="787400"/>
              <a:chOff x="8045450" y="2477192"/>
              <a:chExt cx="1866900" cy="787400"/>
            </a:xfrm>
          </p:grpSpPr>
          <p:pic>
            <p:nvPicPr>
              <p:cNvPr id="40" name="Picture 10">
                <a:extLst>
                  <a:ext uri="{FF2B5EF4-FFF2-40B4-BE49-F238E27FC236}">
                    <a16:creationId xmlns:a16="http://schemas.microsoft.com/office/drawing/2014/main" id="{5A7D67A1-8D7F-698E-B392-F566DFDA62E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tretch>
                <a:fillRect/>
              </a:stretch>
            </p:blipFill>
            <p:spPr>
              <a:xfrm>
                <a:off x="8045450" y="2477192"/>
                <a:ext cx="1866900" cy="787400"/>
              </a:xfrm>
              <a:prstGeom prst="rect">
                <a:avLst/>
              </a:prstGeom>
            </p:spPr>
          </p:pic>
          <p:sp>
            <p:nvSpPr>
              <p:cNvPr id="41" name="TextBox 11">
                <a:extLst>
                  <a:ext uri="{FF2B5EF4-FFF2-40B4-BE49-F238E27FC236}">
                    <a16:creationId xmlns:a16="http://schemas.microsoft.com/office/drawing/2014/main" id="{BFF3FCE8-C175-C87E-9F56-440358562DF1}"/>
                  </a:ext>
                </a:extLst>
              </p:cNvPr>
              <p:cNvSpPr txBox="1"/>
              <p:nvPr/>
            </p:nvSpPr>
            <p:spPr>
              <a:xfrm>
                <a:off x="8221291" y="2537599"/>
                <a:ext cx="1447800" cy="571500"/>
              </a:xfrm>
              <a:prstGeom prst="rect">
                <a:avLst/>
              </a:prstGeom>
            </p:spPr>
            <p:txBody>
              <a:bodyPr anchor="ctr"/>
              <a:lstStyle/>
              <a:p>
                <a:pPr lvl="0" algn="ctr">
                  <a:lnSpc>
                    <a:spcPct val="124499"/>
                  </a:lnSpc>
                  <a:defRPr/>
                </a:pPr>
                <a:r>
                  <a:rPr lang="en" sz="4000" b="1" i="0" u="none" strike="noStrike" dirty="0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Part 3</a:t>
                </a:r>
              </a:p>
            </p:txBody>
          </p:sp>
        </p:grp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1356C2E9-4491-0595-42BA-EB69F4343134}"/>
                </a:ext>
              </a:extLst>
            </p:cNvPr>
            <p:cNvSpPr txBox="1"/>
            <p:nvPr/>
          </p:nvSpPr>
          <p:spPr>
            <a:xfrm>
              <a:off x="9490634" y="2791599"/>
              <a:ext cx="3728010" cy="635000"/>
            </a:xfrm>
            <a:prstGeom prst="rect">
              <a:avLst/>
            </a:prstGeom>
          </p:spPr>
          <p:txBody>
            <a:bodyPr anchor="ctr" anchorCtr="0"/>
            <a:lstStyle/>
            <a:p>
              <a:pPr lvl="0" algn="ctr">
                <a:defRPr/>
              </a:pPr>
              <a:endParaRPr lang="ko-KR" altLang="en-US" sz="3600" b="0" i="0" u="none" strike="noStrike" dirty="0">
                <a:solidFill>
                  <a:srgbClr val="294717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FC9D327-7B5F-0AEF-497A-8F6A495347DD}"/>
                </a:ext>
              </a:extLst>
            </p:cNvPr>
            <p:cNvSpPr txBox="1"/>
            <p:nvPr/>
          </p:nvSpPr>
          <p:spPr>
            <a:xfrm>
              <a:off x="9610131" y="1447800"/>
              <a:ext cx="348901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4800" dirty="0">
                  <a:latin typeface="나눔휴먼OTF Bold" panose="020B0600000101010101" pitchFamily="34" charset="-127"/>
                  <a:ea typeface="나눔휴먼OTF Bold" panose="020B0600000101010101" pitchFamily="34" charset="-127"/>
                </a:rPr>
                <a:t>프로젝트 시연</a:t>
              </a: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27FEC8AB-E922-3C98-C427-F338DB0EBD08}"/>
              </a:ext>
            </a:extLst>
          </p:cNvPr>
          <p:cNvGrpSpPr/>
          <p:nvPr/>
        </p:nvGrpSpPr>
        <p:grpSpPr>
          <a:xfrm>
            <a:off x="6163905" y="9218593"/>
            <a:ext cx="12056190" cy="2821007"/>
            <a:chOff x="6637665" y="9218593"/>
            <a:chExt cx="12056190" cy="2821007"/>
          </a:xfrm>
        </p:grpSpPr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EDF504E4-3A0A-7440-1083-3744FA42C66A}"/>
                </a:ext>
              </a:extLst>
            </p:cNvPr>
            <p:cNvGrpSpPr/>
            <p:nvPr/>
          </p:nvGrpSpPr>
          <p:grpSpPr>
            <a:xfrm>
              <a:off x="6637665" y="9218593"/>
              <a:ext cx="4775407" cy="2600264"/>
              <a:chOff x="9490634" y="457200"/>
              <a:chExt cx="3728010" cy="2600264"/>
            </a:xfrm>
          </p:grpSpPr>
          <p:grpSp>
            <p:nvGrpSpPr>
              <p:cNvPr id="43" name="그룹 42">
                <a:extLst>
                  <a:ext uri="{FF2B5EF4-FFF2-40B4-BE49-F238E27FC236}">
                    <a16:creationId xmlns:a16="http://schemas.microsoft.com/office/drawing/2014/main" id="{DB619362-FAB8-470D-342F-2DFB471F2CD1}"/>
                  </a:ext>
                </a:extLst>
              </p:cNvPr>
              <p:cNvGrpSpPr/>
              <p:nvPr/>
            </p:nvGrpSpPr>
            <p:grpSpPr>
              <a:xfrm>
                <a:off x="10421190" y="457200"/>
                <a:ext cx="1866900" cy="787400"/>
                <a:chOff x="8045450" y="2477192"/>
                <a:chExt cx="1866900" cy="787400"/>
              </a:xfrm>
            </p:grpSpPr>
            <p:pic>
              <p:nvPicPr>
                <p:cNvPr id="51" name="Picture 10">
                  <a:extLst>
                    <a:ext uri="{FF2B5EF4-FFF2-40B4-BE49-F238E27FC236}">
                      <a16:creationId xmlns:a16="http://schemas.microsoft.com/office/drawing/2014/main" id="{FBE6057E-B878-6A0A-42B3-5C4CA2B034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/>
                <a:stretch>
                  <a:fillRect/>
                </a:stretch>
              </p:blipFill>
              <p:spPr>
                <a:xfrm>
                  <a:off x="8045450" y="2477192"/>
                  <a:ext cx="1866900" cy="787400"/>
                </a:xfrm>
                <a:prstGeom prst="rect">
                  <a:avLst/>
                </a:prstGeom>
              </p:spPr>
            </p:pic>
            <p:sp>
              <p:nvSpPr>
                <p:cNvPr id="52" name="TextBox 11">
                  <a:extLst>
                    <a:ext uri="{FF2B5EF4-FFF2-40B4-BE49-F238E27FC236}">
                      <a16:creationId xmlns:a16="http://schemas.microsoft.com/office/drawing/2014/main" id="{C7BB7717-08E3-D92D-D7E4-ED0B2A1289AA}"/>
                    </a:ext>
                  </a:extLst>
                </p:cNvPr>
                <p:cNvSpPr txBox="1"/>
                <p:nvPr/>
              </p:nvSpPr>
              <p:spPr>
                <a:xfrm>
                  <a:off x="8222380" y="2537599"/>
                  <a:ext cx="1447800" cy="571500"/>
                </a:xfrm>
                <a:prstGeom prst="rect">
                  <a:avLst/>
                </a:prstGeom>
              </p:spPr>
              <p:txBody>
                <a:bodyPr anchor="ctr"/>
                <a:lstStyle/>
                <a:p>
                  <a:pPr lvl="0" algn="ctr">
                    <a:lnSpc>
                      <a:spcPct val="124499"/>
                    </a:lnSpc>
                    <a:defRPr/>
                  </a:pPr>
                  <a:r>
                    <a:rPr lang="en" sz="4000" b="1" i="0" u="none" strike="noStrike" dirty="0">
                      <a:solidFill>
                        <a:srgbClr val="464749"/>
                      </a:solidFill>
                      <a:latin typeface="나눔휴먼OTF Regular" panose="020B0600000101010101" pitchFamily="34" charset="-127"/>
                      <a:ea typeface="나눔휴먼OTF Regular" panose="020B0600000101010101" pitchFamily="34" charset="-127"/>
                    </a:rPr>
                    <a:t>Part 4</a:t>
                  </a:r>
                </a:p>
              </p:txBody>
            </p:sp>
          </p:grpSp>
          <p:sp>
            <p:nvSpPr>
              <p:cNvPr id="46" name="TextBox 15">
                <a:extLst>
                  <a:ext uri="{FF2B5EF4-FFF2-40B4-BE49-F238E27FC236}">
                    <a16:creationId xmlns:a16="http://schemas.microsoft.com/office/drawing/2014/main" id="{E6F24909-D28F-7209-A548-8246E80DEC90}"/>
                  </a:ext>
                </a:extLst>
              </p:cNvPr>
              <p:cNvSpPr txBox="1"/>
              <p:nvPr/>
            </p:nvSpPr>
            <p:spPr>
              <a:xfrm>
                <a:off x="9490634" y="2422464"/>
                <a:ext cx="3728010" cy="635000"/>
              </a:xfrm>
              <a:prstGeom prst="rect">
                <a:avLst/>
              </a:prstGeom>
            </p:spPr>
            <p:txBody>
              <a:bodyPr anchor="ctr" anchorCtr="0"/>
              <a:lstStyle/>
              <a:p>
                <a:pPr lvl="0" algn="ctr">
                  <a:lnSpc>
                    <a:spcPts val="4800"/>
                  </a:lnSpc>
                  <a:defRPr/>
                </a:pPr>
                <a:r>
                  <a:rPr lang="ko-KR" altLang="en-US" sz="3200" dirty="0">
                    <a:solidFill>
                      <a:srgbClr val="294717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트</a:t>
                </a:r>
                <a:r>
                  <a:rPr lang="ko-KR" altLang="en-US" sz="3200" b="0" i="0" u="none" strike="noStrike" dirty="0">
                    <a:solidFill>
                      <a:srgbClr val="294717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러블 슈팅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B90D51E-36CB-7CD4-65EA-5FDF4161562D}"/>
                  </a:ext>
                </a:extLst>
              </p:cNvPr>
              <p:cNvSpPr txBox="1"/>
              <p:nvPr/>
            </p:nvSpPr>
            <p:spPr>
              <a:xfrm>
                <a:off x="9610131" y="1447800"/>
                <a:ext cx="348901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4800" dirty="0">
                    <a:latin typeface="나눔휴먼OTF Bold" panose="020B0600000101010101" pitchFamily="34" charset="-127"/>
                    <a:ea typeface="나눔휴먼OTF Bold" panose="020B0600000101010101" pitchFamily="34" charset="-127"/>
                  </a:rPr>
                  <a:t>프로젝트 개발</a:t>
                </a:r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DD818E1B-13F4-75DC-75BF-EA1FC409B8D8}"/>
                </a:ext>
              </a:extLst>
            </p:cNvPr>
            <p:cNvGrpSpPr/>
            <p:nvPr/>
          </p:nvGrpSpPr>
          <p:grpSpPr>
            <a:xfrm>
              <a:off x="13918448" y="9220200"/>
              <a:ext cx="4775407" cy="2819400"/>
              <a:chOff x="9490634" y="457200"/>
              <a:chExt cx="3728010" cy="2819400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94B91E16-CE8C-67E9-82B8-9329E8CC8A47}"/>
                  </a:ext>
                </a:extLst>
              </p:cNvPr>
              <p:cNvGrpSpPr/>
              <p:nvPr/>
            </p:nvGrpSpPr>
            <p:grpSpPr>
              <a:xfrm>
                <a:off x="10421190" y="457200"/>
                <a:ext cx="1866900" cy="787400"/>
                <a:chOff x="8045450" y="2477192"/>
                <a:chExt cx="1866900" cy="787400"/>
              </a:xfrm>
            </p:grpSpPr>
            <p:pic>
              <p:nvPicPr>
                <p:cNvPr id="62" name="Picture 10">
                  <a:extLst>
                    <a:ext uri="{FF2B5EF4-FFF2-40B4-BE49-F238E27FC236}">
                      <a16:creationId xmlns:a16="http://schemas.microsoft.com/office/drawing/2014/main" id="{EFB8D32A-6B0D-3400-2303-775D98E51E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/>
                <a:stretch>
                  <a:fillRect/>
                </a:stretch>
              </p:blipFill>
              <p:spPr>
                <a:xfrm>
                  <a:off x="8045450" y="2477192"/>
                  <a:ext cx="1866900" cy="787400"/>
                </a:xfrm>
                <a:prstGeom prst="rect">
                  <a:avLst/>
                </a:prstGeom>
              </p:spPr>
            </p:pic>
            <p:sp>
              <p:nvSpPr>
                <p:cNvPr id="63" name="TextBox 11">
                  <a:extLst>
                    <a:ext uri="{FF2B5EF4-FFF2-40B4-BE49-F238E27FC236}">
                      <a16:creationId xmlns:a16="http://schemas.microsoft.com/office/drawing/2014/main" id="{E84A849B-4730-AD3E-616A-D845B1689A0B}"/>
                    </a:ext>
                  </a:extLst>
                </p:cNvPr>
                <p:cNvSpPr txBox="1"/>
                <p:nvPr/>
              </p:nvSpPr>
              <p:spPr>
                <a:xfrm>
                  <a:off x="8222380" y="2537599"/>
                  <a:ext cx="1447800" cy="571500"/>
                </a:xfrm>
                <a:prstGeom prst="rect">
                  <a:avLst/>
                </a:prstGeom>
              </p:spPr>
              <p:txBody>
                <a:bodyPr anchor="ctr"/>
                <a:lstStyle/>
                <a:p>
                  <a:pPr lvl="0" algn="ctr">
                    <a:lnSpc>
                      <a:spcPct val="124499"/>
                    </a:lnSpc>
                    <a:defRPr/>
                  </a:pPr>
                  <a:r>
                    <a:rPr lang="en" sz="4000" b="1" i="0" u="none" strike="noStrike" dirty="0">
                      <a:solidFill>
                        <a:srgbClr val="464749"/>
                      </a:solidFill>
                      <a:latin typeface="나눔휴먼OTF Regular" panose="020B0600000101010101" pitchFamily="34" charset="-127"/>
                      <a:ea typeface="나눔휴먼OTF Regular" panose="020B0600000101010101" pitchFamily="34" charset="-127"/>
                    </a:rPr>
                    <a:t>Part 5</a:t>
                  </a:r>
                </a:p>
              </p:txBody>
            </p:sp>
          </p:grpSp>
          <p:sp>
            <p:nvSpPr>
              <p:cNvPr id="60" name="TextBox 15">
                <a:extLst>
                  <a:ext uri="{FF2B5EF4-FFF2-40B4-BE49-F238E27FC236}">
                    <a16:creationId xmlns:a16="http://schemas.microsoft.com/office/drawing/2014/main" id="{1295AC05-BE07-34C3-C32A-B1FF131FE9C3}"/>
                  </a:ext>
                </a:extLst>
              </p:cNvPr>
              <p:cNvSpPr txBox="1"/>
              <p:nvPr/>
            </p:nvSpPr>
            <p:spPr>
              <a:xfrm>
                <a:off x="9490634" y="2641600"/>
                <a:ext cx="3728010" cy="635000"/>
              </a:xfrm>
              <a:prstGeom prst="rect">
                <a:avLst/>
              </a:prstGeom>
            </p:spPr>
            <p:txBody>
              <a:bodyPr anchor="ctr" anchorCtr="0"/>
              <a:lstStyle/>
              <a:p>
                <a:pPr lvl="0" algn="ctr">
                  <a:lnSpc>
                    <a:spcPts val="4800"/>
                  </a:lnSpc>
                  <a:defRPr/>
                </a:pPr>
                <a:r>
                  <a:rPr lang="ko-KR" altLang="en-US" sz="3200" dirty="0">
                    <a:solidFill>
                      <a:srgbClr val="294717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추가 개발 계획</a:t>
                </a:r>
                <a:endParaRPr lang="en-US" altLang="ko-KR" sz="3200" dirty="0">
                  <a:solidFill>
                    <a:srgbClr val="294717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  <a:p>
                <a:pPr lvl="0" algn="ctr">
                  <a:lnSpc>
                    <a:spcPts val="4800"/>
                  </a:lnSpc>
                  <a:defRPr/>
                </a:pPr>
                <a:r>
                  <a:rPr lang="ko-KR" altLang="en-US" sz="3200" b="0" i="0" u="none" strike="noStrike" dirty="0">
                    <a:solidFill>
                      <a:srgbClr val="294717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프로젝트 소감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04F6A12-5529-E9BE-C110-991560E3C9F4}"/>
                  </a:ext>
                </a:extLst>
              </p:cNvPr>
              <p:cNvSpPr txBox="1"/>
              <p:nvPr/>
            </p:nvSpPr>
            <p:spPr>
              <a:xfrm>
                <a:off x="9610131" y="1447800"/>
                <a:ext cx="348901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4800" dirty="0">
                    <a:latin typeface="나눔휴먼OTF Bold" panose="020B0600000101010101" pitchFamily="34" charset="-127"/>
                    <a:ea typeface="나눔휴먼OTF Bold" panose="020B0600000101010101" pitchFamily="34" charset="-127"/>
                  </a:rPr>
                  <a:t>마무리</a:t>
                </a:r>
              </a:p>
            </p:txBody>
          </p:sp>
        </p:grpSp>
      </p:grp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DE162215-596C-0340-9C13-72247A29E3E0}"/>
              </a:ext>
            </a:extLst>
          </p:cNvPr>
          <p:cNvSpPr/>
          <p:nvPr/>
        </p:nvSpPr>
        <p:spPr>
          <a:xfrm>
            <a:off x="457200" y="519546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3" name="TextBox 3"/>
          <p:cNvSpPr txBox="1"/>
          <p:nvPr/>
        </p:nvSpPr>
        <p:spPr>
          <a:xfrm>
            <a:off x="0" y="5067300"/>
            <a:ext cx="17322800" cy="2171700"/>
          </a:xfrm>
          <a:prstGeom prst="rect">
            <a:avLst/>
          </a:prstGeom>
        </p:spPr>
        <p:txBody>
          <a:bodyPr lIns="0" tIns="544464" rIns="0" bIns="0" rtlCol="0" anchor="t"/>
          <a:lstStyle/>
          <a:p>
            <a:pPr lvl="0" algn="ctr">
              <a:lnSpc>
                <a:spcPct val="83000"/>
              </a:lnSpc>
            </a:pPr>
            <a:r>
              <a:rPr lang="en" sz="10000" spc="-214" dirty="0">
                <a:solidFill>
                  <a:srgbClr val="464749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Part</a:t>
            </a:r>
            <a:r>
              <a:rPr lang="en" sz="10000" b="0" i="0" u="none" strike="noStrike" spc="-214" dirty="0">
                <a:solidFill>
                  <a:srgbClr val="464749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 1.  </a:t>
            </a:r>
            <a:r>
              <a:rPr lang="ko-KR" altLang="en-US" sz="13000" b="0" i="0" u="none" strike="noStrike" spc="-214" dirty="0">
                <a:solidFill>
                  <a:srgbClr val="3E923A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개요</a:t>
            </a:r>
            <a:endParaRPr lang="en" sz="13000" b="0" i="0" u="none" strike="noStrike" spc="-214" dirty="0">
              <a:solidFill>
                <a:srgbClr val="3E923A"/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248400" y="7538402"/>
            <a:ext cx="13017500" cy="889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4499"/>
              </a:lnSpc>
            </a:pPr>
            <a:r>
              <a:rPr lang="ko-KR" altLang="en-US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팀 소개 </a:t>
            </a:r>
            <a:r>
              <a:rPr lang="en-US" altLang="ko-KR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/ </a:t>
            </a:r>
            <a:r>
              <a:rPr lang="ko-KR" altLang="en-US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프로젝트 소개 </a:t>
            </a:r>
            <a:r>
              <a:rPr lang="en-US" altLang="ko-KR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/ </a:t>
            </a:r>
            <a:r>
              <a:rPr lang="ko-KR" altLang="en-US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프로젝트 로드맵</a:t>
            </a:r>
            <a:endParaRPr lang="en" sz="3000" b="0" i="0" u="none" strike="noStrike" dirty="0">
              <a:solidFill>
                <a:srgbClr val="464749"/>
              </a:solidFill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b="0" i="0" u="none" strike="noStrike">
                <a:solidFill>
                  <a:srgbClr val="464749"/>
                </a:solidFill>
                <a:latin typeface="Poppins Regular"/>
              </a:rPr>
              <a:t>02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11BAE27-1FEF-DF13-F80A-DADB20C04CC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70000" contrast="-70000"/>
            <a:alphaModFix amt="35000"/>
          </a:blip>
          <a:stretch>
            <a:fillRect/>
          </a:stretch>
        </p:blipFill>
        <p:spPr>
          <a:xfrm>
            <a:off x="17301210" y="6517005"/>
            <a:ext cx="8686800" cy="8686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28FE46F8-4D93-671C-09EB-1E0D9A15D8B3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1C3B5EC4-C275-5E79-B7B1-F1F1F0C79495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21" name="TextBox 5">
                <a:extLst>
                  <a:ext uri="{FF2B5EF4-FFF2-40B4-BE49-F238E27FC236}">
                    <a16:creationId xmlns:a16="http://schemas.microsoft.com/office/drawing/2014/main" id="{A0799DAA-C5F3-175D-43A7-0ED0BFD1C22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22" name="그림 21">
                <a:extLst>
                  <a:ext uri="{FF2B5EF4-FFF2-40B4-BE49-F238E27FC236}">
                    <a16:creationId xmlns:a16="http://schemas.microsoft.com/office/drawing/2014/main" id="{65BA08E3-F6F9-A169-E315-0E8D801462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20" name="Picture 5">
              <a:extLst>
                <a:ext uri="{FF2B5EF4-FFF2-40B4-BE49-F238E27FC236}">
                  <a16:creationId xmlns:a16="http://schemas.microsoft.com/office/drawing/2014/main" id="{3E61F457-11F5-D7B2-76A8-E6CD4C9FC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23" name="Picture 5">
            <a:extLst>
              <a:ext uri="{FF2B5EF4-FFF2-40B4-BE49-F238E27FC236}">
                <a16:creationId xmlns:a16="http://schemas.microsoft.com/office/drawing/2014/main" id="{4559A545-1CCC-AF85-8E04-D1462A5585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030200"/>
            <a:ext cx="23040000" cy="261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29308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11" name="TextBox 11"/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b="0" i="0" u="none" strike="noStrike" dirty="0">
                <a:solidFill>
                  <a:srgbClr val="464749"/>
                </a:solidFill>
                <a:latin typeface="Poppins Regular"/>
              </a:rPr>
              <a:t>03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11BAE27-1FEF-DF13-F80A-DADB20C04CC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70000" contrast="-70000"/>
            <a:alphaModFix amt="35000"/>
          </a:blip>
          <a:stretch>
            <a:fillRect/>
          </a:stretch>
        </p:blipFill>
        <p:spPr>
          <a:xfrm>
            <a:off x="17301210" y="6517005"/>
            <a:ext cx="8686800" cy="86868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16">
            <a:extLst>
              <a:ext uri="{FF2B5EF4-FFF2-40B4-BE49-F238E27FC236}">
                <a16:creationId xmlns:a16="http://schemas.microsoft.com/office/drawing/2014/main" id="{4C38300D-E159-57A2-EBD1-B93C667126A2}"/>
              </a:ext>
            </a:extLst>
          </p:cNvPr>
          <p:cNvSpPr txBox="1"/>
          <p:nvPr/>
        </p:nvSpPr>
        <p:spPr>
          <a:xfrm>
            <a:off x="914401" y="1066800"/>
            <a:ext cx="2895599" cy="2768600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팀 소개</a:t>
            </a:r>
            <a:endParaRPr lang="ko-KR" altLang="en-US" sz="8000" b="1" i="0" u="none" strike="noStrike" spc="-156" dirty="0">
              <a:solidFill>
                <a:srgbClr val="294717"/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59BF4AE-4566-C285-0E7A-3393C9FCC5D4}"/>
              </a:ext>
            </a:extLst>
          </p:cNvPr>
          <p:cNvSpPr/>
          <p:nvPr/>
        </p:nvSpPr>
        <p:spPr>
          <a:xfrm>
            <a:off x="457200" y="1281546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4568825" y="5067300"/>
            <a:ext cx="15246350" cy="29083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78000"/>
              </a:prstClr>
            </a:outerShdw>
          </a:effectLst>
        </p:spPr>
        <p:txBody>
          <a:bodyPr lIns="0" tIns="544464" rIns="0" bIns="0" rtlCol="0" anchor="t"/>
          <a:lstStyle/>
          <a:p>
            <a:pPr lvl="0" algn="dist">
              <a:lnSpc>
                <a:spcPct val="83000"/>
              </a:lnSpc>
            </a:pPr>
            <a:r>
              <a:rPr lang="en" sz="28000" b="0" i="0" u="none" strike="noStrike" spc="-214" dirty="0">
                <a:solidFill>
                  <a:srgbClr val="294717"/>
                </a:solidFill>
                <a:latin typeface="나눔휴먼OTF Heavy" panose="020B0600000101010101" pitchFamily="34" charset="-127"/>
                <a:ea typeface="나눔휴먼OTF Heavy" panose="020B0600000101010101" pitchFamily="34" charset="-127"/>
              </a:rPr>
              <a:t>Multi FC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888D791-B849-2113-C71A-204D4C145A68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1A7FBA1D-8637-23C2-FBE1-5696FA6FACC0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7" name="TextBox 5">
                <a:extLst>
                  <a:ext uri="{FF2B5EF4-FFF2-40B4-BE49-F238E27FC236}">
                    <a16:creationId xmlns:a16="http://schemas.microsoft.com/office/drawing/2014/main" id="{137FD782-18B4-3822-1056-3A87F9B7F494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827931C0-782C-DA89-66B1-D88737088E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12" name="Picture 5">
              <a:extLst>
                <a:ext uri="{FF2B5EF4-FFF2-40B4-BE49-F238E27FC236}">
                  <a16:creationId xmlns:a16="http://schemas.microsoft.com/office/drawing/2014/main" id="{91DC1EE0-F064-F4AB-19F6-BAE0847F8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18" name="Picture 5">
            <a:extLst>
              <a:ext uri="{FF2B5EF4-FFF2-40B4-BE49-F238E27FC236}">
                <a16:creationId xmlns:a16="http://schemas.microsoft.com/office/drawing/2014/main" id="{2AC3C055-F481-4F48-802E-B72C95A704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030200"/>
            <a:ext cx="23040000" cy="2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558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17" name="TextBox 17"/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b="0" i="0" u="none" strike="noStrike" dirty="0">
                <a:solidFill>
                  <a:srgbClr val="787878"/>
                </a:solidFill>
                <a:latin typeface="Poppins Regular"/>
              </a:rPr>
              <a:t>04</a:t>
            </a:r>
          </a:p>
        </p:txBody>
      </p:sp>
      <p:pic>
        <p:nvPicPr>
          <p:cNvPr id="21" name="Picture 5">
            <a:extLst>
              <a:ext uri="{FF2B5EF4-FFF2-40B4-BE49-F238E27FC236}">
                <a16:creationId xmlns:a16="http://schemas.microsoft.com/office/drawing/2014/main" id="{3EE5560F-7817-1BA7-068D-12F5FB733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647968"/>
            <a:ext cx="10858500" cy="1206500"/>
          </a:xfrm>
          <a:prstGeom prst="rect">
            <a:avLst/>
          </a:prstGeom>
        </p:spPr>
      </p:pic>
      <p:sp>
        <p:nvSpPr>
          <p:cNvPr id="22" name="TextBox 6">
            <a:extLst>
              <a:ext uri="{FF2B5EF4-FFF2-40B4-BE49-F238E27FC236}">
                <a16:creationId xmlns:a16="http://schemas.microsoft.com/office/drawing/2014/main" id="{F0F4B8D2-5EE1-C9B4-613E-D0E3EBAA3F55}"/>
              </a:ext>
            </a:extLst>
          </p:cNvPr>
          <p:cNvSpPr txBox="1"/>
          <p:nvPr/>
        </p:nvSpPr>
        <p:spPr>
          <a:xfrm>
            <a:off x="3924300" y="2796904"/>
            <a:ext cx="5041900" cy="952500"/>
          </a:xfrm>
          <a:prstGeom prst="rect">
            <a:avLst/>
          </a:prstGeom>
        </p:spPr>
        <p:txBody>
          <a:bodyPr lIns="0" tIns="6773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5333" b="0" i="0" u="none" strike="noStrike" dirty="0">
                <a:solidFill>
                  <a:srgbClr val="464749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Frontend</a:t>
            </a:r>
          </a:p>
        </p:txBody>
      </p:sp>
      <p:pic>
        <p:nvPicPr>
          <p:cNvPr id="23" name="Picture 7">
            <a:extLst>
              <a:ext uri="{FF2B5EF4-FFF2-40B4-BE49-F238E27FC236}">
                <a16:creationId xmlns:a16="http://schemas.microsoft.com/office/drawing/2014/main" id="{2E318DC3-6704-D164-0BFE-8B2EDD9C41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4065750"/>
            <a:ext cx="10858500" cy="8735850"/>
          </a:xfrm>
          <a:prstGeom prst="rect">
            <a:avLst/>
          </a:prstGeom>
        </p:spPr>
      </p:pic>
      <p:pic>
        <p:nvPicPr>
          <p:cNvPr id="25" name="Picture 9">
            <a:extLst>
              <a:ext uri="{FF2B5EF4-FFF2-40B4-BE49-F238E27FC236}">
                <a16:creationId xmlns:a16="http://schemas.microsoft.com/office/drawing/2014/main" id="{1214B6AE-D55F-7B30-65BC-E368D25887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09500" y="2647968"/>
            <a:ext cx="10858500" cy="1206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</p:pic>
      <p:sp>
        <p:nvSpPr>
          <p:cNvPr id="26" name="TextBox 10">
            <a:extLst>
              <a:ext uri="{FF2B5EF4-FFF2-40B4-BE49-F238E27FC236}">
                <a16:creationId xmlns:a16="http://schemas.microsoft.com/office/drawing/2014/main" id="{8A350A69-6D0D-2EA1-E685-BD14011D3595}"/>
              </a:ext>
            </a:extLst>
          </p:cNvPr>
          <p:cNvSpPr txBox="1"/>
          <p:nvPr/>
        </p:nvSpPr>
        <p:spPr>
          <a:xfrm>
            <a:off x="15176500" y="2796904"/>
            <a:ext cx="5524500" cy="952500"/>
          </a:xfrm>
          <a:prstGeom prst="rect">
            <a:avLst/>
          </a:prstGeom>
        </p:spPr>
        <p:txBody>
          <a:bodyPr lIns="0" tIns="6773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5333" b="0" i="0" u="none" strike="noStrike" dirty="0"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Backend</a:t>
            </a:r>
          </a:p>
        </p:txBody>
      </p:sp>
      <p:pic>
        <p:nvPicPr>
          <p:cNvPr id="27" name="Picture 11">
            <a:extLst>
              <a:ext uri="{FF2B5EF4-FFF2-40B4-BE49-F238E27FC236}">
                <a16:creationId xmlns:a16="http://schemas.microsoft.com/office/drawing/2014/main" id="{53A0C85E-971A-4A39-0CF0-9422E8AF33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84100" y="4065750"/>
            <a:ext cx="10871200" cy="8716818"/>
          </a:xfrm>
          <a:prstGeom prst="rect">
            <a:avLst/>
          </a:prstGeom>
        </p:spPr>
      </p:pic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2058CF64-CC1A-092D-D512-90250E6ABD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716652"/>
              </p:ext>
            </p:extLst>
          </p:nvPr>
        </p:nvGraphicFramePr>
        <p:xfrm>
          <a:off x="1418259" y="4549655"/>
          <a:ext cx="7226300" cy="3519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035">
                  <a:extLst>
                    <a:ext uri="{9D8B030D-6E8A-4147-A177-3AD203B41FA5}">
                      <a16:colId xmlns:a16="http://schemas.microsoft.com/office/drawing/2014/main" val="305620371"/>
                    </a:ext>
                  </a:extLst>
                </a:gridCol>
                <a:gridCol w="5027265">
                  <a:extLst>
                    <a:ext uri="{9D8B030D-6E8A-4147-A177-3AD203B41FA5}">
                      <a16:colId xmlns:a16="http://schemas.microsoft.com/office/drawing/2014/main" val="1656243671"/>
                    </a:ext>
                  </a:extLst>
                </a:gridCol>
              </a:tblGrid>
              <a:tr h="147761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200" b="0" dirty="0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권성민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indent="-4572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3200" b="0" dirty="0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와이어 프레임 작성</a:t>
                      </a:r>
                      <a:endParaRPr lang="en-US" altLang="ko-KR" sz="3200" b="0" dirty="0">
                        <a:solidFill>
                          <a:sysClr val="windowText" lastClr="000000"/>
                        </a:solidFill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  <a:p>
                      <a:pPr marL="457200" indent="-4572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3200" b="0" dirty="0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화면 구현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9544843"/>
                  </a:ext>
                </a:extLst>
              </a:tr>
              <a:tr h="193060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200" b="0" dirty="0" err="1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윤승근</a:t>
                      </a:r>
                      <a:endParaRPr lang="ko-KR" altLang="en-US" sz="3200" b="0" dirty="0">
                        <a:solidFill>
                          <a:sysClr val="windowText" lastClr="000000"/>
                        </a:solidFill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indent="-4572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3200" b="0" dirty="0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와이어 프레임 작성</a:t>
                      </a:r>
                      <a:endParaRPr lang="en-US" altLang="ko-KR" sz="3200" b="0" dirty="0">
                        <a:solidFill>
                          <a:sysClr val="windowText" lastClr="000000"/>
                        </a:solidFill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  <a:p>
                      <a:pPr marL="457200" indent="-4572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3200" b="0" dirty="0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스토리보드 작성</a:t>
                      </a:r>
                      <a:endParaRPr lang="en-US" altLang="ko-KR" sz="3200" b="0" dirty="0">
                        <a:solidFill>
                          <a:sysClr val="windowText" lastClr="000000"/>
                        </a:solidFill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  <a:p>
                      <a:pPr marL="457200" indent="-4572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3200" b="0" dirty="0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화면 구현</a:t>
                      </a:r>
                      <a:endParaRPr lang="en-US" altLang="ko-KR" sz="3200" b="0" dirty="0">
                        <a:solidFill>
                          <a:sysClr val="windowText" lastClr="000000"/>
                        </a:solidFill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  <a:p>
                      <a:pPr marL="457200" indent="-45720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3200" b="0" dirty="0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Frontend </a:t>
                      </a:r>
                      <a:r>
                        <a:rPr lang="ko-KR" altLang="en-US" sz="3200" b="0" dirty="0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팀장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2887474"/>
                  </a:ext>
                </a:extLst>
              </a:tr>
            </a:tbl>
          </a:graphicData>
        </a:graphic>
      </p:graphicFrame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62D774C8-30D2-6205-2A6B-BDAB4CE93C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023893"/>
              </p:ext>
            </p:extLst>
          </p:nvPr>
        </p:nvGraphicFramePr>
        <p:xfrm>
          <a:off x="12890500" y="4552968"/>
          <a:ext cx="10561397" cy="800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035">
                  <a:extLst>
                    <a:ext uri="{9D8B030D-6E8A-4147-A177-3AD203B41FA5}">
                      <a16:colId xmlns:a16="http://schemas.microsoft.com/office/drawing/2014/main" val="305620371"/>
                    </a:ext>
                  </a:extLst>
                </a:gridCol>
                <a:gridCol w="8362362">
                  <a:extLst>
                    <a:ext uri="{9D8B030D-6E8A-4147-A177-3AD203B41FA5}">
                      <a16:colId xmlns:a16="http://schemas.microsoft.com/office/drawing/2014/main" val="1656243671"/>
                    </a:ext>
                  </a:extLst>
                </a:gridCol>
              </a:tblGrid>
              <a:tr h="18525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200" b="0" dirty="0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문진우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indent="-45720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3200" b="0" dirty="0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DB</a:t>
                      </a:r>
                      <a:r>
                        <a:rPr lang="ko-KR" altLang="en-US" sz="3200" b="0" dirty="0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담당</a:t>
                      </a:r>
                      <a:endParaRPr lang="en-US" altLang="ko-KR" sz="3200" b="0" dirty="0">
                        <a:solidFill>
                          <a:sysClr val="windowText" lastClr="000000"/>
                        </a:solidFill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  <a:p>
                      <a:pPr marL="457200" indent="-4572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3200" b="0" dirty="0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배포 담당</a:t>
                      </a:r>
                      <a:endParaRPr lang="en-US" altLang="ko-KR" sz="3200" b="0" dirty="0">
                        <a:solidFill>
                          <a:sysClr val="windowText" lastClr="000000"/>
                        </a:solidFill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  <a:p>
                      <a:pPr marL="457200" indent="-4572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3200" b="0" dirty="0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로그인 기능 구현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9544843"/>
                  </a:ext>
                </a:extLst>
              </a:tr>
              <a:tr h="24432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200" b="0" dirty="0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박태란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indent="-4572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3200" b="0" dirty="0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마이페이지</a:t>
                      </a:r>
                      <a:r>
                        <a:rPr lang="en-US" altLang="ko-KR" sz="3200" b="0" dirty="0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, </a:t>
                      </a:r>
                      <a:r>
                        <a:rPr lang="ko-KR" altLang="en-US" sz="3200" b="0" dirty="0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일정</a:t>
                      </a:r>
                      <a:r>
                        <a:rPr lang="en-US" altLang="ko-KR" sz="3200" b="0" dirty="0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, </a:t>
                      </a:r>
                      <a:r>
                        <a:rPr lang="ko-KR" altLang="en-US" sz="3200" b="0" dirty="0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친구 기능 구현</a:t>
                      </a:r>
                      <a:endParaRPr lang="en-US" altLang="ko-KR" sz="3200" b="0" dirty="0">
                        <a:solidFill>
                          <a:sysClr val="windowText" lastClr="000000"/>
                        </a:solidFill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  <a:p>
                      <a:pPr marL="457200" indent="-4572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3200" b="0" dirty="0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커뮤니티 기능 구현</a:t>
                      </a:r>
                      <a:endParaRPr lang="en-US" altLang="ko-KR" sz="3200" b="0" dirty="0">
                        <a:solidFill>
                          <a:sysClr val="windowText" lastClr="000000"/>
                        </a:solidFill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  <a:p>
                      <a:pPr marL="457200" indent="-4572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3200" b="0" dirty="0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서류 관리</a:t>
                      </a:r>
                      <a:endParaRPr lang="en-US" altLang="ko-KR" sz="3200" b="0" dirty="0">
                        <a:solidFill>
                          <a:sysClr val="windowText" lastClr="000000"/>
                        </a:solidFill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  <a:p>
                      <a:pPr marL="457200" indent="-4572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3200" b="0" dirty="0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팀장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2887474"/>
                  </a:ext>
                </a:extLst>
              </a:tr>
              <a:tr h="24432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200" b="0" dirty="0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최준호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indent="-45720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3200" b="0" dirty="0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Git </a:t>
                      </a:r>
                      <a:r>
                        <a:rPr lang="ko-KR" altLang="en-US" sz="3200" b="0" dirty="0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관리</a:t>
                      </a:r>
                      <a:endParaRPr lang="en-US" altLang="ko-KR" sz="3200" b="0" dirty="0">
                        <a:solidFill>
                          <a:sysClr val="windowText" lastClr="000000"/>
                        </a:solidFill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  <a:p>
                      <a:pPr marL="457200" indent="-4572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3200" b="0" dirty="0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채팅 기능 구현</a:t>
                      </a:r>
                      <a:endParaRPr lang="en-US" altLang="ko-KR" sz="3200" b="0" dirty="0">
                        <a:solidFill>
                          <a:sysClr val="windowText" lastClr="000000"/>
                        </a:solidFill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  <a:p>
                      <a:pPr marL="457200" indent="-4572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3200" b="0" dirty="0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알림 기능 구현</a:t>
                      </a:r>
                      <a:endParaRPr lang="en-US" altLang="ko-KR" sz="3200" b="0" dirty="0">
                        <a:solidFill>
                          <a:sysClr val="windowText" lastClr="000000"/>
                        </a:solidFill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  <a:p>
                      <a:pPr marL="457200" indent="-45720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3200" b="0" dirty="0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Backend </a:t>
                      </a:r>
                      <a:r>
                        <a:rPr lang="ko-KR" altLang="en-US" sz="3200" b="0" dirty="0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팀장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2599703"/>
                  </a:ext>
                </a:extLst>
              </a:tr>
              <a:tr h="126190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200" b="0" dirty="0" err="1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홍예린</a:t>
                      </a:r>
                      <a:endParaRPr lang="ko-KR" altLang="en-US" sz="3200" b="0" dirty="0">
                        <a:solidFill>
                          <a:sysClr val="windowText" lastClr="000000"/>
                        </a:solidFill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indent="-4572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3200" b="0" dirty="0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구장</a:t>
                      </a:r>
                      <a:r>
                        <a:rPr lang="en-US" altLang="ko-KR" sz="3200" b="0" dirty="0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</a:t>
                      </a:r>
                      <a:r>
                        <a:rPr lang="ko-KR" altLang="en-US" sz="3200" b="0" dirty="0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기능 구현</a:t>
                      </a:r>
                      <a:endParaRPr lang="en-US" altLang="ko-KR" sz="3200" b="0" dirty="0">
                        <a:solidFill>
                          <a:sysClr val="windowText" lastClr="000000"/>
                        </a:solidFill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  <a:p>
                      <a:pPr marL="457200" indent="-4572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3200" b="0" dirty="0">
                          <a:solidFill>
                            <a:sysClr val="windowText" lastClr="000000"/>
                          </a:solidFill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매칭 기능 구현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5235154"/>
                  </a:ext>
                </a:extLst>
              </a:tr>
            </a:tbl>
          </a:graphicData>
        </a:graphic>
      </p:graphicFrame>
      <p:sp>
        <p:nvSpPr>
          <p:cNvPr id="31" name="TextBox 16">
            <a:extLst>
              <a:ext uri="{FF2B5EF4-FFF2-40B4-BE49-F238E27FC236}">
                <a16:creationId xmlns:a16="http://schemas.microsoft.com/office/drawing/2014/main" id="{6B1C9FA6-E169-6C28-F2E1-C31A9A1BD105}"/>
              </a:ext>
            </a:extLst>
          </p:cNvPr>
          <p:cNvSpPr txBox="1"/>
          <p:nvPr/>
        </p:nvSpPr>
        <p:spPr>
          <a:xfrm>
            <a:off x="914401" y="914400"/>
            <a:ext cx="3009899" cy="2768600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팀 소개</a:t>
            </a:r>
            <a:endParaRPr lang="ko-KR" altLang="en-US" sz="8000" b="1" i="0" u="none" strike="noStrike" spc="-156" dirty="0">
              <a:solidFill>
                <a:srgbClr val="294717"/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16417E74-FDC0-E707-F9E6-238114DB2D6D}"/>
              </a:ext>
            </a:extLst>
          </p:cNvPr>
          <p:cNvSpPr/>
          <p:nvPr/>
        </p:nvSpPr>
        <p:spPr>
          <a:xfrm>
            <a:off x="457200" y="1129146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BDC2779E-E04B-EF02-7561-28197C55A35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C7642DFF-7474-651B-C9DF-7E3950E6011D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6" name="TextBox 5">
                <a:extLst>
                  <a:ext uri="{FF2B5EF4-FFF2-40B4-BE49-F238E27FC236}">
                    <a16:creationId xmlns:a16="http://schemas.microsoft.com/office/drawing/2014/main" id="{84028D24-DD87-42D3-4B0D-E868EFEDF0E6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7" name="그림 36">
                <a:extLst>
                  <a:ext uri="{FF2B5EF4-FFF2-40B4-BE49-F238E27FC236}">
                    <a16:creationId xmlns:a16="http://schemas.microsoft.com/office/drawing/2014/main" id="{FE6E56DF-73DD-7DD2-8852-A2C1851262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5" name="Picture 5">
              <a:extLst>
                <a:ext uri="{FF2B5EF4-FFF2-40B4-BE49-F238E27FC236}">
                  <a16:creationId xmlns:a16="http://schemas.microsoft.com/office/drawing/2014/main" id="{DB80B623-88AB-6302-C787-8E7AC59A9B1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38" name="Picture 5">
            <a:extLst>
              <a:ext uri="{FF2B5EF4-FFF2-40B4-BE49-F238E27FC236}">
                <a16:creationId xmlns:a16="http://schemas.microsoft.com/office/drawing/2014/main" id="{925A2BE6-BF7C-CC97-8E15-F0A8F61722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000" y="13030200"/>
            <a:ext cx="23040000" cy="261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700" y="4961803"/>
            <a:ext cx="7823200" cy="5892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14100" y="4136303"/>
            <a:ext cx="1676400" cy="1625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8700" y="10003703"/>
            <a:ext cx="1676400" cy="1625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87600" y="10003703"/>
            <a:ext cx="1676400" cy="1625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54300" y="10245003"/>
            <a:ext cx="1143000" cy="11430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109200" y="7641503"/>
            <a:ext cx="3911600" cy="1816100"/>
          </a:xfrm>
          <a:prstGeom prst="rect">
            <a:avLst/>
          </a:prstGeom>
        </p:spPr>
        <p:txBody>
          <a:bodyPr lIns="0" tIns="156210" rIns="0" bIns="0" rtlCol="0" anchor="t"/>
          <a:lstStyle/>
          <a:p>
            <a:pPr lvl="0" algn="ctr">
              <a:lnSpc>
                <a:spcPct val="82170"/>
              </a:lnSpc>
            </a:pPr>
            <a:r>
              <a:rPr lang="en-US" sz="6000" spc="-120" dirty="0">
                <a:solidFill>
                  <a:srgbClr val="294717"/>
                </a:solidFill>
                <a:latin typeface="나눔휴먼OTF Heavy" panose="020B0600000101010101" pitchFamily="34" charset="-127"/>
                <a:ea typeface="나눔휴먼OTF Heavy" panose="020B0600000101010101" pitchFamily="34" charset="-127"/>
              </a:rPr>
              <a:t>Target</a:t>
            </a:r>
          </a:p>
          <a:p>
            <a:pPr lvl="0" algn="ctr">
              <a:lnSpc>
                <a:spcPct val="82170"/>
              </a:lnSpc>
            </a:pPr>
            <a:r>
              <a:rPr lang="en-US" sz="6000" b="0" i="0" u="none" strike="noStrike" spc="-120" dirty="0">
                <a:solidFill>
                  <a:srgbClr val="294717"/>
                </a:solidFill>
                <a:latin typeface="나눔휴먼OTF Heavy" panose="020B0600000101010101" pitchFamily="34" charset="-127"/>
                <a:ea typeface="나눔휴먼OTF Heavy" panose="020B0600000101010101" pitchFamily="34" charset="-127"/>
              </a:rPr>
              <a:t>User</a:t>
            </a:r>
            <a:endParaRPr lang="en" sz="6000" b="0" i="0" u="none" strike="noStrike" spc="-120" dirty="0">
              <a:solidFill>
                <a:srgbClr val="294717"/>
              </a:solidFill>
              <a:latin typeface="나눔휴먼OTF Heavy" panose="020B0600000101010101" pitchFamily="34" charset="-127"/>
              <a:ea typeface="나눔휴먼OTF Heavy" panose="020B0600000101010101" pitchFamily="34" charset="-127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426700" y="9444903"/>
            <a:ext cx="3251200" cy="431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24499"/>
              </a:lnSpc>
            </a:pPr>
            <a:r>
              <a:rPr lang="ko-KR" altLang="en-US" sz="24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타겟 유저</a:t>
            </a:r>
            <a:endParaRPr lang="en" sz="2400" b="0" i="0" u="none" strike="noStrike" dirty="0">
              <a:solidFill>
                <a:srgbClr val="464749"/>
              </a:solidFill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81050" y="8241578"/>
            <a:ext cx="7200900" cy="1066800"/>
          </a:xfrm>
          <a:prstGeom prst="rect">
            <a:avLst/>
          </a:prstGeom>
        </p:spPr>
        <p:txBody>
          <a:bodyPr lIns="0" tIns="76200" rIns="0" bIns="0" rtlCol="0" anchor="t"/>
          <a:lstStyle/>
          <a:p>
            <a:pPr lvl="0">
              <a:lnSpc>
                <a:spcPct val="99600"/>
              </a:lnSpc>
            </a:pPr>
            <a:r>
              <a:rPr lang="ko-KR" altLang="en-US" sz="6000" b="0" i="0" u="none" strike="noStrike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검색부터 참여까지 한번에 하고 싶은 유저</a:t>
            </a:r>
            <a:endParaRPr lang="en" altLang="ko-KR" sz="6000" b="0" i="0" u="none" strike="noStrike" dirty="0"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903700" y="8241578"/>
            <a:ext cx="6565900" cy="1066800"/>
          </a:xfrm>
          <a:prstGeom prst="rect">
            <a:avLst/>
          </a:prstGeom>
        </p:spPr>
        <p:txBody>
          <a:bodyPr lIns="0" tIns="76200" rIns="0" bIns="0" rtlCol="0" anchor="t"/>
          <a:lstStyle/>
          <a:p>
            <a:pPr lvl="0">
              <a:lnSpc>
                <a:spcPct val="99600"/>
              </a:lnSpc>
            </a:pPr>
            <a:r>
              <a:rPr lang="ko-KR" altLang="en-US" sz="6000" b="0" i="0" u="none" strike="noStrike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다른 사용자와 소통을 원하는 유저</a:t>
            </a:r>
            <a:endParaRPr lang="en" altLang="ko-KR" sz="6000" b="0" i="0" u="none" strike="noStrike" dirty="0"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271500" y="2438400"/>
            <a:ext cx="5626100" cy="1066800"/>
          </a:xfrm>
          <a:prstGeom prst="rect">
            <a:avLst/>
          </a:prstGeom>
        </p:spPr>
        <p:txBody>
          <a:bodyPr lIns="0" tIns="76200" rIns="0" bIns="0" rtlCol="0" anchor="t"/>
          <a:lstStyle/>
          <a:p>
            <a:pPr lvl="0">
              <a:lnSpc>
                <a:spcPct val="99600"/>
              </a:lnSpc>
            </a:pPr>
            <a:r>
              <a:rPr lang="ko-KR" altLang="en-US" sz="60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소속 팀</a:t>
            </a:r>
            <a:r>
              <a:rPr lang="ko-KR" altLang="en-US" sz="6000" b="0" i="0" u="none" strike="noStrike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이 없는 </a:t>
            </a:r>
            <a:r>
              <a:rPr lang="ko-KR" altLang="en-US" sz="6000" b="0" i="0" u="none" strike="noStrike" dirty="0" err="1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풋살</a:t>
            </a:r>
            <a:r>
              <a:rPr lang="ko-KR" altLang="en-US" sz="6000" b="0" i="0" u="none" strike="noStrike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 유저</a:t>
            </a:r>
            <a:endParaRPr lang="en" altLang="ko-KR" sz="6000" b="0" i="0" u="none" strike="noStrike" dirty="0"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dirty="0">
                <a:solidFill>
                  <a:srgbClr val="787878"/>
                </a:solidFill>
                <a:latin typeface="Poppins Regular"/>
              </a:rPr>
              <a:t>05</a:t>
            </a:r>
            <a:endParaRPr lang="en" sz="2592" b="0" i="0" u="none" strike="noStrike" dirty="0">
              <a:solidFill>
                <a:srgbClr val="787878"/>
              </a:solidFill>
              <a:latin typeface="Poppins Regular"/>
            </a:endParaRPr>
          </a:p>
        </p:txBody>
      </p:sp>
      <p:sp>
        <p:nvSpPr>
          <p:cNvPr id="35" name="TextBox 16">
            <a:extLst>
              <a:ext uri="{FF2B5EF4-FFF2-40B4-BE49-F238E27FC236}">
                <a16:creationId xmlns:a16="http://schemas.microsoft.com/office/drawing/2014/main" id="{55A4C8CE-B260-5E70-C17C-72BD81608E9E}"/>
              </a:ext>
            </a:extLst>
          </p:cNvPr>
          <p:cNvSpPr txBox="1"/>
          <p:nvPr/>
        </p:nvSpPr>
        <p:spPr>
          <a:xfrm>
            <a:off x="914402" y="965200"/>
            <a:ext cx="5791200" cy="2768600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소개</a:t>
            </a:r>
            <a:endParaRPr lang="ko-KR" altLang="en-US" sz="5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F13BCA55-C7A9-E7A0-7662-AFA5F671A1F7}"/>
              </a:ext>
            </a:extLst>
          </p:cNvPr>
          <p:cNvSpPr/>
          <p:nvPr/>
        </p:nvSpPr>
        <p:spPr>
          <a:xfrm>
            <a:off x="457200" y="1179946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53FBB7F9-9925-3AE3-8769-336792FAF5C7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B5B84C01-0675-9320-6103-1B56C7694C00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40" name="TextBox 5">
                <a:extLst>
                  <a:ext uri="{FF2B5EF4-FFF2-40B4-BE49-F238E27FC236}">
                    <a16:creationId xmlns:a16="http://schemas.microsoft.com/office/drawing/2014/main" id="{8329CC91-3A70-7CC1-315E-1EADFA5C75E9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41" name="그림 40">
                <a:extLst>
                  <a:ext uri="{FF2B5EF4-FFF2-40B4-BE49-F238E27FC236}">
                    <a16:creationId xmlns:a16="http://schemas.microsoft.com/office/drawing/2014/main" id="{CDC1EEC9-9C8D-B888-88B6-29A52182A9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9" name="Picture 5">
              <a:extLst>
                <a:ext uri="{FF2B5EF4-FFF2-40B4-BE49-F238E27FC236}">
                  <a16:creationId xmlns:a16="http://schemas.microsoft.com/office/drawing/2014/main" id="{121372A4-17CB-9C09-2085-D06C57AE31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48" name="그림 47">
            <a:extLst>
              <a:ext uri="{FF2B5EF4-FFF2-40B4-BE49-F238E27FC236}">
                <a16:creationId xmlns:a16="http://schemas.microsoft.com/office/drawing/2014/main" id="{C4B412DF-192F-6B05-7377-EF7D35AA2D8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59700" y="10327553"/>
            <a:ext cx="914400" cy="91440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1CFE9CA8-4210-7C72-5DD5-7780A45680F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80800" y="4390303"/>
            <a:ext cx="1143000" cy="1143000"/>
          </a:xfrm>
          <a:prstGeom prst="rect">
            <a:avLst/>
          </a:prstGeom>
        </p:spPr>
      </p:pic>
      <p:pic>
        <p:nvPicPr>
          <p:cNvPr id="55" name="Picture 5">
            <a:extLst>
              <a:ext uri="{FF2B5EF4-FFF2-40B4-BE49-F238E27FC236}">
                <a16:creationId xmlns:a16="http://schemas.microsoft.com/office/drawing/2014/main" id="{FA807CE9-A06A-744F-2C0D-08CC8B6FAC3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</p:pic>
      <p:sp>
        <p:nvSpPr>
          <p:cNvPr id="15" name="TextBox 15"/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b="0" i="0" u="none" strike="noStrike" dirty="0">
                <a:solidFill>
                  <a:srgbClr val="787878"/>
                </a:solidFill>
                <a:latin typeface="Poppins Regular"/>
              </a:rPr>
              <a:t>06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91EC032-3A1A-E1A8-3B3D-D1E339AEBA42}"/>
              </a:ext>
            </a:extLst>
          </p:cNvPr>
          <p:cNvSpPr txBox="1"/>
          <p:nvPr/>
        </p:nvSpPr>
        <p:spPr>
          <a:xfrm>
            <a:off x="914402" y="965200"/>
            <a:ext cx="5791200" cy="2768600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소개</a:t>
            </a:r>
            <a:endParaRPr lang="ko-KR" altLang="en-US" sz="5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5301E8A-E34C-E3A8-EE68-ED54D45C12C7}"/>
              </a:ext>
            </a:extLst>
          </p:cNvPr>
          <p:cNvSpPr/>
          <p:nvPr/>
        </p:nvSpPr>
        <p:spPr>
          <a:xfrm>
            <a:off x="457200" y="1179946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4697A9C-2458-5E9C-AC47-8BA361EEEF5B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3A204BC9-F6BC-79F7-76BD-0562A204006F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21" name="TextBox 5">
                <a:extLst>
                  <a:ext uri="{FF2B5EF4-FFF2-40B4-BE49-F238E27FC236}">
                    <a16:creationId xmlns:a16="http://schemas.microsoft.com/office/drawing/2014/main" id="{6EE2B237-5B65-5B46-C899-D41021747565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22" name="그림 21">
                <a:extLst>
                  <a:ext uri="{FF2B5EF4-FFF2-40B4-BE49-F238E27FC236}">
                    <a16:creationId xmlns:a16="http://schemas.microsoft.com/office/drawing/2014/main" id="{50CA2513-3C64-4BFC-3F6B-C6476F8AE2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20" name="Picture 5">
              <a:extLst>
                <a:ext uri="{FF2B5EF4-FFF2-40B4-BE49-F238E27FC236}">
                  <a16:creationId xmlns:a16="http://schemas.microsoft.com/office/drawing/2014/main" id="{322400A9-38B8-2926-CF88-4FF4E2127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23" name="Picture 5">
            <a:extLst>
              <a:ext uri="{FF2B5EF4-FFF2-40B4-BE49-F238E27FC236}">
                <a16:creationId xmlns:a16="http://schemas.microsoft.com/office/drawing/2014/main" id="{EFA7067E-B35C-422B-F704-E98AB4937D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sp>
        <p:nvSpPr>
          <p:cNvPr id="13" name="순서도: 다른 페이지 연결선 12">
            <a:extLst>
              <a:ext uri="{FF2B5EF4-FFF2-40B4-BE49-F238E27FC236}">
                <a16:creationId xmlns:a16="http://schemas.microsoft.com/office/drawing/2014/main" id="{8BC18E18-CFC6-AC10-6CF7-853E9E481948}"/>
              </a:ext>
            </a:extLst>
          </p:cNvPr>
          <p:cNvSpPr/>
          <p:nvPr/>
        </p:nvSpPr>
        <p:spPr>
          <a:xfrm rot="5400000">
            <a:off x="11670107" y="618888"/>
            <a:ext cx="10185435" cy="13898351"/>
          </a:xfrm>
          <a:prstGeom prst="flowChartOffpageConnector">
            <a:avLst/>
          </a:prstGeom>
          <a:solidFill>
            <a:schemeClr val="accent3">
              <a:lumMod val="20000"/>
              <a:lumOff val="80000"/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3044514E-F6D0-8A00-5053-87238FC260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67196" y="2885990"/>
            <a:ext cx="4170752" cy="4170752"/>
          </a:xfrm>
          <a:custGeom>
            <a:avLst/>
            <a:gdLst>
              <a:gd name="connsiteX0" fmla="*/ 0 w 4170752"/>
              <a:gd name="connsiteY0" fmla="*/ 0 h 4170752"/>
              <a:gd name="connsiteX1" fmla="*/ 470699 w 4170752"/>
              <a:gd name="connsiteY1" fmla="*/ 0 h 4170752"/>
              <a:gd name="connsiteX2" fmla="*/ 1149936 w 4170752"/>
              <a:gd name="connsiteY2" fmla="*/ 0 h 4170752"/>
              <a:gd name="connsiteX3" fmla="*/ 1662343 w 4170752"/>
              <a:gd name="connsiteY3" fmla="*/ 0 h 4170752"/>
              <a:gd name="connsiteX4" fmla="*/ 2258164 w 4170752"/>
              <a:gd name="connsiteY4" fmla="*/ 0 h 4170752"/>
              <a:gd name="connsiteX5" fmla="*/ 2770571 w 4170752"/>
              <a:gd name="connsiteY5" fmla="*/ 0 h 4170752"/>
              <a:gd name="connsiteX6" fmla="*/ 3282978 w 4170752"/>
              <a:gd name="connsiteY6" fmla="*/ 0 h 4170752"/>
              <a:gd name="connsiteX7" fmla="*/ 4170752 w 4170752"/>
              <a:gd name="connsiteY7" fmla="*/ 0 h 4170752"/>
              <a:gd name="connsiteX8" fmla="*/ 4170752 w 4170752"/>
              <a:gd name="connsiteY8" fmla="*/ 679237 h 4170752"/>
              <a:gd name="connsiteX9" fmla="*/ 4170752 w 4170752"/>
              <a:gd name="connsiteY9" fmla="*/ 1275058 h 4170752"/>
              <a:gd name="connsiteX10" fmla="*/ 4170752 w 4170752"/>
              <a:gd name="connsiteY10" fmla="*/ 1745758 h 4170752"/>
              <a:gd name="connsiteX11" fmla="*/ 4170752 w 4170752"/>
              <a:gd name="connsiteY11" fmla="*/ 2258164 h 4170752"/>
              <a:gd name="connsiteX12" fmla="*/ 4170752 w 4170752"/>
              <a:gd name="connsiteY12" fmla="*/ 2770571 h 4170752"/>
              <a:gd name="connsiteX13" fmla="*/ 4170752 w 4170752"/>
              <a:gd name="connsiteY13" fmla="*/ 3241270 h 4170752"/>
              <a:gd name="connsiteX14" fmla="*/ 4170752 w 4170752"/>
              <a:gd name="connsiteY14" fmla="*/ 4170752 h 4170752"/>
              <a:gd name="connsiteX15" fmla="*/ 3658345 w 4170752"/>
              <a:gd name="connsiteY15" fmla="*/ 4170752 h 4170752"/>
              <a:gd name="connsiteX16" fmla="*/ 3145939 w 4170752"/>
              <a:gd name="connsiteY16" fmla="*/ 4170752 h 4170752"/>
              <a:gd name="connsiteX17" fmla="*/ 2550117 w 4170752"/>
              <a:gd name="connsiteY17" fmla="*/ 4170752 h 4170752"/>
              <a:gd name="connsiteX18" fmla="*/ 1912588 w 4170752"/>
              <a:gd name="connsiteY18" fmla="*/ 4170752 h 4170752"/>
              <a:gd name="connsiteX19" fmla="*/ 1441889 w 4170752"/>
              <a:gd name="connsiteY19" fmla="*/ 4170752 h 4170752"/>
              <a:gd name="connsiteX20" fmla="*/ 929482 w 4170752"/>
              <a:gd name="connsiteY20" fmla="*/ 4170752 h 4170752"/>
              <a:gd name="connsiteX21" fmla="*/ 0 w 4170752"/>
              <a:gd name="connsiteY21" fmla="*/ 4170752 h 4170752"/>
              <a:gd name="connsiteX22" fmla="*/ 0 w 4170752"/>
              <a:gd name="connsiteY22" fmla="*/ 3533223 h 4170752"/>
              <a:gd name="connsiteX23" fmla="*/ 0 w 4170752"/>
              <a:gd name="connsiteY23" fmla="*/ 3020816 h 4170752"/>
              <a:gd name="connsiteX24" fmla="*/ 0 w 4170752"/>
              <a:gd name="connsiteY24" fmla="*/ 2383287 h 4170752"/>
              <a:gd name="connsiteX25" fmla="*/ 0 w 4170752"/>
              <a:gd name="connsiteY25" fmla="*/ 1829173 h 4170752"/>
              <a:gd name="connsiteX26" fmla="*/ 0 w 4170752"/>
              <a:gd name="connsiteY26" fmla="*/ 1149936 h 4170752"/>
              <a:gd name="connsiteX27" fmla="*/ 0 w 4170752"/>
              <a:gd name="connsiteY27" fmla="*/ 0 h 4170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170752" h="4170752" extrusionOk="0">
                <a:moveTo>
                  <a:pt x="0" y="0"/>
                </a:moveTo>
                <a:cubicBezTo>
                  <a:pt x="214458" y="-13750"/>
                  <a:pt x="347013" y="50242"/>
                  <a:pt x="470699" y="0"/>
                </a:cubicBezTo>
                <a:cubicBezTo>
                  <a:pt x="594385" y="-50242"/>
                  <a:pt x="815988" y="17032"/>
                  <a:pt x="1149936" y="0"/>
                </a:cubicBezTo>
                <a:cubicBezTo>
                  <a:pt x="1483884" y="-17032"/>
                  <a:pt x="1408854" y="53576"/>
                  <a:pt x="1662343" y="0"/>
                </a:cubicBezTo>
                <a:cubicBezTo>
                  <a:pt x="1915832" y="-53576"/>
                  <a:pt x="1997358" y="50936"/>
                  <a:pt x="2258164" y="0"/>
                </a:cubicBezTo>
                <a:cubicBezTo>
                  <a:pt x="2518970" y="-50936"/>
                  <a:pt x="2560711" y="21121"/>
                  <a:pt x="2770571" y="0"/>
                </a:cubicBezTo>
                <a:cubicBezTo>
                  <a:pt x="2980431" y="-21121"/>
                  <a:pt x="3152341" y="22798"/>
                  <a:pt x="3282978" y="0"/>
                </a:cubicBezTo>
                <a:cubicBezTo>
                  <a:pt x="3413615" y="-22798"/>
                  <a:pt x="3860121" y="56774"/>
                  <a:pt x="4170752" y="0"/>
                </a:cubicBezTo>
                <a:cubicBezTo>
                  <a:pt x="4186069" y="165305"/>
                  <a:pt x="4121308" y="522189"/>
                  <a:pt x="4170752" y="679237"/>
                </a:cubicBezTo>
                <a:cubicBezTo>
                  <a:pt x="4220196" y="836285"/>
                  <a:pt x="4111258" y="1130617"/>
                  <a:pt x="4170752" y="1275058"/>
                </a:cubicBezTo>
                <a:cubicBezTo>
                  <a:pt x="4230246" y="1419499"/>
                  <a:pt x="4146389" y="1516632"/>
                  <a:pt x="4170752" y="1745758"/>
                </a:cubicBezTo>
                <a:cubicBezTo>
                  <a:pt x="4195115" y="1974884"/>
                  <a:pt x="4139547" y="2049631"/>
                  <a:pt x="4170752" y="2258164"/>
                </a:cubicBezTo>
                <a:cubicBezTo>
                  <a:pt x="4201957" y="2466697"/>
                  <a:pt x="4143446" y="2612219"/>
                  <a:pt x="4170752" y="2770571"/>
                </a:cubicBezTo>
                <a:cubicBezTo>
                  <a:pt x="4198058" y="2928923"/>
                  <a:pt x="4131350" y="3112151"/>
                  <a:pt x="4170752" y="3241270"/>
                </a:cubicBezTo>
                <a:cubicBezTo>
                  <a:pt x="4210154" y="3370389"/>
                  <a:pt x="4121012" y="3863588"/>
                  <a:pt x="4170752" y="4170752"/>
                </a:cubicBezTo>
                <a:cubicBezTo>
                  <a:pt x="3957004" y="4183642"/>
                  <a:pt x="3875087" y="4129422"/>
                  <a:pt x="3658345" y="4170752"/>
                </a:cubicBezTo>
                <a:cubicBezTo>
                  <a:pt x="3441603" y="4212082"/>
                  <a:pt x="3335491" y="4112187"/>
                  <a:pt x="3145939" y="4170752"/>
                </a:cubicBezTo>
                <a:cubicBezTo>
                  <a:pt x="2956387" y="4229317"/>
                  <a:pt x="2814666" y="4102632"/>
                  <a:pt x="2550117" y="4170752"/>
                </a:cubicBezTo>
                <a:cubicBezTo>
                  <a:pt x="2285568" y="4238872"/>
                  <a:pt x="2203818" y="4140136"/>
                  <a:pt x="1912588" y="4170752"/>
                </a:cubicBezTo>
                <a:cubicBezTo>
                  <a:pt x="1621358" y="4201368"/>
                  <a:pt x="1656247" y="4157976"/>
                  <a:pt x="1441889" y="4170752"/>
                </a:cubicBezTo>
                <a:cubicBezTo>
                  <a:pt x="1227531" y="4183528"/>
                  <a:pt x="1181320" y="4158433"/>
                  <a:pt x="929482" y="4170752"/>
                </a:cubicBezTo>
                <a:cubicBezTo>
                  <a:pt x="677644" y="4183071"/>
                  <a:pt x="342800" y="4066492"/>
                  <a:pt x="0" y="4170752"/>
                </a:cubicBezTo>
                <a:cubicBezTo>
                  <a:pt x="-35973" y="4009865"/>
                  <a:pt x="42577" y="3830162"/>
                  <a:pt x="0" y="3533223"/>
                </a:cubicBezTo>
                <a:cubicBezTo>
                  <a:pt x="-42577" y="3236284"/>
                  <a:pt x="36984" y="3232697"/>
                  <a:pt x="0" y="3020816"/>
                </a:cubicBezTo>
                <a:cubicBezTo>
                  <a:pt x="-36984" y="2808935"/>
                  <a:pt x="25108" y="2514735"/>
                  <a:pt x="0" y="2383287"/>
                </a:cubicBezTo>
                <a:cubicBezTo>
                  <a:pt x="-25108" y="2251839"/>
                  <a:pt x="20787" y="2052412"/>
                  <a:pt x="0" y="1829173"/>
                </a:cubicBezTo>
                <a:cubicBezTo>
                  <a:pt x="-20787" y="1605934"/>
                  <a:pt x="32173" y="1427679"/>
                  <a:pt x="0" y="1149936"/>
                </a:cubicBezTo>
                <a:cubicBezTo>
                  <a:pt x="-32173" y="872193"/>
                  <a:pt x="6259" y="504808"/>
                  <a:pt x="0" y="0"/>
                </a:cubicBezTo>
                <a:close/>
              </a:path>
            </a:pathLst>
          </a:custGeom>
          <a:noFill/>
          <a:ln w="57150">
            <a:noFill/>
            <a:extLst>
              <a:ext uri="{C807C97D-BFC1-408E-A445-0C87EB9F89A2}">
                <ask:lineSketchStyleProps xmlns:ask="http://schemas.microsoft.com/office/drawing/2018/sketchyshapes" sd="247059902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sx="101000" sy="101000" algn="tl" rotWithShape="0">
              <a:prstClr val="black">
                <a:alpha val="35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6EF5E1-BA6B-0658-716D-51A8FD28C467}"/>
              </a:ext>
            </a:extLst>
          </p:cNvPr>
          <p:cNvSpPr txBox="1"/>
          <p:nvPr/>
        </p:nvSpPr>
        <p:spPr>
          <a:xfrm>
            <a:off x="889000" y="12686946"/>
            <a:ext cx="12216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출처</a:t>
            </a:r>
            <a:r>
              <a:rPr lang="en-US" altLang="ko-KR" dirty="0"/>
              <a:t> : </a:t>
            </a:r>
            <a:r>
              <a:rPr lang="ko-KR" altLang="en-US" dirty="0"/>
              <a:t>https://www.korea.kr/multi/visualNewsView.do?newsId=148924732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A0F3A4B-7899-0B22-AD7F-8E29944FA0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" y="6591300"/>
            <a:ext cx="10772775" cy="1409700"/>
          </a:xfrm>
          <a:prstGeom prst="rect">
            <a:avLst/>
          </a:prstGeom>
          <a:effectLst>
            <a:outerShdw blurRad="50800" dist="38100" dir="2700000" sx="101000" sy="101000" algn="tl" rotWithShape="0">
              <a:prstClr val="black">
                <a:alpha val="35000"/>
              </a:prstClr>
            </a:outerShdw>
          </a:effectLst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A544A8F7-8E6A-7426-0646-A81C040657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35600" y="7280990"/>
            <a:ext cx="9433944" cy="5038902"/>
          </a:xfrm>
          <a:prstGeom prst="rect">
            <a:avLst/>
          </a:prstGeom>
          <a:effectLst>
            <a:outerShdw blurRad="50800" dist="38100" dir="2700000" sx="101000" sy="101000" algn="tl" rotWithShape="0">
              <a:prstClr val="black">
                <a:alpha val="35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52460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55203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</p:pic>
      <p:sp>
        <p:nvSpPr>
          <p:cNvPr id="15" name="TextBox 15"/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b="0" i="0" u="none" strike="noStrike" dirty="0">
                <a:solidFill>
                  <a:srgbClr val="787878"/>
                </a:solidFill>
                <a:latin typeface="Poppins Regular"/>
              </a:rPr>
              <a:t>07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91EC032-3A1A-E1A8-3B3D-D1E339AEBA42}"/>
              </a:ext>
            </a:extLst>
          </p:cNvPr>
          <p:cNvSpPr txBox="1"/>
          <p:nvPr/>
        </p:nvSpPr>
        <p:spPr>
          <a:xfrm>
            <a:off x="914402" y="965200"/>
            <a:ext cx="5791200" cy="2768600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소개</a:t>
            </a:r>
            <a:endParaRPr lang="ko-KR" altLang="en-US" sz="5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5301E8A-E34C-E3A8-EE68-ED54D45C12C7}"/>
              </a:ext>
            </a:extLst>
          </p:cNvPr>
          <p:cNvSpPr/>
          <p:nvPr/>
        </p:nvSpPr>
        <p:spPr>
          <a:xfrm>
            <a:off x="457200" y="1179946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4697A9C-2458-5E9C-AC47-8BA361EEEF5B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3A204BC9-F6BC-79F7-76BD-0562A204006F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21" name="TextBox 5">
                <a:extLst>
                  <a:ext uri="{FF2B5EF4-FFF2-40B4-BE49-F238E27FC236}">
                    <a16:creationId xmlns:a16="http://schemas.microsoft.com/office/drawing/2014/main" id="{6EE2B237-5B65-5B46-C899-D41021747565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22" name="그림 21">
                <a:extLst>
                  <a:ext uri="{FF2B5EF4-FFF2-40B4-BE49-F238E27FC236}">
                    <a16:creationId xmlns:a16="http://schemas.microsoft.com/office/drawing/2014/main" id="{50CA2513-3C64-4BFC-3F6B-C6476F8AE2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20" name="Picture 5">
              <a:extLst>
                <a:ext uri="{FF2B5EF4-FFF2-40B4-BE49-F238E27FC236}">
                  <a16:creationId xmlns:a16="http://schemas.microsoft.com/office/drawing/2014/main" id="{322400A9-38B8-2926-CF88-4FF4E2127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23" name="Picture 5">
            <a:extLst>
              <a:ext uri="{FF2B5EF4-FFF2-40B4-BE49-F238E27FC236}">
                <a16:creationId xmlns:a16="http://schemas.microsoft.com/office/drawing/2014/main" id="{EFA7067E-B35C-422B-F704-E98AB4937D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FC89ABB-A71A-3BE4-93FB-55396C9F37E3}"/>
              </a:ext>
            </a:extLst>
          </p:cNvPr>
          <p:cNvSpPr txBox="1"/>
          <p:nvPr/>
        </p:nvSpPr>
        <p:spPr>
          <a:xfrm>
            <a:off x="914402" y="12744198"/>
            <a:ext cx="12222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출처</a:t>
            </a:r>
            <a:r>
              <a:rPr lang="en-US" altLang="ko-KR" dirty="0"/>
              <a:t> : </a:t>
            </a:r>
            <a:r>
              <a:rPr lang="ko-KR" altLang="en-US" dirty="0"/>
              <a:t>https://biz.heraldcorp.com/article/10565257</a:t>
            </a:r>
          </a:p>
        </p:txBody>
      </p:sp>
      <p:sp>
        <p:nvSpPr>
          <p:cNvPr id="38" name="순서도: 다른 페이지 연결선 37">
            <a:extLst>
              <a:ext uri="{FF2B5EF4-FFF2-40B4-BE49-F238E27FC236}">
                <a16:creationId xmlns:a16="http://schemas.microsoft.com/office/drawing/2014/main" id="{D8DBB4D6-8A1F-0886-4DE4-C663EC6DD5AC}"/>
              </a:ext>
            </a:extLst>
          </p:cNvPr>
          <p:cNvSpPr/>
          <p:nvPr/>
        </p:nvSpPr>
        <p:spPr>
          <a:xfrm rot="5400000">
            <a:off x="11928944" y="360052"/>
            <a:ext cx="9667762" cy="13898351"/>
          </a:xfrm>
          <a:prstGeom prst="flowChartOffpageConnector">
            <a:avLst/>
          </a:prstGeom>
          <a:solidFill>
            <a:schemeClr val="accent3">
              <a:lumMod val="20000"/>
              <a:lumOff val="80000"/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DD48EF3-FDEA-517D-0D89-D0440F0BD0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99252" y="3336416"/>
            <a:ext cx="10841401" cy="1726431"/>
          </a:xfrm>
          <a:custGeom>
            <a:avLst/>
            <a:gdLst>
              <a:gd name="connsiteX0" fmla="*/ 0 w 10841401"/>
              <a:gd name="connsiteY0" fmla="*/ 0 h 1726431"/>
              <a:gd name="connsiteX1" fmla="*/ 570600 w 10841401"/>
              <a:gd name="connsiteY1" fmla="*/ 0 h 1726431"/>
              <a:gd name="connsiteX2" fmla="*/ 924372 w 10841401"/>
              <a:gd name="connsiteY2" fmla="*/ 0 h 1726431"/>
              <a:gd name="connsiteX3" fmla="*/ 1169730 w 10841401"/>
              <a:gd name="connsiteY3" fmla="*/ 0 h 1726431"/>
              <a:gd name="connsiteX4" fmla="*/ 1740330 w 10841401"/>
              <a:gd name="connsiteY4" fmla="*/ 0 h 1726431"/>
              <a:gd name="connsiteX5" fmla="*/ 2419344 w 10841401"/>
              <a:gd name="connsiteY5" fmla="*/ 0 h 1726431"/>
              <a:gd name="connsiteX6" fmla="*/ 2773116 w 10841401"/>
              <a:gd name="connsiteY6" fmla="*/ 0 h 1726431"/>
              <a:gd name="connsiteX7" fmla="*/ 3018474 w 10841401"/>
              <a:gd name="connsiteY7" fmla="*/ 0 h 1726431"/>
              <a:gd name="connsiteX8" fmla="*/ 3480660 w 10841401"/>
              <a:gd name="connsiteY8" fmla="*/ 0 h 1726431"/>
              <a:gd name="connsiteX9" fmla="*/ 4268088 w 10841401"/>
              <a:gd name="connsiteY9" fmla="*/ 0 h 1726431"/>
              <a:gd name="connsiteX10" fmla="*/ 4947102 w 10841401"/>
              <a:gd name="connsiteY10" fmla="*/ 0 h 1726431"/>
              <a:gd name="connsiteX11" fmla="*/ 5517703 w 10841401"/>
              <a:gd name="connsiteY11" fmla="*/ 0 h 1726431"/>
              <a:gd name="connsiteX12" fmla="*/ 5979889 w 10841401"/>
              <a:gd name="connsiteY12" fmla="*/ 0 h 1726431"/>
              <a:gd name="connsiteX13" fmla="*/ 6442075 w 10841401"/>
              <a:gd name="connsiteY13" fmla="*/ 0 h 1726431"/>
              <a:gd name="connsiteX14" fmla="*/ 7012675 w 10841401"/>
              <a:gd name="connsiteY14" fmla="*/ 0 h 1726431"/>
              <a:gd name="connsiteX15" fmla="*/ 7366447 w 10841401"/>
              <a:gd name="connsiteY15" fmla="*/ 0 h 1726431"/>
              <a:gd name="connsiteX16" fmla="*/ 7611805 w 10841401"/>
              <a:gd name="connsiteY16" fmla="*/ 0 h 1726431"/>
              <a:gd name="connsiteX17" fmla="*/ 7965577 w 10841401"/>
              <a:gd name="connsiteY17" fmla="*/ 0 h 1726431"/>
              <a:gd name="connsiteX18" fmla="*/ 8319349 w 10841401"/>
              <a:gd name="connsiteY18" fmla="*/ 0 h 1726431"/>
              <a:gd name="connsiteX19" fmla="*/ 8673121 w 10841401"/>
              <a:gd name="connsiteY19" fmla="*/ 0 h 1726431"/>
              <a:gd name="connsiteX20" fmla="*/ 9243721 w 10841401"/>
              <a:gd name="connsiteY20" fmla="*/ 0 h 1726431"/>
              <a:gd name="connsiteX21" fmla="*/ 9922735 w 10841401"/>
              <a:gd name="connsiteY21" fmla="*/ 0 h 1726431"/>
              <a:gd name="connsiteX22" fmla="*/ 10841401 w 10841401"/>
              <a:gd name="connsiteY22" fmla="*/ 0 h 1726431"/>
              <a:gd name="connsiteX23" fmla="*/ 10841401 w 10841401"/>
              <a:gd name="connsiteY23" fmla="*/ 523684 h 1726431"/>
              <a:gd name="connsiteX24" fmla="*/ 10841401 w 10841401"/>
              <a:gd name="connsiteY24" fmla="*/ 1081897 h 1726431"/>
              <a:gd name="connsiteX25" fmla="*/ 10841401 w 10841401"/>
              <a:gd name="connsiteY25" fmla="*/ 1726431 h 1726431"/>
              <a:gd name="connsiteX26" fmla="*/ 10270801 w 10841401"/>
              <a:gd name="connsiteY26" fmla="*/ 1726431 h 1726431"/>
              <a:gd name="connsiteX27" fmla="*/ 10025443 w 10841401"/>
              <a:gd name="connsiteY27" fmla="*/ 1726431 h 1726431"/>
              <a:gd name="connsiteX28" fmla="*/ 9780085 w 10841401"/>
              <a:gd name="connsiteY28" fmla="*/ 1726431 h 1726431"/>
              <a:gd name="connsiteX29" fmla="*/ 9101071 w 10841401"/>
              <a:gd name="connsiteY29" fmla="*/ 1726431 h 1726431"/>
              <a:gd name="connsiteX30" fmla="*/ 8313643 w 10841401"/>
              <a:gd name="connsiteY30" fmla="*/ 1726431 h 1726431"/>
              <a:gd name="connsiteX31" fmla="*/ 7851457 w 10841401"/>
              <a:gd name="connsiteY31" fmla="*/ 1726431 h 1726431"/>
              <a:gd name="connsiteX32" fmla="*/ 7606099 w 10841401"/>
              <a:gd name="connsiteY32" fmla="*/ 1726431 h 1726431"/>
              <a:gd name="connsiteX33" fmla="*/ 7143913 w 10841401"/>
              <a:gd name="connsiteY33" fmla="*/ 1726431 h 1726431"/>
              <a:gd name="connsiteX34" fmla="*/ 6790141 w 10841401"/>
              <a:gd name="connsiteY34" fmla="*/ 1726431 h 1726431"/>
              <a:gd name="connsiteX35" fmla="*/ 6219541 w 10841401"/>
              <a:gd name="connsiteY35" fmla="*/ 1726431 h 1726431"/>
              <a:gd name="connsiteX36" fmla="*/ 5540527 w 10841401"/>
              <a:gd name="connsiteY36" fmla="*/ 1726431 h 1726431"/>
              <a:gd name="connsiteX37" fmla="*/ 5186754 w 10841401"/>
              <a:gd name="connsiteY37" fmla="*/ 1726431 h 1726431"/>
              <a:gd name="connsiteX38" fmla="*/ 4724568 w 10841401"/>
              <a:gd name="connsiteY38" fmla="*/ 1726431 h 1726431"/>
              <a:gd name="connsiteX39" fmla="*/ 4479210 w 10841401"/>
              <a:gd name="connsiteY39" fmla="*/ 1726431 h 1726431"/>
              <a:gd name="connsiteX40" fmla="*/ 3908610 w 10841401"/>
              <a:gd name="connsiteY40" fmla="*/ 1726431 h 1726431"/>
              <a:gd name="connsiteX41" fmla="*/ 3446424 w 10841401"/>
              <a:gd name="connsiteY41" fmla="*/ 1726431 h 1726431"/>
              <a:gd name="connsiteX42" fmla="*/ 2658996 w 10841401"/>
              <a:gd name="connsiteY42" fmla="*/ 1726431 h 1726431"/>
              <a:gd name="connsiteX43" fmla="*/ 2088396 w 10841401"/>
              <a:gd name="connsiteY43" fmla="*/ 1726431 h 1726431"/>
              <a:gd name="connsiteX44" fmla="*/ 1409382 w 10841401"/>
              <a:gd name="connsiteY44" fmla="*/ 1726431 h 1726431"/>
              <a:gd name="connsiteX45" fmla="*/ 730368 w 10841401"/>
              <a:gd name="connsiteY45" fmla="*/ 1726431 h 1726431"/>
              <a:gd name="connsiteX46" fmla="*/ 0 w 10841401"/>
              <a:gd name="connsiteY46" fmla="*/ 1726431 h 1726431"/>
              <a:gd name="connsiteX47" fmla="*/ 0 w 10841401"/>
              <a:gd name="connsiteY47" fmla="*/ 1168218 h 1726431"/>
              <a:gd name="connsiteX48" fmla="*/ 0 w 10841401"/>
              <a:gd name="connsiteY48" fmla="*/ 575477 h 1726431"/>
              <a:gd name="connsiteX49" fmla="*/ 0 w 10841401"/>
              <a:gd name="connsiteY49" fmla="*/ 0 h 1726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0841401" h="1726431" fill="none" extrusionOk="0">
                <a:moveTo>
                  <a:pt x="0" y="0"/>
                </a:moveTo>
                <a:cubicBezTo>
                  <a:pt x="254500" y="-51232"/>
                  <a:pt x="394992" y="14951"/>
                  <a:pt x="570600" y="0"/>
                </a:cubicBezTo>
                <a:cubicBezTo>
                  <a:pt x="746208" y="-14951"/>
                  <a:pt x="817507" y="26292"/>
                  <a:pt x="924372" y="0"/>
                </a:cubicBezTo>
                <a:cubicBezTo>
                  <a:pt x="1031237" y="-26292"/>
                  <a:pt x="1052761" y="1186"/>
                  <a:pt x="1169730" y="0"/>
                </a:cubicBezTo>
                <a:cubicBezTo>
                  <a:pt x="1286699" y="-1186"/>
                  <a:pt x="1507904" y="41383"/>
                  <a:pt x="1740330" y="0"/>
                </a:cubicBezTo>
                <a:cubicBezTo>
                  <a:pt x="1972756" y="-41383"/>
                  <a:pt x="2220453" y="49622"/>
                  <a:pt x="2419344" y="0"/>
                </a:cubicBezTo>
                <a:cubicBezTo>
                  <a:pt x="2618235" y="-49622"/>
                  <a:pt x="2676837" y="28260"/>
                  <a:pt x="2773116" y="0"/>
                </a:cubicBezTo>
                <a:cubicBezTo>
                  <a:pt x="2869395" y="-28260"/>
                  <a:pt x="2908392" y="19047"/>
                  <a:pt x="3018474" y="0"/>
                </a:cubicBezTo>
                <a:cubicBezTo>
                  <a:pt x="3128556" y="-19047"/>
                  <a:pt x="3358493" y="32867"/>
                  <a:pt x="3480660" y="0"/>
                </a:cubicBezTo>
                <a:cubicBezTo>
                  <a:pt x="3602827" y="-32867"/>
                  <a:pt x="3970625" y="53050"/>
                  <a:pt x="4268088" y="0"/>
                </a:cubicBezTo>
                <a:cubicBezTo>
                  <a:pt x="4565551" y="-53050"/>
                  <a:pt x="4612288" y="79068"/>
                  <a:pt x="4947102" y="0"/>
                </a:cubicBezTo>
                <a:cubicBezTo>
                  <a:pt x="5281916" y="-79068"/>
                  <a:pt x="5342535" y="48671"/>
                  <a:pt x="5517703" y="0"/>
                </a:cubicBezTo>
                <a:cubicBezTo>
                  <a:pt x="5692871" y="-48671"/>
                  <a:pt x="5829067" y="29173"/>
                  <a:pt x="5979889" y="0"/>
                </a:cubicBezTo>
                <a:cubicBezTo>
                  <a:pt x="6130711" y="-29173"/>
                  <a:pt x="6283747" y="19407"/>
                  <a:pt x="6442075" y="0"/>
                </a:cubicBezTo>
                <a:cubicBezTo>
                  <a:pt x="6600403" y="-19407"/>
                  <a:pt x="6844371" y="47365"/>
                  <a:pt x="7012675" y="0"/>
                </a:cubicBezTo>
                <a:cubicBezTo>
                  <a:pt x="7180979" y="-47365"/>
                  <a:pt x="7211452" y="14401"/>
                  <a:pt x="7366447" y="0"/>
                </a:cubicBezTo>
                <a:cubicBezTo>
                  <a:pt x="7521442" y="-14401"/>
                  <a:pt x="7551579" y="5101"/>
                  <a:pt x="7611805" y="0"/>
                </a:cubicBezTo>
                <a:cubicBezTo>
                  <a:pt x="7672031" y="-5101"/>
                  <a:pt x="7876988" y="18837"/>
                  <a:pt x="7965577" y="0"/>
                </a:cubicBezTo>
                <a:cubicBezTo>
                  <a:pt x="8054166" y="-18837"/>
                  <a:pt x="8182238" y="37726"/>
                  <a:pt x="8319349" y="0"/>
                </a:cubicBezTo>
                <a:cubicBezTo>
                  <a:pt x="8456460" y="-37726"/>
                  <a:pt x="8520905" y="38624"/>
                  <a:pt x="8673121" y="0"/>
                </a:cubicBezTo>
                <a:cubicBezTo>
                  <a:pt x="8825337" y="-38624"/>
                  <a:pt x="9041518" y="27750"/>
                  <a:pt x="9243721" y="0"/>
                </a:cubicBezTo>
                <a:cubicBezTo>
                  <a:pt x="9445924" y="-27750"/>
                  <a:pt x="9780933" y="34341"/>
                  <a:pt x="9922735" y="0"/>
                </a:cubicBezTo>
                <a:cubicBezTo>
                  <a:pt x="10064537" y="-34341"/>
                  <a:pt x="10447970" y="40912"/>
                  <a:pt x="10841401" y="0"/>
                </a:cubicBezTo>
                <a:cubicBezTo>
                  <a:pt x="10845180" y="233515"/>
                  <a:pt x="10820815" y="270263"/>
                  <a:pt x="10841401" y="523684"/>
                </a:cubicBezTo>
                <a:cubicBezTo>
                  <a:pt x="10861987" y="777105"/>
                  <a:pt x="10781355" y="862819"/>
                  <a:pt x="10841401" y="1081897"/>
                </a:cubicBezTo>
                <a:cubicBezTo>
                  <a:pt x="10901447" y="1300975"/>
                  <a:pt x="10808494" y="1478304"/>
                  <a:pt x="10841401" y="1726431"/>
                </a:cubicBezTo>
                <a:cubicBezTo>
                  <a:pt x="10655916" y="1734604"/>
                  <a:pt x="10399636" y="1681139"/>
                  <a:pt x="10270801" y="1726431"/>
                </a:cubicBezTo>
                <a:cubicBezTo>
                  <a:pt x="10141966" y="1771723"/>
                  <a:pt x="10136997" y="1703599"/>
                  <a:pt x="10025443" y="1726431"/>
                </a:cubicBezTo>
                <a:cubicBezTo>
                  <a:pt x="9913889" y="1749263"/>
                  <a:pt x="9844979" y="1704475"/>
                  <a:pt x="9780085" y="1726431"/>
                </a:cubicBezTo>
                <a:cubicBezTo>
                  <a:pt x="9715191" y="1748387"/>
                  <a:pt x="9347706" y="1708615"/>
                  <a:pt x="9101071" y="1726431"/>
                </a:cubicBezTo>
                <a:cubicBezTo>
                  <a:pt x="8854436" y="1744247"/>
                  <a:pt x="8477404" y="1663664"/>
                  <a:pt x="8313643" y="1726431"/>
                </a:cubicBezTo>
                <a:cubicBezTo>
                  <a:pt x="8149882" y="1789198"/>
                  <a:pt x="8036487" y="1681530"/>
                  <a:pt x="7851457" y="1726431"/>
                </a:cubicBezTo>
                <a:cubicBezTo>
                  <a:pt x="7666427" y="1771332"/>
                  <a:pt x="7725934" y="1721657"/>
                  <a:pt x="7606099" y="1726431"/>
                </a:cubicBezTo>
                <a:cubicBezTo>
                  <a:pt x="7486264" y="1731205"/>
                  <a:pt x="7271019" y="1690981"/>
                  <a:pt x="7143913" y="1726431"/>
                </a:cubicBezTo>
                <a:cubicBezTo>
                  <a:pt x="7016807" y="1761881"/>
                  <a:pt x="6882555" y="1706941"/>
                  <a:pt x="6790141" y="1726431"/>
                </a:cubicBezTo>
                <a:cubicBezTo>
                  <a:pt x="6697727" y="1745921"/>
                  <a:pt x="6336225" y="1720661"/>
                  <a:pt x="6219541" y="1726431"/>
                </a:cubicBezTo>
                <a:cubicBezTo>
                  <a:pt x="6102857" y="1732201"/>
                  <a:pt x="5798002" y="1663610"/>
                  <a:pt x="5540527" y="1726431"/>
                </a:cubicBezTo>
                <a:cubicBezTo>
                  <a:pt x="5283052" y="1789252"/>
                  <a:pt x="5310651" y="1719284"/>
                  <a:pt x="5186754" y="1726431"/>
                </a:cubicBezTo>
                <a:cubicBezTo>
                  <a:pt x="5062857" y="1733578"/>
                  <a:pt x="4829799" y="1676524"/>
                  <a:pt x="4724568" y="1726431"/>
                </a:cubicBezTo>
                <a:cubicBezTo>
                  <a:pt x="4619337" y="1776338"/>
                  <a:pt x="4596069" y="1721416"/>
                  <a:pt x="4479210" y="1726431"/>
                </a:cubicBezTo>
                <a:cubicBezTo>
                  <a:pt x="4362351" y="1731446"/>
                  <a:pt x="4117731" y="1710627"/>
                  <a:pt x="3908610" y="1726431"/>
                </a:cubicBezTo>
                <a:cubicBezTo>
                  <a:pt x="3699489" y="1742235"/>
                  <a:pt x="3654778" y="1717734"/>
                  <a:pt x="3446424" y="1726431"/>
                </a:cubicBezTo>
                <a:cubicBezTo>
                  <a:pt x="3238070" y="1735128"/>
                  <a:pt x="2821752" y="1666468"/>
                  <a:pt x="2658996" y="1726431"/>
                </a:cubicBezTo>
                <a:cubicBezTo>
                  <a:pt x="2496240" y="1786394"/>
                  <a:pt x="2360951" y="1713221"/>
                  <a:pt x="2088396" y="1726431"/>
                </a:cubicBezTo>
                <a:cubicBezTo>
                  <a:pt x="1815841" y="1739641"/>
                  <a:pt x="1555860" y="1701382"/>
                  <a:pt x="1409382" y="1726431"/>
                </a:cubicBezTo>
                <a:cubicBezTo>
                  <a:pt x="1262904" y="1751480"/>
                  <a:pt x="959568" y="1647118"/>
                  <a:pt x="730368" y="1726431"/>
                </a:cubicBezTo>
                <a:cubicBezTo>
                  <a:pt x="501168" y="1805744"/>
                  <a:pt x="187169" y="1710404"/>
                  <a:pt x="0" y="1726431"/>
                </a:cubicBezTo>
                <a:cubicBezTo>
                  <a:pt x="-3235" y="1453099"/>
                  <a:pt x="13414" y="1292146"/>
                  <a:pt x="0" y="1168218"/>
                </a:cubicBezTo>
                <a:cubicBezTo>
                  <a:pt x="-13414" y="1044290"/>
                  <a:pt x="17330" y="799185"/>
                  <a:pt x="0" y="575477"/>
                </a:cubicBezTo>
                <a:cubicBezTo>
                  <a:pt x="-17330" y="351769"/>
                  <a:pt x="12701" y="155594"/>
                  <a:pt x="0" y="0"/>
                </a:cubicBezTo>
                <a:close/>
              </a:path>
              <a:path w="10841401" h="1726431" stroke="0" extrusionOk="0">
                <a:moveTo>
                  <a:pt x="0" y="0"/>
                </a:moveTo>
                <a:cubicBezTo>
                  <a:pt x="144409" y="-14727"/>
                  <a:pt x="268658" y="7363"/>
                  <a:pt x="353772" y="0"/>
                </a:cubicBezTo>
                <a:cubicBezTo>
                  <a:pt x="438886" y="-7363"/>
                  <a:pt x="520609" y="4363"/>
                  <a:pt x="599130" y="0"/>
                </a:cubicBezTo>
                <a:cubicBezTo>
                  <a:pt x="677651" y="-4363"/>
                  <a:pt x="940864" y="42572"/>
                  <a:pt x="1061316" y="0"/>
                </a:cubicBezTo>
                <a:cubicBezTo>
                  <a:pt x="1181768" y="-42572"/>
                  <a:pt x="1390078" y="51020"/>
                  <a:pt x="1631916" y="0"/>
                </a:cubicBezTo>
                <a:cubicBezTo>
                  <a:pt x="1873754" y="-51020"/>
                  <a:pt x="1993639" y="44307"/>
                  <a:pt x="2310930" y="0"/>
                </a:cubicBezTo>
                <a:cubicBezTo>
                  <a:pt x="2628221" y="-44307"/>
                  <a:pt x="2508674" y="33460"/>
                  <a:pt x="2664702" y="0"/>
                </a:cubicBezTo>
                <a:cubicBezTo>
                  <a:pt x="2820730" y="-33460"/>
                  <a:pt x="2908232" y="13207"/>
                  <a:pt x="3126888" y="0"/>
                </a:cubicBezTo>
                <a:cubicBezTo>
                  <a:pt x="3345544" y="-13207"/>
                  <a:pt x="3588444" y="76217"/>
                  <a:pt x="3914316" y="0"/>
                </a:cubicBezTo>
                <a:cubicBezTo>
                  <a:pt x="4240188" y="-76217"/>
                  <a:pt x="4254104" y="19229"/>
                  <a:pt x="4593330" y="0"/>
                </a:cubicBezTo>
                <a:cubicBezTo>
                  <a:pt x="4932556" y="-19229"/>
                  <a:pt x="4766931" y="2671"/>
                  <a:pt x="4838688" y="0"/>
                </a:cubicBezTo>
                <a:cubicBezTo>
                  <a:pt x="4910445" y="-2671"/>
                  <a:pt x="5015654" y="14317"/>
                  <a:pt x="5192460" y="0"/>
                </a:cubicBezTo>
                <a:cubicBezTo>
                  <a:pt x="5369266" y="-14317"/>
                  <a:pt x="5388658" y="26543"/>
                  <a:pt x="5437819" y="0"/>
                </a:cubicBezTo>
                <a:cubicBezTo>
                  <a:pt x="5486980" y="-26543"/>
                  <a:pt x="5916413" y="26636"/>
                  <a:pt x="6116833" y="0"/>
                </a:cubicBezTo>
                <a:cubicBezTo>
                  <a:pt x="6317253" y="-26636"/>
                  <a:pt x="6514506" y="42782"/>
                  <a:pt x="6795847" y="0"/>
                </a:cubicBezTo>
                <a:cubicBezTo>
                  <a:pt x="7077188" y="-42782"/>
                  <a:pt x="6936564" y="19088"/>
                  <a:pt x="7041205" y="0"/>
                </a:cubicBezTo>
                <a:cubicBezTo>
                  <a:pt x="7145846" y="-19088"/>
                  <a:pt x="7421025" y="5458"/>
                  <a:pt x="7611805" y="0"/>
                </a:cubicBezTo>
                <a:cubicBezTo>
                  <a:pt x="7802585" y="-5458"/>
                  <a:pt x="7928303" y="9030"/>
                  <a:pt x="8073991" y="0"/>
                </a:cubicBezTo>
                <a:cubicBezTo>
                  <a:pt x="8219679" y="-9030"/>
                  <a:pt x="8221609" y="16470"/>
                  <a:pt x="8319349" y="0"/>
                </a:cubicBezTo>
                <a:cubicBezTo>
                  <a:pt x="8417089" y="-16470"/>
                  <a:pt x="8897488" y="15142"/>
                  <a:pt x="9106777" y="0"/>
                </a:cubicBezTo>
                <a:cubicBezTo>
                  <a:pt x="9316066" y="-15142"/>
                  <a:pt x="9294499" y="30835"/>
                  <a:pt x="9460549" y="0"/>
                </a:cubicBezTo>
                <a:cubicBezTo>
                  <a:pt x="9626599" y="-30835"/>
                  <a:pt x="9999472" y="56662"/>
                  <a:pt x="10247977" y="0"/>
                </a:cubicBezTo>
                <a:cubicBezTo>
                  <a:pt x="10496482" y="-56662"/>
                  <a:pt x="10562837" y="53984"/>
                  <a:pt x="10841401" y="0"/>
                </a:cubicBezTo>
                <a:cubicBezTo>
                  <a:pt x="10846852" y="207182"/>
                  <a:pt x="10787741" y="379993"/>
                  <a:pt x="10841401" y="558213"/>
                </a:cubicBezTo>
                <a:cubicBezTo>
                  <a:pt x="10895061" y="736433"/>
                  <a:pt x="10784240" y="855479"/>
                  <a:pt x="10841401" y="1150954"/>
                </a:cubicBezTo>
                <a:cubicBezTo>
                  <a:pt x="10898562" y="1446429"/>
                  <a:pt x="10839556" y="1581815"/>
                  <a:pt x="10841401" y="1726431"/>
                </a:cubicBezTo>
                <a:cubicBezTo>
                  <a:pt x="10533213" y="1747065"/>
                  <a:pt x="10336203" y="1715349"/>
                  <a:pt x="10162387" y="1726431"/>
                </a:cubicBezTo>
                <a:cubicBezTo>
                  <a:pt x="9988571" y="1737513"/>
                  <a:pt x="9931919" y="1704260"/>
                  <a:pt x="9808615" y="1726431"/>
                </a:cubicBezTo>
                <a:cubicBezTo>
                  <a:pt x="9685311" y="1748602"/>
                  <a:pt x="9668655" y="1700114"/>
                  <a:pt x="9563257" y="1726431"/>
                </a:cubicBezTo>
                <a:cubicBezTo>
                  <a:pt x="9457859" y="1752748"/>
                  <a:pt x="9434840" y="1712335"/>
                  <a:pt x="9317899" y="1726431"/>
                </a:cubicBezTo>
                <a:cubicBezTo>
                  <a:pt x="9200958" y="1740527"/>
                  <a:pt x="9124334" y="1718144"/>
                  <a:pt x="8964127" y="1726431"/>
                </a:cubicBezTo>
                <a:cubicBezTo>
                  <a:pt x="8803920" y="1734718"/>
                  <a:pt x="8520915" y="1695587"/>
                  <a:pt x="8393527" y="1726431"/>
                </a:cubicBezTo>
                <a:cubicBezTo>
                  <a:pt x="8266139" y="1757275"/>
                  <a:pt x="8051334" y="1695574"/>
                  <a:pt x="7822927" y="1726431"/>
                </a:cubicBezTo>
                <a:cubicBezTo>
                  <a:pt x="7594520" y="1757288"/>
                  <a:pt x="7587462" y="1687349"/>
                  <a:pt x="7469155" y="1726431"/>
                </a:cubicBezTo>
                <a:cubicBezTo>
                  <a:pt x="7350848" y="1765513"/>
                  <a:pt x="7118803" y="1668690"/>
                  <a:pt x="6898555" y="1726431"/>
                </a:cubicBezTo>
                <a:cubicBezTo>
                  <a:pt x="6678307" y="1784172"/>
                  <a:pt x="6496707" y="1684293"/>
                  <a:pt x="6219541" y="1726431"/>
                </a:cubicBezTo>
                <a:cubicBezTo>
                  <a:pt x="5942375" y="1768569"/>
                  <a:pt x="5661096" y="1683746"/>
                  <a:pt x="5432113" y="1726431"/>
                </a:cubicBezTo>
                <a:cubicBezTo>
                  <a:pt x="5203130" y="1769116"/>
                  <a:pt x="5209659" y="1684205"/>
                  <a:pt x="5078340" y="1726431"/>
                </a:cubicBezTo>
                <a:cubicBezTo>
                  <a:pt x="4947021" y="1768657"/>
                  <a:pt x="4841145" y="1718363"/>
                  <a:pt x="4724568" y="1726431"/>
                </a:cubicBezTo>
                <a:cubicBezTo>
                  <a:pt x="4607991" y="1734499"/>
                  <a:pt x="4354492" y="1665677"/>
                  <a:pt x="4045554" y="1726431"/>
                </a:cubicBezTo>
                <a:cubicBezTo>
                  <a:pt x="3736616" y="1787185"/>
                  <a:pt x="3668825" y="1670088"/>
                  <a:pt x="3474954" y="1726431"/>
                </a:cubicBezTo>
                <a:cubicBezTo>
                  <a:pt x="3281083" y="1782774"/>
                  <a:pt x="3307154" y="1713734"/>
                  <a:pt x="3229596" y="1726431"/>
                </a:cubicBezTo>
                <a:cubicBezTo>
                  <a:pt x="3152038" y="1739128"/>
                  <a:pt x="2844723" y="1713283"/>
                  <a:pt x="2658996" y="1726431"/>
                </a:cubicBezTo>
                <a:cubicBezTo>
                  <a:pt x="2473269" y="1739579"/>
                  <a:pt x="2106390" y="1705299"/>
                  <a:pt x="1871568" y="1726431"/>
                </a:cubicBezTo>
                <a:cubicBezTo>
                  <a:pt x="1636746" y="1747563"/>
                  <a:pt x="1626761" y="1706348"/>
                  <a:pt x="1409382" y="1726431"/>
                </a:cubicBezTo>
                <a:cubicBezTo>
                  <a:pt x="1192003" y="1746514"/>
                  <a:pt x="1218602" y="1725240"/>
                  <a:pt x="1055610" y="1726431"/>
                </a:cubicBezTo>
                <a:cubicBezTo>
                  <a:pt x="892618" y="1727622"/>
                  <a:pt x="749278" y="1684464"/>
                  <a:pt x="593424" y="1726431"/>
                </a:cubicBezTo>
                <a:cubicBezTo>
                  <a:pt x="437570" y="1768398"/>
                  <a:pt x="256697" y="1669199"/>
                  <a:pt x="0" y="1726431"/>
                </a:cubicBezTo>
                <a:cubicBezTo>
                  <a:pt x="-58780" y="1501623"/>
                  <a:pt x="58286" y="1350098"/>
                  <a:pt x="0" y="1168218"/>
                </a:cubicBezTo>
                <a:cubicBezTo>
                  <a:pt x="-58286" y="986338"/>
                  <a:pt x="28138" y="797525"/>
                  <a:pt x="0" y="610006"/>
                </a:cubicBezTo>
                <a:cubicBezTo>
                  <a:pt x="-28138" y="422487"/>
                  <a:pt x="64586" y="224293"/>
                  <a:pt x="0" y="0"/>
                </a:cubicBezTo>
                <a:close/>
              </a:path>
            </a:pathLst>
          </a:custGeom>
          <a:ln w="57150">
            <a:noFill/>
            <a:extLst>
              <a:ext uri="{C807C97D-BFC1-408E-A445-0C87EB9F89A2}">
                <ask:lineSketchStyleProps xmlns:ask="http://schemas.microsoft.com/office/drawing/2018/sketchyshapes" sd="100747574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sx="101000" sy="101000" algn="tl" rotWithShape="0">
              <a:prstClr val="black">
                <a:alpha val="35000"/>
              </a:prstClr>
            </a:outerShdw>
          </a:effec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560DBC1-9938-C024-13CC-217C652630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29391" y="5571809"/>
            <a:ext cx="10589777" cy="2268244"/>
          </a:xfrm>
          <a:custGeom>
            <a:avLst/>
            <a:gdLst>
              <a:gd name="connsiteX0" fmla="*/ 0 w 10589777"/>
              <a:gd name="connsiteY0" fmla="*/ 0 h 2268244"/>
              <a:gd name="connsiteX1" fmla="*/ 800116 w 10589777"/>
              <a:gd name="connsiteY1" fmla="*/ 0 h 2268244"/>
              <a:gd name="connsiteX2" fmla="*/ 1070744 w 10589777"/>
              <a:gd name="connsiteY2" fmla="*/ 0 h 2268244"/>
              <a:gd name="connsiteX3" fmla="*/ 1341372 w 10589777"/>
              <a:gd name="connsiteY3" fmla="*/ 0 h 2268244"/>
              <a:gd name="connsiteX4" fmla="*/ 1929693 w 10589777"/>
              <a:gd name="connsiteY4" fmla="*/ 0 h 2268244"/>
              <a:gd name="connsiteX5" fmla="*/ 2729809 w 10589777"/>
              <a:gd name="connsiteY5" fmla="*/ 0 h 2268244"/>
              <a:gd name="connsiteX6" fmla="*/ 3529926 w 10589777"/>
              <a:gd name="connsiteY6" fmla="*/ 0 h 2268244"/>
              <a:gd name="connsiteX7" fmla="*/ 4118247 w 10589777"/>
              <a:gd name="connsiteY7" fmla="*/ 0 h 2268244"/>
              <a:gd name="connsiteX8" fmla="*/ 4918363 w 10589777"/>
              <a:gd name="connsiteY8" fmla="*/ 0 h 2268244"/>
              <a:gd name="connsiteX9" fmla="*/ 5718480 w 10589777"/>
              <a:gd name="connsiteY9" fmla="*/ 0 h 2268244"/>
              <a:gd name="connsiteX10" fmla="*/ 6200903 w 10589777"/>
              <a:gd name="connsiteY10" fmla="*/ 0 h 2268244"/>
              <a:gd name="connsiteX11" fmla="*/ 7001019 w 10589777"/>
              <a:gd name="connsiteY11" fmla="*/ 0 h 2268244"/>
              <a:gd name="connsiteX12" fmla="*/ 7483442 w 10589777"/>
              <a:gd name="connsiteY12" fmla="*/ 0 h 2268244"/>
              <a:gd name="connsiteX13" fmla="*/ 7859968 w 10589777"/>
              <a:gd name="connsiteY13" fmla="*/ 0 h 2268244"/>
              <a:gd name="connsiteX14" fmla="*/ 8130595 w 10589777"/>
              <a:gd name="connsiteY14" fmla="*/ 0 h 2268244"/>
              <a:gd name="connsiteX15" fmla="*/ 8718916 w 10589777"/>
              <a:gd name="connsiteY15" fmla="*/ 0 h 2268244"/>
              <a:gd name="connsiteX16" fmla="*/ 8989544 w 10589777"/>
              <a:gd name="connsiteY16" fmla="*/ 0 h 2268244"/>
              <a:gd name="connsiteX17" fmla="*/ 9789661 w 10589777"/>
              <a:gd name="connsiteY17" fmla="*/ 0 h 2268244"/>
              <a:gd name="connsiteX18" fmla="*/ 10060288 w 10589777"/>
              <a:gd name="connsiteY18" fmla="*/ 0 h 2268244"/>
              <a:gd name="connsiteX19" fmla="*/ 10589777 w 10589777"/>
              <a:gd name="connsiteY19" fmla="*/ 0 h 2268244"/>
              <a:gd name="connsiteX20" fmla="*/ 10589777 w 10589777"/>
              <a:gd name="connsiteY20" fmla="*/ 544379 h 2268244"/>
              <a:gd name="connsiteX21" fmla="*/ 10589777 w 10589777"/>
              <a:gd name="connsiteY21" fmla="*/ 1043392 h 2268244"/>
              <a:gd name="connsiteX22" fmla="*/ 10589777 w 10589777"/>
              <a:gd name="connsiteY22" fmla="*/ 1587771 h 2268244"/>
              <a:gd name="connsiteX23" fmla="*/ 10589777 w 10589777"/>
              <a:gd name="connsiteY23" fmla="*/ 2268244 h 2268244"/>
              <a:gd name="connsiteX24" fmla="*/ 10213252 w 10589777"/>
              <a:gd name="connsiteY24" fmla="*/ 2268244 h 2268244"/>
              <a:gd name="connsiteX25" fmla="*/ 9624931 w 10589777"/>
              <a:gd name="connsiteY25" fmla="*/ 2268244 h 2268244"/>
              <a:gd name="connsiteX26" fmla="*/ 9248405 w 10589777"/>
              <a:gd name="connsiteY26" fmla="*/ 2268244 h 2268244"/>
              <a:gd name="connsiteX27" fmla="*/ 8977778 w 10589777"/>
              <a:gd name="connsiteY27" fmla="*/ 2268244 h 2268244"/>
              <a:gd name="connsiteX28" fmla="*/ 8495354 w 10589777"/>
              <a:gd name="connsiteY28" fmla="*/ 2268244 h 2268244"/>
              <a:gd name="connsiteX29" fmla="*/ 7801136 w 10589777"/>
              <a:gd name="connsiteY29" fmla="*/ 2268244 h 2268244"/>
              <a:gd name="connsiteX30" fmla="*/ 7530508 w 10589777"/>
              <a:gd name="connsiteY30" fmla="*/ 2268244 h 2268244"/>
              <a:gd name="connsiteX31" fmla="*/ 7048085 w 10589777"/>
              <a:gd name="connsiteY31" fmla="*/ 2268244 h 2268244"/>
              <a:gd name="connsiteX32" fmla="*/ 6459764 w 10589777"/>
              <a:gd name="connsiteY32" fmla="*/ 2268244 h 2268244"/>
              <a:gd name="connsiteX33" fmla="*/ 5659647 w 10589777"/>
              <a:gd name="connsiteY33" fmla="*/ 2268244 h 2268244"/>
              <a:gd name="connsiteX34" fmla="*/ 4859531 w 10589777"/>
              <a:gd name="connsiteY34" fmla="*/ 2268244 h 2268244"/>
              <a:gd name="connsiteX35" fmla="*/ 4483006 w 10589777"/>
              <a:gd name="connsiteY35" fmla="*/ 2268244 h 2268244"/>
              <a:gd name="connsiteX36" fmla="*/ 3788787 w 10589777"/>
              <a:gd name="connsiteY36" fmla="*/ 2268244 h 2268244"/>
              <a:gd name="connsiteX37" fmla="*/ 3412261 w 10589777"/>
              <a:gd name="connsiteY37" fmla="*/ 2268244 h 2268244"/>
              <a:gd name="connsiteX38" fmla="*/ 3141634 w 10589777"/>
              <a:gd name="connsiteY38" fmla="*/ 2268244 h 2268244"/>
              <a:gd name="connsiteX39" fmla="*/ 2765108 w 10589777"/>
              <a:gd name="connsiteY39" fmla="*/ 2268244 h 2268244"/>
              <a:gd name="connsiteX40" fmla="*/ 2388583 w 10589777"/>
              <a:gd name="connsiteY40" fmla="*/ 2268244 h 2268244"/>
              <a:gd name="connsiteX41" fmla="*/ 1694364 w 10589777"/>
              <a:gd name="connsiteY41" fmla="*/ 2268244 h 2268244"/>
              <a:gd name="connsiteX42" fmla="*/ 1317839 w 10589777"/>
              <a:gd name="connsiteY42" fmla="*/ 2268244 h 2268244"/>
              <a:gd name="connsiteX43" fmla="*/ 1047211 w 10589777"/>
              <a:gd name="connsiteY43" fmla="*/ 2268244 h 2268244"/>
              <a:gd name="connsiteX44" fmla="*/ 0 w 10589777"/>
              <a:gd name="connsiteY44" fmla="*/ 2268244 h 2268244"/>
              <a:gd name="connsiteX45" fmla="*/ 0 w 10589777"/>
              <a:gd name="connsiteY45" fmla="*/ 1746548 h 2268244"/>
              <a:gd name="connsiteX46" fmla="*/ 0 w 10589777"/>
              <a:gd name="connsiteY46" fmla="*/ 1179487 h 2268244"/>
              <a:gd name="connsiteX47" fmla="*/ 0 w 10589777"/>
              <a:gd name="connsiteY47" fmla="*/ 612426 h 2268244"/>
              <a:gd name="connsiteX48" fmla="*/ 0 w 10589777"/>
              <a:gd name="connsiteY48" fmla="*/ 0 h 2268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0589777" h="2268244" fill="none" extrusionOk="0">
                <a:moveTo>
                  <a:pt x="0" y="0"/>
                </a:moveTo>
                <a:cubicBezTo>
                  <a:pt x="249640" y="-17287"/>
                  <a:pt x="532306" y="61644"/>
                  <a:pt x="800116" y="0"/>
                </a:cubicBezTo>
                <a:cubicBezTo>
                  <a:pt x="1067926" y="-61644"/>
                  <a:pt x="949595" y="17799"/>
                  <a:pt x="1070744" y="0"/>
                </a:cubicBezTo>
                <a:cubicBezTo>
                  <a:pt x="1191893" y="-17799"/>
                  <a:pt x="1274833" y="14750"/>
                  <a:pt x="1341372" y="0"/>
                </a:cubicBezTo>
                <a:cubicBezTo>
                  <a:pt x="1407911" y="-14750"/>
                  <a:pt x="1725409" y="50894"/>
                  <a:pt x="1929693" y="0"/>
                </a:cubicBezTo>
                <a:cubicBezTo>
                  <a:pt x="2133977" y="-50894"/>
                  <a:pt x="2536969" y="64602"/>
                  <a:pt x="2729809" y="0"/>
                </a:cubicBezTo>
                <a:cubicBezTo>
                  <a:pt x="2922649" y="-64602"/>
                  <a:pt x="3225499" y="21678"/>
                  <a:pt x="3529926" y="0"/>
                </a:cubicBezTo>
                <a:cubicBezTo>
                  <a:pt x="3834353" y="-21678"/>
                  <a:pt x="3994074" y="9161"/>
                  <a:pt x="4118247" y="0"/>
                </a:cubicBezTo>
                <a:cubicBezTo>
                  <a:pt x="4242420" y="-9161"/>
                  <a:pt x="4687666" y="34764"/>
                  <a:pt x="4918363" y="0"/>
                </a:cubicBezTo>
                <a:cubicBezTo>
                  <a:pt x="5149060" y="-34764"/>
                  <a:pt x="5346277" y="54136"/>
                  <a:pt x="5718480" y="0"/>
                </a:cubicBezTo>
                <a:cubicBezTo>
                  <a:pt x="6090683" y="-54136"/>
                  <a:pt x="6011729" y="17375"/>
                  <a:pt x="6200903" y="0"/>
                </a:cubicBezTo>
                <a:cubicBezTo>
                  <a:pt x="6390077" y="-17375"/>
                  <a:pt x="6753904" y="2176"/>
                  <a:pt x="7001019" y="0"/>
                </a:cubicBezTo>
                <a:cubicBezTo>
                  <a:pt x="7248134" y="-2176"/>
                  <a:pt x="7305002" y="52337"/>
                  <a:pt x="7483442" y="0"/>
                </a:cubicBezTo>
                <a:cubicBezTo>
                  <a:pt x="7661882" y="-52337"/>
                  <a:pt x="7713882" y="15423"/>
                  <a:pt x="7859968" y="0"/>
                </a:cubicBezTo>
                <a:cubicBezTo>
                  <a:pt x="8006054" y="-15423"/>
                  <a:pt x="8058148" y="22082"/>
                  <a:pt x="8130595" y="0"/>
                </a:cubicBezTo>
                <a:cubicBezTo>
                  <a:pt x="8203042" y="-22082"/>
                  <a:pt x="8526111" y="23342"/>
                  <a:pt x="8718916" y="0"/>
                </a:cubicBezTo>
                <a:cubicBezTo>
                  <a:pt x="8911721" y="-23342"/>
                  <a:pt x="8866561" y="19013"/>
                  <a:pt x="8989544" y="0"/>
                </a:cubicBezTo>
                <a:cubicBezTo>
                  <a:pt x="9112527" y="-19013"/>
                  <a:pt x="9468522" y="86702"/>
                  <a:pt x="9789661" y="0"/>
                </a:cubicBezTo>
                <a:cubicBezTo>
                  <a:pt x="10110800" y="-86702"/>
                  <a:pt x="9958507" y="4892"/>
                  <a:pt x="10060288" y="0"/>
                </a:cubicBezTo>
                <a:cubicBezTo>
                  <a:pt x="10162069" y="-4892"/>
                  <a:pt x="10353822" y="52861"/>
                  <a:pt x="10589777" y="0"/>
                </a:cubicBezTo>
                <a:cubicBezTo>
                  <a:pt x="10641159" y="158669"/>
                  <a:pt x="10578701" y="340183"/>
                  <a:pt x="10589777" y="544379"/>
                </a:cubicBezTo>
                <a:cubicBezTo>
                  <a:pt x="10600853" y="748575"/>
                  <a:pt x="10567938" y="861833"/>
                  <a:pt x="10589777" y="1043392"/>
                </a:cubicBezTo>
                <a:cubicBezTo>
                  <a:pt x="10611616" y="1224951"/>
                  <a:pt x="10573108" y="1409799"/>
                  <a:pt x="10589777" y="1587771"/>
                </a:cubicBezTo>
                <a:cubicBezTo>
                  <a:pt x="10606446" y="1765743"/>
                  <a:pt x="10581364" y="1994817"/>
                  <a:pt x="10589777" y="2268244"/>
                </a:cubicBezTo>
                <a:cubicBezTo>
                  <a:pt x="10509629" y="2289032"/>
                  <a:pt x="10332076" y="2254782"/>
                  <a:pt x="10213252" y="2268244"/>
                </a:cubicBezTo>
                <a:cubicBezTo>
                  <a:pt x="10094429" y="2281706"/>
                  <a:pt x="9809651" y="2257810"/>
                  <a:pt x="9624931" y="2268244"/>
                </a:cubicBezTo>
                <a:cubicBezTo>
                  <a:pt x="9440211" y="2278678"/>
                  <a:pt x="9359390" y="2252433"/>
                  <a:pt x="9248405" y="2268244"/>
                </a:cubicBezTo>
                <a:cubicBezTo>
                  <a:pt x="9137420" y="2284055"/>
                  <a:pt x="9067302" y="2239767"/>
                  <a:pt x="8977778" y="2268244"/>
                </a:cubicBezTo>
                <a:cubicBezTo>
                  <a:pt x="8888254" y="2296721"/>
                  <a:pt x="8675553" y="2240049"/>
                  <a:pt x="8495354" y="2268244"/>
                </a:cubicBezTo>
                <a:cubicBezTo>
                  <a:pt x="8315155" y="2296439"/>
                  <a:pt x="8054160" y="2187240"/>
                  <a:pt x="7801136" y="2268244"/>
                </a:cubicBezTo>
                <a:cubicBezTo>
                  <a:pt x="7548112" y="2349248"/>
                  <a:pt x="7614049" y="2242817"/>
                  <a:pt x="7530508" y="2268244"/>
                </a:cubicBezTo>
                <a:cubicBezTo>
                  <a:pt x="7446967" y="2293671"/>
                  <a:pt x="7205793" y="2210424"/>
                  <a:pt x="7048085" y="2268244"/>
                </a:cubicBezTo>
                <a:cubicBezTo>
                  <a:pt x="6890377" y="2326064"/>
                  <a:pt x="6630530" y="2200622"/>
                  <a:pt x="6459764" y="2268244"/>
                </a:cubicBezTo>
                <a:cubicBezTo>
                  <a:pt x="6288998" y="2335866"/>
                  <a:pt x="5871422" y="2208182"/>
                  <a:pt x="5659647" y="2268244"/>
                </a:cubicBezTo>
                <a:cubicBezTo>
                  <a:pt x="5447872" y="2328306"/>
                  <a:pt x="5092431" y="2188001"/>
                  <a:pt x="4859531" y="2268244"/>
                </a:cubicBezTo>
                <a:cubicBezTo>
                  <a:pt x="4626631" y="2348487"/>
                  <a:pt x="4607024" y="2268116"/>
                  <a:pt x="4483006" y="2268244"/>
                </a:cubicBezTo>
                <a:cubicBezTo>
                  <a:pt x="4358989" y="2268372"/>
                  <a:pt x="4052944" y="2208407"/>
                  <a:pt x="3788787" y="2268244"/>
                </a:cubicBezTo>
                <a:cubicBezTo>
                  <a:pt x="3524630" y="2328081"/>
                  <a:pt x="3570791" y="2224705"/>
                  <a:pt x="3412261" y="2268244"/>
                </a:cubicBezTo>
                <a:cubicBezTo>
                  <a:pt x="3253731" y="2311783"/>
                  <a:pt x="3245603" y="2246074"/>
                  <a:pt x="3141634" y="2268244"/>
                </a:cubicBezTo>
                <a:cubicBezTo>
                  <a:pt x="3037665" y="2290414"/>
                  <a:pt x="2947110" y="2257185"/>
                  <a:pt x="2765108" y="2268244"/>
                </a:cubicBezTo>
                <a:cubicBezTo>
                  <a:pt x="2583106" y="2279303"/>
                  <a:pt x="2500054" y="2251491"/>
                  <a:pt x="2388583" y="2268244"/>
                </a:cubicBezTo>
                <a:cubicBezTo>
                  <a:pt x="2277113" y="2284997"/>
                  <a:pt x="1974047" y="2248374"/>
                  <a:pt x="1694364" y="2268244"/>
                </a:cubicBezTo>
                <a:cubicBezTo>
                  <a:pt x="1414681" y="2288114"/>
                  <a:pt x="1483236" y="2230155"/>
                  <a:pt x="1317839" y="2268244"/>
                </a:cubicBezTo>
                <a:cubicBezTo>
                  <a:pt x="1152442" y="2306333"/>
                  <a:pt x="1107689" y="2253369"/>
                  <a:pt x="1047211" y="2268244"/>
                </a:cubicBezTo>
                <a:cubicBezTo>
                  <a:pt x="986733" y="2283119"/>
                  <a:pt x="259319" y="2228768"/>
                  <a:pt x="0" y="2268244"/>
                </a:cubicBezTo>
                <a:cubicBezTo>
                  <a:pt x="-59115" y="2162636"/>
                  <a:pt x="58684" y="1907235"/>
                  <a:pt x="0" y="1746548"/>
                </a:cubicBezTo>
                <a:cubicBezTo>
                  <a:pt x="-58684" y="1585861"/>
                  <a:pt x="13873" y="1326283"/>
                  <a:pt x="0" y="1179487"/>
                </a:cubicBezTo>
                <a:cubicBezTo>
                  <a:pt x="-13873" y="1032691"/>
                  <a:pt x="59661" y="874986"/>
                  <a:pt x="0" y="612426"/>
                </a:cubicBezTo>
                <a:cubicBezTo>
                  <a:pt x="-59661" y="349866"/>
                  <a:pt x="14217" y="271849"/>
                  <a:pt x="0" y="0"/>
                </a:cubicBezTo>
                <a:close/>
              </a:path>
              <a:path w="10589777" h="2268244" stroke="0" extrusionOk="0">
                <a:moveTo>
                  <a:pt x="0" y="0"/>
                </a:moveTo>
                <a:cubicBezTo>
                  <a:pt x="191770" y="-54306"/>
                  <a:pt x="486213" y="14480"/>
                  <a:pt x="800116" y="0"/>
                </a:cubicBezTo>
                <a:cubicBezTo>
                  <a:pt x="1114019" y="-14480"/>
                  <a:pt x="1331896" y="41991"/>
                  <a:pt x="1494335" y="0"/>
                </a:cubicBezTo>
                <a:cubicBezTo>
                  <a:pt x="1656774" y="-41991"/>
                  <a:pt x="2081749" y="25894"/>
                  <a:pt x="2294452" y="0"/>
                </a:cubicBezTo>
                <a:cubicBezTo>
                  <a:pt x="2507155" y="-25894"/>
                  <a:pt x="2716589" y="16258"/>
                  <a:pt x="3094568" y="0"/>
                </a:cubicBezTo>
                <a:cubicBezTo>
                  <a:pt x="3472547" y="-16258"/>
                  <a:pt x="3623821" y="26600"/>
                  <a:pt x="3894685" y="0"/>
                </a:cubicBezTo>
                <a:cubicBezTo>
                  <a:pt x="4165549" y="-26600"/>
                  <a:pt x="4275160" y="45438"/>
                  <a:pt x="4588903" y="0"/>
                </a:cubicBezTo>
                <a:cubicBezTo>
                  <a:pt x="4902646" y="-45438"/>
                  <a:pt x="5128276" y="57902"/>
                  <a:pt x="5389020" y="0"/>
                </a:cubicBezTo>
                <a:cubicBezTo>
                  <a:pt x="5649764" y="-57902"/>
                  <a:pt x="5932544" y="77131"/>
                  <a:pt x="6083239" y="0"/>
                </a:cubicBezTo>
                <a:cubicBezTo>
                  <a:pt x="6233934" y="-77131"/>
                  <a:pt x="6611258" y="29113"/>
                  <a:pt x="6883355" y="0"/>
                </a:cubicBezTo>
                <a:cubicBezTo>
                  <a:pt x="7155452" y="-29113"/>
                  <a:pt x="7108946" y="43270"/>
                  <a:pt x="7259880" y="0"/>
                </a:cubicBezTo>
                <a:cubicBezTo>
                  <a:pt x="7410815" y="-43270"/>
                  <a:pt x="7756575" y="86800"/>
                  <a:pt x="8059997" y="0"/>
                </a:cubicBezTo>
                <a:cubicBezTo>
                  <a:pt x="8363419" y="-86800"/>
                  <a:pt x="8310412" y="3433"/>
                  <a:pt x="8436522" y="0"/>
                </a:cubicBezTo>
                <a:cubicBezTo>
                  <a:pt x="8562633" y="-3433"/>
                  <a:pt x="8872600" y="12543"/>
                  <a:pt x="9130741" y="0"/>
                </a:cubicBezTo>
                <a:cubicBezTo>
                  <a:pt x="9388882" y="-12543"/>
                  <a:pt x="9466777" y="5743"/>
                  <a:pt x="9613164" y="0"/>
                </a:cubicBezTo>
                <a:cubicBezTo>
                  <a:pt x="9759551" y="-5743"/>
                  <a:pt x="9803004" y="38900"/>
                  <a:pt x="9989690" y="0"/>
                </a:cubicBezTo>
                <a:cubicBezTo>
                  <a:pt x="10176376" y="-38900"/>
                  <a:pt x="10295726" y="52700"/>
                  <a:pt x="10589777" y="0"/>
                </a:cubicBezTo>
                <a:cubicBezTo>
                  <a:pt x="10598552" y="239363"/>
                  <a:pt x="10538646" y="333523"/>
                  <a:pt x="10589777" y="521696"/>
                </a:cubicBezTo>
                <a:cubicBezTo>
                  <a:pt x="10640908" y="709869"/>
                  <a:pt x="10560010" y="916133"/>
                  <a:pt x="10589777" y="1134122"/>
                </a:cubicBezTo>
                <a:cubicBezTo>
                  <a:pt x="10619544" y="1352111"/>
                  <a:pt x="10562508" y="1440504"/>
                  <a:pt x="10589777" y="1701183"/>
                </a:cubicBezTo>
                <a:cubicBezTo>
                  <a:pt x="10617046" y="1961862"/>
                  <a:pt x="10557884" y="2028812"/>
                  <a:pt x="10589777" y="2268244"/>
                </a:cubicBezTo>
                <a:cubicBezTo>
                  <a:pt x="10295434" y="2320674"/>
                  <a:pt x="9956357" y="2241917"/>
                  <a:pt x="9789661" y="2268244"/>
                </a:cubicBezTo>
                <a:cubicBezTo>
                  <a:pt x="9622965" y="2294571"/>
                  <a:pt x="9561129" y="2264959"/>
                  <a:pt x="9413135" y="2268244"/>
                </a:cubicBezTo>
                <a:cubicBezTo>
                  <a:pt x="9265141" y="2271529"/>
                  <a:pt x="9001069" y="2207744"/>
                  <a:pt x="8613019" y="2268244"/>
                </a:cubicBezTo>
                <a:cubicBezTo>
                  <a:pt x="8224969" y="2328744"/>
                  <a:pt x="8063297" y="2205428"/>
                  <a:pt x="7812902" y="2268244"/>
                </a:cubicBezTo>
                <a:cubicBezTo>
                  <a:pt x="7562507" y="2331060"/>
                  <a:pt x="7611470" y="2237783"/>
                  <a:pt x="7436377" y="2268244"/>
                </a:cubicBezTo>
                <a:cubicBezTo>
                  <a:pt x="7261284" y="2298705"/>
                  <a:pt x="7137271" y="2247740"/>
                  <a:pt x="6848056" y="2268244"/>
                </a:cubicBezTo>
                <a:cubicBezTo>
                  <a:pt x="6558841" y="2288748"/>
                  <a:pt x="6405344" y="2207254"/>
                  <a:pt x="6153837" y="2268244"/>
                </a:cubicBezTo>
                <a:cubicBezTo>
                  <a:pt x="5902330" y="2329234"/>
                  <a:pt x="5914539" y="2267461"/>
                  <a:pt x="5777312" y="2268244"/>
                </a:cubicBezTo>
                <a:cubicBezTo>
                  <a:pt x="5640086" y="2269027"/>
                  <a:pt x="5339612" y="2236805"/>
                  <a:pt x="4977195" y="2268244"/>
                </a:cubicBezTo>
                <a:cubicBezTo>
                  <a:pt x="4614778" y="2299683"/>
                  <a:pt x="4639973" y="2252514"/>
                  <a:pt x="4494772" y="2268244"/>
                </a:cubicBezTo>
                <a:cubicBezTo>
                  <a:pt x="4349571" y="2283974"/>
                  <a:pt x="4359106" y="2246132"/>
                  <a:pt x="4224144" y="2268244"/>
                </a:cubicBezTo>
                <a:cubicBezTo>
                  <a:pt x="4089182" y="2290356"/>
                  <a:pt x="3961391" y="2227553"/>
                  <a:pt x="3741721" y="2268244"/>
                </a:cubicBezTo>
                <a:cubicBezTo>
                  <a:pt x="3522051" y="2308935"/>
                  <a:pt x="3529562" y="2263372"/>
                  <a:pt x="3471094" y="2268244"/>
                </a:cubicBezTo>
                <a:cubicBezTo>
                  <a:pt x="3412626" y="2273116"/>
                  <a:pt x="3331766" y="2267754"/>
                  <a:pt x="3200466" y="2268244"/>
                </a:cubicBezTo>
                <a:cubicBezTo>
                  <a:pt x="3069166" y="2268734"/>
                  <a:pt x="2823021" y="2257340"/>
                  <a:pt x="2718043" y="2268244"/>
                </a:cubicBezTo>
                <a:cubicBezTo>
                  <a:pt x="2613065" y="2279148"/>
                  <a:pt x="2419397" y="2249048"/>
                  <a:pt x="2235620" y="2268244"/>
                </a:cubicBezTo>
                <a:cubicBezTo>
                  <a:pt x="2051843" y="2287440"/>
                  <a:pt x="1989847" y="2267048"/>
                  <a:pt x="1753196" y="2268244"/>
                </a:cubicBezTo>
                <a:cubicBezTo>
                  <a:pt x="1516545" y="2269440"/>
                  <a:pt x="1509567" y="2260402"/>
                  <a:pt x="1376671" y="2268244"/>
                </a:cubicBezTo>
                <a:cubicBezTo>
                  <a:pt x="1243776" y="2276086"/>
                  <a:pt x="1174267" y="2248734"/>
                  <a:pt x="1106043" y="2268244"/>
                </a:cubicBezTo>
                <a:cubicBezTo>
                  <a:pt x="1037819" y="2287754"/>
                  <a:pt x="960609" y="2239352"/>
                  <a:pt x="835416" y="2268244"/>
                </a:cubicBezTo>
                <a:cubicBezTo>
                  <a:pt x="710223" y="2297136"/>
                  <a:pt x="237537" y="2178026"/>
                  <a:pt x="0" y="2268244"/>
                </a:cubicBezTo>
                <a:cubicBezTo>
                  <a:pt x="-1048" y="2139874"/>
                  <a:pt x="27477" y="1960781"/>
                  <a:pt x="0" y="1701183"/>
                </a:cubicBezTo>
                <a:cubicBezTo>
                  <a:pt x="-27477" y="1441585"/>
                  <a:pt x="10447" y="1281626"/>
                  <a:pt x="0" y="1111440"/>
                </a:cubicBezTo>
                <a:cubicBezTo>
                  <a:pt x="-10447" y="941254"/>
                  <a:pt x="27542" y="823994"/>
                  <a:pt x="0" y="567061"/>
                </a:cubicBezTo>
                <a:cubicBezTo>
                  <a:pt x="-27542" y="310128"/>
                  <a:pt x="21596" y="134376"/>
                  <a:pt x="0" y="0"/>
                </a:cubicBezTo>
                <a:close/>
              </a:path>
            </a:pathLst>
          </a:custGeom>
          <a:ln w="57150">
            <a:noFill/>
            <a:extLst>
              <a:ext uri="{C807C97D-BFC1-408E-A445-0C87EB9F89A2}">
                <ask:lineSketchStyleProps xmlns:ask="http://schemas.microsoft.com/office/drawing/2018/sketchyshapes" sd="306837909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2700000" sx="101000" sy="101000" algn="tl" rotWithShape="0">
              <a:prstClr val="black">
                <a:alpha val="35000"/>
              </a:prstClr>
            </a:outerShdw>
          </a:effectLst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93EFB380-4386-9A01-92C3-29C4B3E1FB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2139" y="8815453"/>
            <a:ext cx="8919201" cy="2081147"/>
          </a:xfrm>
          <a:prstGeom prst="rect">
            <a:avLst/>
          </a:prstGeom>
          <a:ln w="12700">
            <a:noFill/>
          </a:ln>
          <a:effectLst>
            <a:outerShdw blurRad="50800" dist="38100" dir="2700000" sx="101000" sy="101000" algn="tl" rotWithShape="0">
              <a:prstClr val="black">
                <a:alpha val="35000"/>
              </a:prstClr>
            </a:outerShdw>
          </a:effectLst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F411123A-F3C4-0E20-8FCE-6F28153BD4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2139" y="3686035"/>
            <a:ext cx="9084372" cy="2235306"/>
          </a:xfrm>
          <a:prstGeom prst="rect">
            <a:avLst/>
          </a:prstGeom>
          <a:ln w="12700">
            <a:noFill/>
          </a:ln>
          <a:effectLst>
            <a:outerShdw blurRad="50800" dist="38100" dir="2700000" sx="101000" sy="101000" algn="tl" rotWithShape="0">
              <a:prstClr val="black">
                <a:alpha val="35000"/>
              </a:prstClr>
            </a:outerShdw>
          </a:effectLst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595ED118-72EA-9D46-DBF3-6EF4184538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47800" y="6355352"/>
            <a:ext cx="8875155" cy="2026090"/>
          </a:xfrm>
          <a:prstGeom prst="rect">
            <a:avLst/>
          </a:prstGeom>
          <a:ln w="12700">
            <a:noFill/>
          </a:ln>
          <a:effectLst>
            <a:outerShdw blurRad="50800" dist="38100" dir="2700000" sx="101000" sy="101000" algn="tl" rotWithShape="0">
              <a:prstClr val="black">
                <a:alpha val="35000"/>
              </a:prstClr>
            </a:outerShdw>
          </a:effectLst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1D1DFBEA-5975-1AB8-42A3-46CC9F12780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09167" y="8349015"/>
            <a:ext cx="10821569" cy="3036981"/>
          </a:xfrm>
          <a:prstGeom prst="rect">
            <a:avLst/>
          </a:prstGeom>
          <a:effectLst>
            <a:outerShdw blurRad="50800" dist="38100" dir="2700000" sx="101000" sy="101000" algn="tl" rotWithShape="0">
              <a:prstClr val="black">
                <a:alpha val="35000"/>
              </a:prstClr>
            </a:outerShdw>
          </a:effec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E8E66C43-7994-5D45-35F0-B12872D0F08F}"/>
              </a:ext>
            </a:extLst>
          </p:cNvPr>
          <p:cNvSpPr txBox="1"/>
          <p:nvPr/>
        </p:nvSpPr>
        <p:spPr>
          <a:xfrm>
            <a:off x="13325095" y="1989702"/>
            <a:ext cx="87066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latin typeface="나눔스퀘어 네오 variable Heavy" panose="00000500000000000000" pitchFamily="2" charset="-127"/>
                <a:ea typeface="나눔스퀘어 네오 variable Heavy" panose="00000500000000000000" pitchFamily="2" charset="-127"/>
              </a:rPr>
              <a:t>“ </a:t>
            </a:r>
            <a:r>
              <a:rPr lang="ko-KR" altLang="en-US" sz="4400" dirty="0" err="1">
                <a:latin typeface="나눔스퀘어 네오 variable Heavy" panose="00000500000000000000" pitchFamily="2" charset="-127"/>
                <a:ea typeface="나눔스퀘어 네오 variable Heavy" panose="00000500000000000000" pitchFamily="2" charset="-127"/>
              </a:rPr>
              <a:t>풋살</a:t>
            </a:r>
            <a:r>
              <a:rPr lang="ko-KR" altLang="en-US" sz="4400" dirty="0">
                <a:latin typeface="나눔스퀘어 네오 variable Heavy" panose="00000500000000000000" pitchFamily="2" charset="-127"/>
                <a:ea typeface="나눔스퀘어 네오 variable Heavy" panose="00000500000000000000" pitchFamily="2" charset="-127"/>
              </a:rPr>
              <a:t> 유저 증가 및 </a:t>
            </a:r>
            <a:r>
              <a:rPr lang="ko-KR" altLang="en-US" sz="4400" dirty="0" err="1">
                <a:latin typeface="나눔스퀘어 네오 variable Heavy" panose="00000500000000000000" pitchFamily="2" charset="-127"/>
                <a:ea typeface="나눔스퀘어 네오 variable Heavy" panose="00000500000000000000" pitchFamily="2" charset="-127"/>
              </a:rPr>
              <a:t>풋살장의</a:t>
            </a:r>
            <a:r>
              <a:rPr lang="ko-KR" altLang="en-US" sz="4400" dirty="0">
                <a:latin typeface="나눔스퀘어 네오 variable Heavy" panose="00000500000000000000" pitchFamily="2" charset="-127"/>
                <a:ea typeface="나눔스퀘어 네오 variable Heavy" panose="00000500000000000000" pitchFamily="2" charset="-127"/>
              </a:rPr>
              <a:t> 증가</a:t>
            </a:r>
            <a:r>
              <a:rPr lang="en-US" altLang="ko-KR" sz="4400" dirty="0">
                <a:latin typeface="나눔스퀘어 네오 variable Heavy" panose="00000500000000000000" pitchFamily="2" charset="-127"/>
                <a:ea typeface="나눔스퀘어 네오 variable Heavy" panose="00000500000000000000" pitchFamily="2" charset="-127"/>
              </a:rPr>
              <a:t>”</a:t>
            </a:r>
            <a:endParaRPr lang="ko-KR" altLang="en-US" sz="4400" dirty="0">
              <a:latin typeface="나눔스퀘어 네오 variable Heavy" panose="00000500000000000000" pitchFamily="2" charset="-127"/>
              <a:ea typeface="나눔스퀘어 네오 variable Heavy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3941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" y="2939271"/>
            <a:ext cx="10909300" cy="9685298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b="0" i="0" u="none" strike="noStrike" dirty="0">
                <a:solidFill>
                  <a:srgbClr val="787878"/>
                </a:solidFill>
                <a:latin typeface="Poppins Regular"/>
              </a:rPr>
              <a:t>08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91EC032-3A1A-E1A8-3B3D-D1E339AEBA42}"/>
              </a:ext>
            </a:extLst>
          </p:cNvPr>
          <p:cNvSpPr txBox="1"/>
          <p:nvPr/>
        </p:nvSpPr>
        <p:spPr>
          <a:xfrm>
            <a:off x="914402" y="965200"/>
            <a:ext cx="5791200" cy="2768600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소개</a:t>
            </a:r>
            <a:endParaRPr lang="ko-KR" altLang="en-US" sz="5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5301E8A-E34C-E3A8-EE68-ED54D45C12C7}"/>
              </a:ext>
            </a:extLst>
          </p:cNvPr>
          <p:cNvSpPr/>
          <p:nvPr/>
        </p:nvSpPr>
        <p:spPr>
          <a:xfrm>
            <a:off x="457200" y="1179946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4697A9C-2458-5E9C-AC47-8BA361EEEF5B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3A204BC9-F6BC-79F7-76BD-0562A204006F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21" name="TextBox 5">
                <a:extLst>
                  <a:ext uri="{FF2B5EF4-FFF2-40B4-BE49-F238E27FC236}">
                    <a16:creationId xmlns:a16="http://schemas.microsoft.com/office/drawing/2014/main" id="{6EE2B237-5B65-5B46-C899-D41021747565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22" name="그림 21">
                <a:extLst>
                  <a:ext uri="{FF2B5EF4-FFF2-40B4-BE49-F238E27FC236}">
                    <a16:creationId xmlns:a16="http://schemas.microsoft.com/office/drawing/2014/main" id="{50CA2513-3C64-4BFC-3F6B-C6476F8AE2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20" name="Picture 5">
              <a:extLst>
                <a:ext uri="{FF2B5EF4-FFF2-40B4-BE49-F238E27FC236}">
                  <a16:creationId xmlns:a16="http://schemas.microsoft.com/office/drawing/2014/main" id="{322400A9-38B8-2926-CF88-4FF4E2127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23" name="Picture 5">
            <a:extLst>
              <a:ext uri="{FF2B5EF4-FFF2-40B4-BE49-F238E27FC236}">
                <a16:creationId xmlns:a16="http://schemas.microsoft.com/office/drawing/2014/main" id="{EFA7067E-B35C-422B-F704-E98AB4937D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3DAF4EE-C365-A996-986E-6D1E4C1757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2855" y="3563555"/>
            <a:ext cx="9481589" cy="4491831"/>
          </a:xfrm>
          <a:custGeom>
            <a:avLst/>
            <a:gdLst>
              <a:gd name="connsiteX0" fmla="*/ 0 w 9481589"/>
              <a:gd name="connsiteY0" fmla="*/ 0 h 4491831"/>
              <a:gd name="connsiteX1" fmla="*/ 592599 w 9481589"/>
              <a:gd name="connsiteY1" fmla="*/ 0 h 4491831"/>
              <a:gd name="connsiteX2" fmla="*/ 1280015 w 9481589"/>
              <a:gd name="connsiteY2" fmla="*/ 0 h 4491831"/>
              <a:gd name="connsiteX3" fmla="*/ 1967430 w 9481589"/>
              <a:gd name="connsiteY3" fmla="*/ 0 h 4491831"/>
              <a:gd name="connsiteX4" fmla="*/ 2749661 w 9481589"/>
              <a:gd name="connsiteY4" fmla="*/ 0 h 4491831"/>
              <a:gd name="connsiteX5" fmla="*/ 3342260 w 9481589"/>
              <a:gd name="connsiteY5" fmla="*/ 0 h 4491831"/>
              <a:gd name="connsiteX6" fmla="*/ 4029675 w 9481589"/>
              <a:gd name="connsiteY6" fmla="*/ 0 h 4491831"/>
              <a:gd name="connsiteX7" fmla="*/ 4622275 w 9481589"/>
              <a:gd name="connsiteY7" fmla="*/ 0 h 4491831"/>
              <a:gd name="connsiteX8" fmla="*/ 5214874 w 9481589"/>
              <a:gd name="connsiteY8" fmla="*/ 0 h 4491831"/>
              <a:gd name="connsiteX9" fmla="*/ 5807473 w 9481589"/>
              <a:gd name="connsiteY9" fmla="*/ 0 h 4491831"/>
              <a:gd name="connsiteX10" fmla="*/ 6115625 w 9481589"/>
              <a:gd name="connsiteY10" fmla="*/ 0 h 4491831"/>
              <a:gd name="connsiteX11" fmla="*/ 6803040 w 9481589"/>
              <a:gd name="connsiteY11" fmla="*/ 0 h 4491831"/>
              <a:gd name="connsiteX12" fmla="*/ 7111192 w 9481589"/>
              <a:gd name="connsiteY12" fmla="*/ 0 h 4491831"/>
              <a:gd name="connsiteX13" fmla="*/ 7703791 w 9481589"/>
              <a:gd name="connsiteY13" fmla="*/ 0 h 4491831"/>
              <a:gd name="connsiteX14" fmla="*/ 8486022 w 9481589"/>
              <a:gd name="connsiteY14" fmla="*/ 0 h 4491831"/>
              <a:gd name="connsiteX15" fmla="*/ 9481589 w 9481589"/>
              <a:gd name="connsiteY15" fmla="*/ 0 h 4491831"/>
              <a:gd name="connsiteX16" fmla="*/ 9481589 w 9481589"/>
              <a:gd name="connsiteY16" fmla="*/ 606397 h 4491831"/>
              <a:gd name="connsiteX17" fmla="*/ 9481589 w 9481589"/>
              <a:gd name="connsiteY17" fmla="*/ 1078039 h 4491831"/>
              <a:gd name="connsiteX18" fmla="*/ 9481589 w 9481589"/>
              <a:gd name="connsiteY18" fmla="*/ 1549682 h 4491831"/>
              <a:gd name="connsiteX19" fmla="*/ 9481589 w 9481589"/>
              <a:gd name="connsiteY19" fmla="*/ 2111161 h 4491831"/>
              <a:gd name="connsiteX20" fmla="*/ 9481589 w 9481589"/>
              <a:gd name="connsiteY20" fmla="*/ 2672639 h 4491831"/>
              <a:gd name="connsiteX21" fmla="*/ 9481589 w 9481589"/>
              <a:gd name="connsiteY21" fmla="*/ 3189200 h 4491831"/>
              <a:gd name="connsiteX22" fmla="*/ 9481589 w 9481589"/>
              <a:gd name="connsiteY22" fmla="*/ 3840516 h 4491831"/>
              <a:gd name="connsiteX23" fmla="*/ 9481589 w 9481589"/>
              <a:gd name="connsiteY23" fmla="*/ 4491831 h 4491831"/>
              <a:gd name="connsiteX24" fmla="*/ 8699358 w 9481589"/>
              <a:gd name="connsiteY24" fmla="*/ 4491831 h 4491831"/>
              <a:gd name="connsiteX25" fmla="*/ 8011943 w 9481589"/>
              <a:gd name="connsiteY25" fmla="*/ 4491831 h 4491831"/>
              <a:gd name="connsiteX26" fmla="*/ 7703791 w 9481589"/>
              <a:gd name="connsiteY26" fmla="*/ 4491831 h 4491831"/>
              <a:gd name="connsiteX27" fmla="*/ 6921560 w 9481589"/>
              <a:gd name="connsiteY27" fmla="*/ 4491831 h 4491831"/>
              <a:gd name="connsiteX28" fmla="*/ 6423777 w 9481589"/>
              <a:gd name="connsiteY28" fmla="*/ 4491831 h 4491831"/>
              <a:gd name="connsiteX29" fmla="*/ 5736361 w 9481589"/>
              <a:gd name="connsiteY29" fmla="*/ 4491831 h 4491831"/>
              <a:gd name="connsiteX30" fmla="*/ 5428210 w 9481589"/>
              <a:gd name="connsiteY30" fmla="*/ 4491831 h 4491831"/>
              <a:gd name="connsiteX31" fmla="*/ 4645979 w 9481589"/>
              <a:gd name="connsiteY31" fmla="*/ 4491831 h 4491831"/>
              <a:gd name="connsiteX32" fmla="*/ 4148195 w 9481589"/>
              <a:gd name="connsiteY32" fmla="*/ 4491831 h 4491831"/>
              <a:gd name="connsiteX33" fmla="*/ 3555596 w 9481589"/>
              <a:gd name="connsiteY33" fmla="*/ 4491831 h 4491831"/>
              <a:gd name="connsiteX34" fmla="*/ 3152628 w 9481589"/>
              <a:gd name="connsiteY34" fmla="*/ 4491831 h 4491831"/>
              <a:gd name="connsiteX35" fmla="*/ 2465213 w 9481589"/>
              <a:gd name="connsiteY35" fmla="*/ 4491831 h 4491831"/>
              <a:gd name="connsiteX36" fmla="*/ 1682982 w 9481589"/>
              <a:gd name="connsiteY36" fmla="*/ 4491831 h 4491831"/>
              <a:gd name="connsiteX37" fmla="*/ 1185199 w 9481589"/>
              <a:gd name="connsiteY37" fmla="*/ 4491831 h 4491831"/>
              <a:gd name="connsiteX38" fmla="*/ 0 w 9481589"/>
              <a:gd name="connsiteY38" fmla="*/ 4491831 h 4491831"/>
              <a:gd name="connsiteX39" fmla="*/ 0 w 9481589"/>
              <a:gd name="connsiteY39" fmla="*/ 3930352 h 4491831"/>
              <a:gd name="connsiteX40" fmla="*/ 0 w 9481589"/>
              <a:gd name="connsiteY40" fmla="*/ 3368873 h 4491831"/>
              <a:gd name="connsiteX41" fmla="*/ 0 w 9481589"/>
              <a:gd name="connsiteY41" fmla="*/ 2762476 h 4491831"/>
              <a:gd name="connsiteX42" fmla="*/ 0 w 9481589"/>
              <a:gd name="connsiteY42" fmla="*/ 2200997 h 4491831"/>
              <a:gd name="connsiteX43" fmla="*/ 0 w 9481589"/>
              <a:gd name="connsiteY43" fmla="*/ 1594600 h 4491831"/>
              <a:gd name="connsiteX44" fmla="*/ 0 w 9481589"/>
              <a:gd name="connsiteY44" fmla="*/ 988203 h 4491831"/>
              <a:gd name="connsiteX45" fmla="*/ 0 w 9481589"/>
              <a:gd name="connsiteY45" fmla="*/ 0 h 4491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9481589" h="4491831" fill="none" extrusionOk="0">
                <a:moveTo>
                  <a:pt x="0" y="0"/>
                </a:moveTo>
                <a:cubicBezTo>
                  <a:pt x="222166" y="-17622"/>
                  <a:pt x="394677" y="39911"/>
                  <a:pt x="592599" y="0"/>
                </a:cubicBezTo>
                <a:cubicBezTo>
                  <a:pt x="790521" y="-39911"/>
                  <a:pt x="1131226" y="35083"/>
                  <a:pt x="1280015" y="0"/>
                </a:cubicBezTo>
                <a:cubicBezTo>
                  <a:pt x="1428804" y="-35083"/>
                  <a:pt x="1632478" y="44226"/>
                  <a:pt x="1967430" y="0"/>
                </a:cubicBezTo>
                <a:cubicBezTo>
                  <a:pt x="2302383" y="-44226"/>
                  <a:pt x="2511158" y="43631"/>
                  <a:pt x="2749661" y="0"/>
                </a:cubicBezTo>
                <a:cubicBezTo>
                  <a:pt x="2988164" y="-43631"/>
                  <a:pt x="3162294" y="47778"/>
                  <a:pt x="3342260" y="0"/>
                </a:cubicBezTo>
                <a:cubicBezTo>
                  <a:pt x="3522226" y="-47778"/>
                  <a:pt x="3826271" y="78556"/>
                  <a:pt x="4029675" y="0"/>
                </a:cubicBezTo>
                <a:cubicBezTo>
                  <a:pt x="4233080" y="-78556"/>
                  <a:pt x="4384692" y="42082"/>
                  <a:pt x="4622275" y="0"/>
                </a:cubicBezTo>
                <a:cubicBezTo>
                  <a:pt x="4859858" y="-42082"/>
                  <a:pt x="4947259" y="53355"/>
                  <a:pt x="5214874" y="0"/>
                </a:cubicBezTo>
                <a:cubicBezTo>
                  <a:pt x="5482489" y="-53355"/>
                  <a:pt x="5564642" y="56664"/>
                  <a:pt x="5807473" y="0"/>
                </a:cubicBezTo>
                <a:cubicBezTo>
                  <a:pt x="6050304" y="-56664"/>
                  <a:pt x="6011781" y="36773"/>
                  <a:pt x="6115625" y="0"/>
                </a:cubicBezTo>
                <a:cubicBezTo>
                  <a:pt x="6219469" y="-36773"/>
                  <a:pt x="6554952" y="79100"/>
                  <a:pt x="6803040" y="0"/>
                </a:cubicBezTo>
                <a:cubicBezTo>
                  <a:pt x="7051129" y="-79100"/>
                  <a:pt x="7041980" y="10307"/>
                  <a:pt x="7111192" y="0"/>
                </a:cubicBezTo>
                <a:cubicBezTo>
                  <a:pt x="7180404" y="-10307"/>
                  <a:pt x="7461550" y="36867"/>
                  <a:pt x="7703791" y="0"/>
                </a:cubicBezTo>
                <a:cubicBezTo>
                  <a:pt x="7946032" y="-36867"/>
                  <a:pt x="8289574" y="87060"/>
                  <a:pt x="8486022" y="0"/>
                </a:cubicBezTo>
                <a:cubicBezTo>
                  <a:pt x="8682470" y="-87060"/>
                  <a:pt x="9278474" y="57487"/>
                  <a:pt x="9481589" y="0"/>
                </a:cubicBezTo>
                <a:cubicBezTo>
                  <a:pt x="9511039" y="213923"/>
                  <a:pt x="9464260" y="470764"/>
                  <a:pt x="9481589" y="606397"/>
                </a:cubicBezTo>
                <a:cubicBezTo>
                  <a:pt x="9498918" y="742030"/>
                  <a:pt x="9450844" y="857239"/>
                  <a:pt x="9481589" y="1078039"/>
                </a:cubicBezTo>
                <a:cubicBezTo>
                  <a:pt x="9512334" y="1298839"/>
                  <a:pt x="9471361" y="1375299"/>
                  <a:pt x="9481589" y="1549682"/>
                </a:cubicBezTo>
                <a:cubicBezTo>
                  <a:pt x="9491817" y="1724065"/>
                  <a:pt x="9459678" y="1854269"/>
                  <a:pt x="9481589" y="2111161"/>
                </a:cubicBezTo>
                <a:cubicBezTo>
                  <a:pt x="9503500" y="2368053"/>
                  <a:pt x="9431685" y="2497940"/>
                  <a:pt x="9481589" y="2672639"/>
                </a:cubicBezTo>
                <a:cubicBezTo>
                  <a:pt x="9531493" y="2847338"/>
                  <a:pt x="9478260" y="3028693"/>
                  <a:pt x="9481589" y="3189200"/>
                </a:cubicBezTo>
                <a:cubicBezTo>
                  <a:pt x="9484918" y="3349707"/>
                  <a:pt x="9461860" y="3525334"/>
                  <a:pt x="9481589" y="3840516"/>
                </a:cubicBezTo>
                <a:cubicBezTo>
                  <a:pt x="9501318" y="4155698"/>
                  <a:pt x="9446282" y="4343505"/>
                  <a:pt x="9481589" y="4491831"/>
                </a:cubicBezTo>
                <a:cubicBezTo>
                  <a:pt x="9220019" y="4518629"/>
                  <a:pt x="8872097" y="4454987"/>
                  <a:pt x="8699358" y="4491831"/>
                </a:cubicBezTo>
                <a:cubicBezTo>
                  <a:pt x="8526619" y="4528675"/>
                  <a:pt x="8266383" y="4435830"/>
                  <a:pt x="8011943" y="4491831"/>
                </a:cubicBezTo>
                <a:cubicBezTo>
                  <a:pt x="7757503" y="4547832"/>
                  <a:pt x="7841497" y="4484886"/>
                  <a:pt x="7703791" y="4491831"/>
                </a:cubicBezTo>
                <a:cubicBezTo>
                  <a:pt x="7566085" y="4498776"/>
                  <a:pt x="7228924" y="4455052"/>
                  <a:pt x="6921560" y="4491831"/>
                </a:cubicBezTo>
                <a:cubicBezTo>
                  <a:pt x="6614196" y="4528610"/>
                  <a:pt x="6663756" y="4468580"/>
                  <a:pt x="6423777" y="4491831"/>
                </a:cubicBezTo>
                <a:cubicBezTo>
                  <a:pt x="6183798" y="4515082"/>
                  <a:pt x="5999898" y="4423498"/>
                  <a:pt x="5736361" y="4491831"/>
                </a:cubicBezTo>
                <a:cubicBezTo>
                  <a:pt x="5472824" y="4560164"/>
                  <a:pt x="5509812" y="4461958"/>
                  <a:pt x="5428210" y="4491831"/>
                </a:cubicBezTo>
                <a:cubicBezTo>
                  <a:pt x="5346608" y="4521704"/>
                  <a:pt x="4819972" y="4470991"/>
                  <a:pt x="4645979" y="4491831"/>
                </a:cubicBezTo>
                <a:cubicBezTo>
                  <a:pt x="4471986" y="4512671"/>
                  <a:pt x="4296043" y="4488484"/>
                  <a:pt x="4148195" y="4491831"/>
                </a:cubicBezTo>
                <a:cubicBezTo>
                  <a:pt x="4000347" y="4495178"/>
                  <a:pt x="3688194" y="4462599"/>
                  <a:pt x="3555596" y="4491831"/>
                </a:cubicBezTo>
                <a:cubicBezTo>
                  <a:pt x="3422998" y="4521063"/>
                  <a:pt x="3310994" y="4457378"/>
                  <a:pt x="3152628" y="4491831"/>
                </a:cubicBezTo>
                <a:cubicBezTo>
                  <a:pt x="2994262" y="4526284"/>
                  <a:pt x="2678326" y="4414142"/>
                  <a:pt x="2465213" y="4491831"/>
                </a:cubicBezTo>
                <a:cubicBezTo>
                  <a:pt x="2252101" y="4569520"/>
                  <a:pt x="1850816" y="4462671"/>
                  <a:pt x="1682982" y="4491831"/>
                </a:cubicBezTo>
                <a:cubicBezTo>
                  <a:pt x="1515148" y="4520991"/>
                  <a:pt x="1344899" y="4486297"/>
                  <a:pt x="1185199" y="4491831"/>
                </a:cubicBezTo>
                <a:cubicBezTo>
                  <a:pt x="1025499" y="4497365"/>
                  <a:pt x="320380" y="4465377"/>
                  <a:pt x="0" y="4491831"/>
                </a:cubicBezTo>
                <a:cubicBezTo>
                  <a:pt x="-37729" y="4324059"/>
                  <a:pt x="4593" y="4173808"/>
                  <a:pt x="0" y="3930352"/>
                </a:cubicBezTo>
                <a:cubicBezTo>
                  <a:pt x="-4593" y="3686896"/>
                  <a:pt x="62115" y="3506193"/>
                  <a:pt x="0" y="3368873"/>
                </a:cubicBezTo>
                <a:cubicBezTo>
                  <a:pt x="-62115" y="3231553"/>
                  <a:pt x="28270" y="2967868"/>
                  <a:pt x="0" y="2762476"/>
                </a:cubicBezTo>
                <a:cubicBezTo>
                  <a:pt x="-28270" y="2557084"/>
                  <a:pt x="34717" y="2381618"/>
                  <a:pt x="0" y="2200997"/>
                </a:cubicBezTo>
                <a:cubicBezTo>
                  <a:pt x="-34717" y="2020376"/>
                  <a:pt x="22050" y="1771292"/>
                  <a:pt x="0" y="1594600"/>
                </a:cubicBezTo>
                <a:cubicBezTo>
                  <a:pt x="-22050" y="1417908"/>
                  <a:pt x="47584" y="1273924"/>
                  <a:pt x="0" y="988203"/>
                </a:cubicBezTo>
                <a:cubicBezTo>
                  <a:pt x="-47584" y="702482"/>
                  <a:pt x="15229" y="210368"/>
                  <a:pt x="0" y="0"/>
                </a:cubicBezTo>
                <a:close/>
              </a:path>
              <a:path w="9481589" h="4491831" stroke="0" extrusionOk="0">
                <a:moveTo>
                  <a:pt x="0" y="0"/>
                </a:moveTo>
                <a:cubicBezTo>
                  <a:pt x="146757" y="-24195"/>
                  <a:pt x="391091" y="50863"/>
                  <a:pt x="497783" y="0"/>
                </a:cubicBezTo>
                <a:cubicBezTo>
                  <a:pt x="604475" y="-50863"/>
                  <a:pt x="736770" y="19124"/>
                  <a:pt x="805935" y="0"/>
                </a:cubicBezTo>
                <a:cubicBezTo>
                  <a:pt x="875100" y="-19124"/>
                  <a:pt x="1392754" y="46592"/>
                  <a:pt x="1588166" y="0"/>
                </a:cubicBezTo>
                <a:cubicBezTo>
                  <a:pt x="1783578" y="-46592"/>
                  <a:pt x="1951168" y="57147"/>
                  <a:pt x="2085950" y="0"/>
                </a:cubicBezTo>
                <a:cubicBezTo>
                  <a:pt x="2220732" y="-57147"/>
                  <a:pt x="2404141" y="390"/>
                  <a:pt x="2583733" y="0"/>
                </a:cubicBezTo>
                <a:cubicBezTo>
                  <a:pt x="2763325" y="-390"/>
                  <a:pt x="3086344" y="8740"/>
                  <a:pt x="3365964" y="0"/>
                </a:cubicBezTo>
                <a:cubicBezTo>
                  <a:pt x="3645584" y="-8740"/>
                  <a:pt x="3571465" y="9647"/>
                  <a:pt x="3768932" y="0"/>
                </a:cubicBezTo>
                <a:cubicBezTo>
                  <a:pt x="3966399" y="-9647"/>
                  <a:pt x="4187733" y="12746"/>
                  <a:pt x="4551163" y="0"/>
                </a:cubicBezTo>
                <a:cubicBezTo>
                  <a:pt x="4914593" y="-12746"/>
                  <a:pt x="5160792" y="4441"/>
                  <a:pt x="5333394" y="0"/>
                </a:cubicBezTo>
                <a:cubicBezTo>
                  <a:pt x="5505996" y="-4441"/>
                  <a:pt x="5767904" y="7735"/>
                  <a:pt x="5925993" y="0"/>
                </a:cubicBezTo>
                <a:cubicBezTo>
                  <a:pt x="6084082" y="-7735"/>
                  <a:pt x="6453148" y="27909"/>
                  <a:pt x="6708224" y="0"/>
                </a:cubicBezTo>
                <a:cubicBezTo>
                  <a:pt x="6963300" y="-27909"/>
                  <a:pt x="7075664" y="30175"/>
                  <a:pt x="7206008" y="0"/>
                </a:cubicBezTo>
                <a:cubicBezTo>
                  <a:pt x="7336352" y="-30175"/>
                  <a:pt x="7573226" y="2081"/>
                  <a:pt x="7703791" y="0"/>
                </a:cubicBezTo>
                <a:cubicBezTo>
                  <a:pt x="7834356" y="-2081"/>
                  <a:pt x="8174382" y="70279"/>
                  <a:pt x="8391206" y="0"/>
                </a:cubicBezTo>
                <a:cubicBezTo>
                  <a:pt x="8608030" y="-70279"/>
                  <a:pt x="8735548" y="37627"/>
                  <a:pt x="8888990" y="0"/>
                </a:cubicBezTo>
                <a:cubicBezTo>
                  <a:pt x="9042432" y="-37627"/>
                  <a:pt x="9293039" y="19893"/>
                  <a:pt x="9481589" y="0"/>
                </a:cubicBezTo>
                <a:cubicBezTo>
                  <a:pt x="9551938" y="194960"/>
                  <a:pt x="9419229" y="366564"/>
                  <a:pt x="9481589" y="651315"/>
                </a:cubicBezTo>
                <a:cubicBezTo>
                  <a:pt x="9543949" y="936067"/>
                  <a:pt x="9420083" y="985195"/>
                  <a:pt x="9481589" y="1257713"/>
                </a:cubicBezTo>
                <a:cubicBezTo>
                  <a:pt x="9543095" y="1530231"/>
                  <a:pt x="9476600" y="1573961"/>
                  <a:pt x="9481589" y="1864110"/>
                </a:cubicBezTo>
                <a:cubicBezTo>
                  <a:pt x="9486578" y="2154259"/>
                  <a:pt x="9478626" y="2191626"/>
                  <a:pt x="9481589" y="2290834"/>
                </a:cubicBezTo>
                <a:cubicBezTo>
                  <a:pt x="9484552" y="2390042"/>
                  <a:pt x="9434999" y="2600259"/>
                  <a:pt x="9481589" y="2762476"/>
                </a:cubicBezTo>
                <a:cubicBezTo>
                  <a:pt x="9528179" y="2924693"/>
                  <a:pt x="9426771" y="3129345"/>
                  <a:pt x="9481589" y="3368873"/>
                </a:cubicBezTo>
                <a:cubicBezTo>
                  <a:pt x="9536407" y="3608401"/>
                  <a:pt x="9449708" y="3662543"/>
                  <a:pt x="9481589" y="3885434"/>
                </a:cubicBezTo>
                <a:cubicBezTo>
                  <a:pt x="9513470" y="4108325"/>
                  <a:pt x="9452519" y="4260342"/>
                  <a:pt x="9481589" y="4491831"/>
                </a:cubicBezTo>
                <a:cubicBezTo>
                  <a:pt x="9164202" y="4520206"/>
                  <a:pt x="9089550" y="4484384"/>
                  <a:pt x="8794174" y="4491831"/>
                </a:cubicBezTo>
                <a:cubicBezTo>
                  <a:pt x="8498799" y="4499278"/>
                  <a:pt x="8561898" y="4455825"/>
                  <a:pt x="8486022" y="4491831"/>
                </a:cubicBezTo>
                <a:cubicBezTo>
                  <a:pt x="8410146" y="4527837"/>
                  <a:pt x="8081843" y="4444710"/>
                  <a:pt x="7893423" y="4491831"/>
                </a:cubicBezTo>
                <a:cubicBezTo>
                  <a:pt x="7705003" y="4538952"/>
                  <a:pt x="7621562" y="4463550"/>
                  <a:pt x="7490455" y="4491831"/>
                </a:cubicBezTo>
                <a:cubicBezTo>
                  <a:pt x="7359348" y="4520112"/>
                  <a:pt x="6969532" y="4453556"/>
                  <a:pt x="6803040" y="4491831"/>
                </a:cubicBezTo>
                <a:cubicBezTo>
                  <a:pt x="6636548" y="4530106"/>
                  <a:pt x="6555400" y="4444942"/>
                  <a:pt x="6400073" y="4491831"/>
                </a:cubicBezTo>
                <a:cubicBezTo>
                  <a:pt x="6244746" y="4538720"/>
                  <a:pt x="5858726" y="4467574"/>
                  <a:pt x="5712657" y="4491831"/>
                </a:cubicBezTo>
                <a:cubicBezTo>
                  <a:pt x="5566588" y="4516088"/>
                  <a:pt x="5512357" y="4489876"/>
                  <a:pt x="5404506" y="4491831"/>
                </a:cubicBezTo>
                <a:cubicBezTo>
                  <a:pt x="5296655" y="4493786"/>
                  <a:pt x="4994867" y="4448511"/>
                  <a:pt x="4717091" y="4491831"/>
                </a:cubicBezTo>
                <a:cubicBezTo>
                  <a:pt x="4439315" y="4535151"/>
                  <a:pt x="4484315" y="4445380"/>
                  <a:pt x="4314123" y="4491831"/>
                </a:cubicBezTo>
                <a:cubicBezTo>
                  <a:pt x="4143931" y="4538282"/>
                  <a:pt x="4128290" y="4490170"/>
                  <a:pt x="4005971" y="4491831"/>
                </a:cubicBezTo>
                <a:cubicBezTo>
                  <a:pt x="3883652" y="4493492"/>
                  <a:pt x="3756750" y="4486131"/>
                  <a:pt x="3603004" y="4491831"/>
                </a:cubicBezTo>
                <a:cubicBezTo>
                  <a:pt x="3449258" y="4497531"/>
                  <a:pt x="3075503" y="4477838"/>
                  <a:pt x="2915589" y="4491831"/>
                </a:cubicBezTo>
                <a:cubicBezTo>
                  <a:pt x="2755676" y="4505824"/>
                  <a:pt x="2653108" y="4454941"/>
                  <a:pt x="2512621" y="4491831"/>
                </a:cubicBezTo>
                <a:cubicBezTo>
                  <a:pt x="2372134" y="4528721"/>
                  <a:pt x="2328939" y="4479012"/>
                  <a:pt x="2204469" y="4491831"/>
                </a:cubicBezTo>
                <a:cubicBezTo>
                  <a:pt x="2079999" y="4504650"/>
                  <a:pt x="1906889" y="4460365"/>
                  <a:pt x="1801502" y="4491831"/>
                </a:cubicBezTo>
                <a:cubicBezTo>
                  <a:pt x="1696115" y="4523297"/>
                  <a:pt x="1540158" y="4489806"/>
                  <a:pt x="1303718" y="4491831"/>
                </a:cubicBezTo>
                <a:cubicBezTo>
                  <a:pt x="1067278" y="4493856"/>
                  <a:pt x="968975" y="4476011"/>
                  <a:pt x="711119" y="4491831"/>
                </a:cubicBezTo>
                <a:cubicBezTo>
                  <a:pt x="453263" y="4507651"/>
                  <a:pt x="268081" y="4434671"/>
                  <a:pt x="0" y="4491831"/>
                </a:cubicBezTo>
                <a:cubicBezTo>
                  <a:pt x="-48369" y="4343518"/>
                  <a:pt x="74153" y="3984877"/>
                  <a:pt x="0" y="3840516"/>
                </a:cubicBezTo>
                <a:cubicBezTo>
                  <a:pt x="-74153" y="3696156"/>
                  <a:pt x="30183" y="3410435"/>
                  <a:pt x="0" y="3279037"/>
                </a:cubicBezTo>
                <a:cubicBezTo>
                  <a:pt x="-30183" y="3147639"/>
                  <a:pt x="61242" y="2987896"/>
                  <a:pt x="0" y="2717558"/>
                </a:cubicBezTo>
                <a:cubicBezTo>
                  <a:pt x="-61242" y="2447220"/>
                  <a:pt x="47965" y="2280373"/>
                  <a:pt x="0" y="2156079"/>
                </a:cubicBezTo>
                <a:cubicBezTo>
                  <a:pt x="-47965" y="2031785"/>
                  <a:pt x="50327" y="1710107"/>
                  <a:pt x="0" y="1594600"/>
                </a:cubicBezTo>
                <a:cubicBezTo>
                  <a:pt x="-50327" y="1479093"/>
                  <a:pt x="11041" y="1286310"/>
                  <a:pt x="0" y="1078039"/>
                </a:cubicBezTo>
                <a:cubicBezTo>
                  <a:pt x="-11041" y="869768"/>
                  <a:pt x="76892" y="381167"/>
                  <a:pt x="0" y="0"/>
                </a:cubicBezTo>
                <a:close/>
              </a:path>
            </a:pathLst>
          </a:custGeom>
          <a:ln w="57150">
            <a:solidFill>
              <a:schemeClr val="accent3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8F8763E-B7C5-692A-8294-69F4895593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564352"/>
              </p:ext>
            </p:extLst>
          </p:nvPr>
        </p:nvGraphicFramePr>
        <p:xfrm>
          <a:off x="2382576" y="8955677"/>
          <a:ext cx="7922145" cy="2768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60428">
                  <a:extLst>
                    <a:ext uri="{9D8B030D-6E8A-4147-A177-3AD203B41FA5}">
                      <a16:colId xmlns:a16="http://schemas.microsoft.com/office/drawing/2014/main" val="619722058"/>
                    </a:ext>
                  </a:extLst>
                </a:gridCol>
                <a:gridCol w="3961717">
                  <a:extLst>
                    <a:ext uri="{9D8B030D-6E8A-4147-A177-3AD203B41FA5}">
                      <a16:colId xmlns:a16="http://schemas.microsoft.com/office/drawing/2014/main" val="2812369670"/>
                    </a:ext>
                  </a:extLst>
                </a:gridCol>
              </a:tblGrid>
              <a:tr h="6921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ko-KR" sz="3000" b="0" kern="1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구분</a:t>
                      </a:r>
                      <a:endParaRPr lang="ko-KR" sz="3000" b="0" kern="100" dirty="0">
                        <a:solidFill>
                          <a:schemeClr val="tx1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ko-KR" altLang="en-US" sz="3000" b="0" kern="1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기존</a:t>
                      </a:r>
                      <a:r>
                        <a:rPr lang="en-US" altLang="ko-KR" sz="3000" b="0" kern="1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</a:t>
                      </a:r>
                      <a:r>
                        <a:rPr lang="ko-KR" altLang="en-US" sz="3000" b="0" kern="100" dirty="0" err="1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풋살</a:t>
                      </a:r>
                      <a:r>
                        <a:rPr lang="en-US" altLang="ko-KR" sz="3000" b="0" kern="1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</a:t>
                      </a:r>
                      <a:r>
                        <a:rPr lang="ko-KR" altLang="en-US" sz="3000" b="0" kern="1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플랫폼</a:t>
                      </a:r>
                      <a:endParaRPr lang="ko-KR" sz="3000" b="0" kern="100" dirty="0">
                        <a:solidFill>
                          <a:schemeClr val="tx1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28256"/>
                  </a:ext>
                </a:extLst>
              </a:tr>
              <a:tr h="6921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ko-KR" sz="3000" b="0" kern="100" dirty="0">
                          <a:solidFill>
                            <a:sysClr val="windowText" lastClr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핵심</a:t>
                      </a:r>
                      <a:endParaRPr lang="ko-KR" sz="3000" b="0" kern="100" dirty="0">
                        <a:solidFill>
                          <a:sysClr val="windowText" lastClr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ko-KR" sz="3000" kern="100">
                          <a:solidFill>
                            <a:sysClr val="windowText" lastClr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구장 예약 및 거래</a:t>
                      </a:r>
                      <a:endParaRPr lang="ko-KR" sz="3000" kern="100">
                        <a:solidFill>
                          <a:sysClr val="windowText" lastClr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960539"/>
                  </a:ext>
                </a:extLst>
              </a:tr>
              <a:tr h="6921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ko-KR" sz="3000" b="0" kern="100" dirty="0">
                          <a:solidFill>
                            <a:sysClr val="windowText" lastClr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가치 제안</a:t>
                      </a:r>
                      <a:endParaRPr lang="ko-KR" sz="3000" b="0" kern="100" dirty="0">
                        <a:solidFill>
                          <a:sysClr val="windowText" lastClr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ko-KR" sz="3000" kern="100" dirty="0">
                          <a:solidFill>
                            <a:sysClr val="windowText" lastClr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예약 중심의 정적인 매칭</a:t>
                      </a:r>
                      <a:endParaRPr lang="ko-KR" sz="3000" kern="100" dirty="0">
                        <a:solidFill>
                          <a:sysClr val="windowText" lastClr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776207"/>
                  </a:ext>
                </a:extLst>
              </a:tr>
              <a:tr h="6921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ko-KR" sz="3000" b="0" kern="100" dirty="0">
                          <a:solidFill>
                            <a:sysClr val="windowText" lastClr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해결 목표</a:t>
                      </a:r>
                      <a:endParaRPr lang="ko-KR" sz="3000" b="0" kern="100" dirty="0">
                        <a:solidFill>
                          <a:sysClr val="windowText" lastClr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ko-KR" sz="3000" kern="100" dirty="0">
                          <a:solidFill>
                            <a:sysClr val="windowText" lastClr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구장 이용의 편의성</a:t>
                      </a:r>
                      <a:endParaRPr lang="ko-KR" sz="3000" kern="100" dirty="0">
                        <a:solidFill>
                          <a:sysClr val="windowText" lastClr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835283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E8ED36F-6E4D-6001-2141-CE9B95AFE07E}"/>
              </a:ext>
            </a:extLst>
          </p:cNvPr>
          <p:cNvSpPr/>
          <p:nvPr/>
        </p:nvSpPr>
        <p:spPr>
          <a:xfrm>
            <a:off x="12496800" y="2939271"/>
            <a:ext cx="10972798" cy="9606644"/>
          </a:xfrm>
          <a:prstGeom prst="roundRect">
            <a:avLst>
              <a:gd name="adj" fmla="val 1393"/>
            </a:avLst>
          </a:prstGeom>
          <a:solidFill>
            <a:schemeClr val="bg1"/>
          </a:solidFill>
          <a:ln w="5080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A7770F5-2296-FC63-BADC-9314CBC17A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54163" y="3506886"/>
            <a:ext cx="10508873" cy="4718745"/>
          </a:xfrm>
          <a:custGeom>
            <a:avLst/>
            <a:gdLst>
              <a:gd name="connsiteX0" fmla="*/ 0 w 10508873"/>
              <a:gd name="connsiteY0" fmla="*/ 0 h 4718745"/>
              <a:gd name="connsiteX1" fmla="*/ 688915 w 10508873"/>
              <a:gd name="connsiteY1" fmla="*/ 0 h 4718745"/>
              <a:gd name="connsiteX2" fmla="*/ 1272741 w 10508873"/>
              <a:gd name="connsiteY2" fmla="*/ 0 h 4718745"/>
              <a:gd name="connsiteX3" fmla="*/ 1961656 w 10508873"/>
              <a:gd name="connsiteY3" fmla="*/ 0 h 4718745"/>
              <a:gd name="connsiteX4" fmla="*/ 2545483 w 10508873"/>
              <a:gd name="connsiteY4" fmla="*/ 0 h 4718745"/>
              <a:gd name="connsiteX5" fmla="*/ 3129309 w 10508873"/>
              <a:gd name="connsiteY5" fmla="*/ 0 h 4718745"/>
              <a:gd name="connsiteX6" fmla="*/ 3713135 w 10508873"/>
              <a:gd name="connsiteY6" fmla="*/ 0 h 4718745"/>
              <a:gd name="connsiteX7" fmla="*/ 3981695 w 10508873"/>
              <a:gd name="connsiteY7" fmla="*/ 0 h 4718745"/>
              <a:gd name="connsiteX8" fmla="*/ 4670610 w 10508873"/>
              <a:gd name="connsiteY8" fmla="*/ 0 h 4718745"/>
              <a:gd name="connsiteX9" fmla="*/ 4939170 w 10508873"/>
              <a:gd name="connsiteY9" fmla="*/ 0 h 4718745"/>
              <a:gd name="connsiteX10" fmla="*/ 5522997 w 10508873"/>
              <a:gd name="connsiteY10" fmla="*/ 0 h 4718745"/>
              <a:gd name="connsiteX11" fmla="*/ 6317000 w 10508873"/>
              <a:gd name="connsiteY11" fmla="*/ 0 h 4718745"/>
              <a:gd name="connsiteX12" fmla="*/ 7111004 w 10508873"/>
              <a:gd name="connsiteY12" fmla="*/ 0 h 4718745"/>
              <a:gd name="connsiteX13" fmla="*/ 7799919 w 10508873"/>
              <a:gd name="connsiteY13" fmla="*/ 0 h 4718745"/>
              <a:gd name="connsiteX14" fmla="*/ 8278657 w 10508873"/>
              <a:gd name="connsiteY14" fmla="*/ 0 h 4718745"/>
              <a:gd name="connsiteX15" fmla="*/ 8547217 w 10508873"/>
              <a:gd name="connsiteY15" fmla="*/ 0 h 4718745"/>
              <a:gd name="connsiteX16" fmla="*/ 9025954 w 10508873"/>
              <a:gd name="connsiteY16" fmla="*/ 0 h 4718745"/>
              <a:gd name="connsiteX17" fmla="*/ 9714869 w 10508873"/>
              <a:gd name="connsiteY17" fmla="*/ 0 h 4718745"/>
              <a:gd name="connsiteX18" fmla="*/ 10508873 w 10508873"/>
              <a:gd name="connsiteY18" fmla="*/ 0 h 4718745"/>
              <a:gd name="connsiteX19" fmla="*/ 10508873 w 10508873"/>
              <a:gd name="connsiteY19" fmla="*/ 448281 h 4718745"/>
              <a:gd name="connsiteX20" fmla="*/ 10508873 w 10508873"/>
              <a:gd name="connsiteY20" fmla="*/ 943749 h 4718745"/>
              <a:gd name="connsiteX21" fmla="*/ 10508873 w 10508873"/>
              <a:gd name="connsiteY21" fmla="*/ 1627967 h 4718745"/>
              <a:gd name="connsiteX22" fmla="*/ 10508873 w 10508873"/>
              <a:gd name="connsiteY22" fmla="*/ 2123435 h 4718745"/>
              <a:gd name="connsiteX23" fmla="*/ 10508873 w 10508873"/>
              <a:gd name="connsiteY23" fmla="*/ 2760466 h 4718745"/>
              <a:gd name="connsiteX24" fmla="*/ 10508873 w 10508873"/>
              <a:gd name="connsiteY24" fmla="*/ 3444684 h 4718745"/>
              <a:gd name="connsiteX25" fmla="*/ 10508873 w 10508873"/>
              <a:gd name="connsiteY25" fmla="*/ 3892965 h 4718745"/>
              <a:gd name="connsiteX26" fmla="*/ 10508873 w 10508873"/>
              <a:gd name="connsiteY26" fmla="*/ 4718745 h 4718745"/>
              <a:gd name="connsiteX27" fmla="*/ 9714869 w 10508873"/>
              <a:gd name="connsiteY27" fmla="*/ 4718745 h 4718745"/>
              <a:gd name="connsiteX28" fmla="*/ 8920866 w 10508873"/>
              <a:gd name="connsiteY28" fmla="*/ 4718745 h 4718745"/>
              <a:gd name="connsiteX29" fmla="*/ 8442128 w 10508873"/>
              <a:gd name="connsiteY29" fmla="*/ 4718745 h 4718745"/>
              <a:gd name="connsiteX30" fmla="*/ 7858302 w 10508873"/>
              <a:gd name="connsiteY30" fmla="*/ 4718745 h 4718745"/>
              <a:gd name="connsiteX31" fmla="*/ 7484653 w 10508873"/>
              <a:gd name="connsiteY31" fmla="*/ 4718745 h 4718745"/>
              <a:gd name="connsiteX32" fmla="*/ 6795738 w 10508873"/>
              <a:gd name="connsiteY32" fmla="*/ 4718745 h 4718745"/>
              <a:gd name="connsiteX33" fmla="*/ 6001734 w 10508873"/>
              <a:gd name="connsiteY33" fmla="*/ 4718745 h 4718745"/>
              <a:gd name="connsiteX34" fmla="*/ 5522997 w 10508873"/>
              <a:gd name="connsiteY34" fmla="*/ 4718745 h 4718745"/>
              <a:gd name="connsiteX35" fmla="*/ 4728993 w 10508873"/>
              <a:gd name="connsiteY35" fmla="*/ 4718745 h 4718745"/>
              <a:gd name="connsiteX36" fmla="*/ 4145167 w 10508873"/>
              <a:gd name="connsiteY36" fmla="*/ 4718745 h 4718745"/>
              <a:gd name="connsiteX37" fmla="*/ 3351163 w 10508873"/>
              <a:gd name="connsiteY37" fmla="*/ 4718745 h 4718745"/>
              <a:gd name="connsiteX38" fmla="*/ 2557159 w 10508873"/>
              <a:gd name="connsiteY38" fmla="*/ 4718745 h 4718745"/>
              <a:gd name="connsiteX39" fmla="*/ 2183510 w 10508873"/>
              <a:gd name="connsiteY39" fmla="*/ 4718745 h 4718745"/>
              <a:gd name="connsiteX40" fmla="*/ 1704773 w 10508873"/>
              <a:gd name="connsiteY40" fmla="*/ 4718745 h 4718745"/>
              <a:gd name="connsiteX41" fmla="*/ 1120946 w 10508873"/>
              <a:gd name="connsiteY41" fmla="*/ 4718745 h 4718745"/>
              <a:gd name="connsiteX42" fmla="*/ 537120 w 10508873"/>
              <a:gd name="connsiteY42" fmla="*/ 4718745 h 4718745"/>
              <a:gd name="connsiteX43" fmla="*/ 0 w 10508873"/>
              <a:gd name="connsiteY43" fmla="*/ 4718745 h 4718745"/>
              <a:gd name="connsiteX44" fmla="*/ 0 w 10508873"/>
              <a:gd name="connsiteY44" fmla="*/ 4223277 h 4718745"/>
              <a:gd name="connsiteX45" fmla="*/ 0 w 10508873"/>
              <a:gd name="connsiteY45" fmla="*/ 3539059 h 4718745"/>
              <a:gd name="connsiteX46" fmla="*/ 0 w 10508873"/>
              <a:gd name="connsiteY46" fmla="*/ 2996403 h 4718745"/>
              <a:gd name="connsiteX47" fmla="*/ 0 w 10508873"/>
              <a:gd name="connsiteY47" fmla="*/ 2312185 h 4718745"/>
              <a:gd name="connsiteX48" fmla="*/ 0 w 10508873"/>
              <a:gd name="connsiteY48" fmla="*/ 1769529 h 4718745"/>
              <a:gd name="connsiteX49" fmla="*/ 0 w 10508873"/>
              <a:gd name="connsiteY49" fmla="*/ 1132499 h 4718745"/>
              <a:gd name="connsiteX50" fmla="*/ 0 w 10508873"/>
              <a:gd name="connsiteY50" fmla="*/ 637031 h 4718745"/>
              <a:gd name="connsiteX51" fmla="*/ 0 w 10508873"/>
              <a:gd name="connsiteY51" fmla="*/ 0 h 4718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0508873" h="4718745" fill="none" extrusionOk="0">
                <a:moveTo>
                  <a:pt x="0" y="0"/>
                </a:moveTo>
                <a:cubicBezTo>
                  <a:pt x="254809" y="-13575"/>
                  <a:pt x="353421" y="1197"/>
                  <a:pt x="688915" y="0"/>
                </a:cubicBezTo>
                <a:cubicBezTo>
                  <a:pt x="1024410" y="-1197"/>
                  <a:pt x="1035322" y="3415"/>
                  <a:pt x="1272741" y="0"/>
                </a:cubicBezTo>
                <a:cubicBezTo>
                  <a:pt x="1510160" y="-3415"/>
                  <a:pt x="1715159" y="7272"/>
                  <a:pt x="1961656" y="0"/>
                </a:cubicBezTo>
                <a:cubicBezTo>
                  <a:pt x="2208154" y="-7272"/>
                  <a:pt x="2255511" y="63288"/>
                  <a:pt x="2545483" y="0"/>
                </a:cubicBezTo>
                <a:cubicBezTo>
                  <a:pt x="2835455" y="-63288"/>
                  <a:pt x="2930426" y="16769"/>
                  <a:pt x="3129309" y="0"/>
                </a:cubicBezTo>
                <a:cubicBezTo>
                  <a:pt x="3328192" y="-16769"/>
                  <a:pt x="3507946" y="16419"/>
                  <a:pt x="3713135" y="0"/>
                </a:cubicBezTo>
                <a:cubicBezTo>
                  <a:pt x="3918324" y="-16419"/>
                  <a:pt x="3857030" y="24876"/>
                  <a:pt x="3981695" y="0"/>
                </a:cubicBezTo>
                <a:cubicBezTo>
                  <a:pt x="4106360" y="-24876"/>
                  <a:pt x="4391043" y="17540"/>
                  <a:pt x="4670610" y="0"/>
                </a:cubicBezTo>
                <a:cubicBezTo>
                  <a:pt x="4950178" y="-17540"/>
                  <a:pt x="4806059" y="11237"/>
                  <a:pt x="4939170" y="0"/>
                </a:cubicBezTo>
                <a:cubicBezTo>
                  <a:pt x="5072281" y="-11237"/>
                  <a:pt x="5350301" y="15309"/>
                  <a:pt x="5522997" y="0"/>
                </a:cubicBezTo>
                <a:cubicBezTo>
                  <a:pt x="5695693" y="-15309"/>
                  <a:pt x="6139660" y="41021"/>
                  <a:pt x="6317000" y="0"/>
                </a:cubicBezTo>
                <a:cubicBezTo>
                  <a:pt x="6494340" y="-41021"/>
                  <a:pt x="6890589" y="63051"/>
                  <a:pt x="7111004" y="0"/>
                </a:cubicBezTo>
                <a:cubicBezTo>
                  <a:pt x="7331419" y="-63051"/>
                  <a:pt x="7582924" y="13127"/>
                  <a:pt x="7799919" y="0"/>
                </a:cubicBezTo>
                <a:cubicBezTo>
                  <a:pt x="8016915" y="-13127"/>
                  <a:pt x="8148802" y="15907"/>
                  <a:pt x="8278657" y="0"/>
                </a:cubicBezTo>
                <a:cubicBezTo>
                  <a:pt x="8408512" y="-15907"/>
                  <a:pt x="8422728" y="25009"/>
                  <a:pt x="8547217" y="0"/>
                </a:cubicBezTo>
                <a:cubicBezTo>
                  <a:pt x="8671706" y="-25009"/>
                  <a:pt x="8811855" y="34895"/>
                  <a:pt x="9025954" y="0"/>
                </a:cubicBezTo>
                <a:cubicBezTo>
                  <a:pt x="9240053" y="-34895"/>
                  <a:pt x="9504339" y="66303"/>
                  <a:pt x="9714869" y="0"/>
                </a:cubicBezTo>
                <a:cubicBezTo>
                  <a:pt x="9925400" y="-66303"/>
                  <a:pt x="10323266" y="59261"/>
                  <a:pt x="10508873" y="0"/>
                </a:cubicBezTo>
                <a:cubicBezTo>
                  <a:pt x="10562563" y="99313"/>
                  <a:pt x="10494600" y="272649"/>
                  <a:pt x="10508873" y="448281"/>
                </a:cubicBezTo>
                <a:cubicBezTo>
                  <a:pt x="10523146" y="623913"/>
                  <a:pt x="10492815" y="773080"/>
                  <a:pt x="10508873" y="943749"/>
                </a:cubicBezTo>
                <a:cubicBezTo>
                  <a:pt x="10524931" y="1114418"/>
                  <a:pt x="10428366" y="1378803"/>
                  <a:pt x="10508873" y="1627967"/>
                </a:cubicBezTo>
                <a:cubicBezTo>
                  <a:pt x="10589380" y="1877131"/>
                  <a:pt x="10496335" y="1913687"/>
                  <a:pt x="10508873" y="2123435"/>
                </a:cubicBezTo>
                <a:cubicBezTo>
                  <a:pt x="10521411" y="2333183"/>
                  <a:pt x="10481401" y="2467852"/>
                  <a:pt x="10508873" y="2760466"/>
                </a:cubicBezTo>
                <a:cubicBezTo>
                  <a:pt x="10536345" y="3053080"/>
                  <a:pt x="10433245" y="3177550"/>
                  <a:pt x="10508873" y="3444684"/>
                </a:cubicBezTo>
                <a:cubicBezTo>
                  <a:pt x="10584501" y="3711818"/>
                  <a:pt x="10459218" y="3679113"/>
                  <a:pt x="10508873" y="3892965"/>
                </a:cubicBezTo>
                <a:cubicBezTo>
                  <a:pt x="10558528" y="4106817"/>
                  <a:pt x="10438577" y="4505729"/>
                  <a:pt x="10508873" y="4718745"/>
                </a:cubicBezTo>
                <a:cubicBezTo>
                  <a:pt x="10337640" y="4771511"/>
                  <a:pt x="9947732" y="4645060"/>
                  <a:pt x="9714869" y="4718745"/>
                </a:cubicBezTo>
                <a:cubicBezTo>
                  <a:pt x="9482006" y="4792430"/>
                  <a:pt x="9218192" y="4684569"/>
                  <a:pt x="8920866" y="4718745"/>
                </a:cubicBezTo>
                <a:cubicBezTo>
                  <a:pt x="8623540" y="4752921"/>
                  <a:pt x="8558109" y="4668657"/>
                  <a:pt x="8442128" y="4718745"/>
                </a:cubicBezTo>
                <a:cubicBezTo>
                  <a:pt x="8326147" y="4768833"/>
                  <a:pt x="7982294" y="4662319"/>
                  <a:pt x="7858302" y="4718745"/>
                </a:cubicBezTo>
                <a:cubicBezTo>
                  <a:pt x="7734310" y="4775171"/>
                  <a:pt x="7606845" y="4686909"/>
                  <a:pt x="7484653" y="4718745"/>
                </a:cubicBezTo>
                <a:cubicBezTo>
                  <a:pt x="7362461" y="4750581"/>
                  <a:pt x="7024870" y="4664064"/>
                  <a:pt x="6795738" y="4718745"/>
                </a:cubicBezTo>
                <a:cubicBezTo>
                  <a:pt x="6566606" y="4773426"/>
                  <a:pt x="6326762" y="4708535"/>
                  <a:pt x="6001734" y="4718745"/>
                </a:cubicBezTo>
                <a:cubicBezTo>
                  <a:pt x="5676706" y="4728955"/>
                  <a:pt x="5665087" y="4699596"/>
                  <a:pt x="5522997" y="4718745"/>
                </a:cubicBezTo>
                <a:cubicBezTo>
                  <a:pt x="5380907" y="4737894"/>
                  <a:pt x="5050534" y="4643399"/>
                  <a:pt x="4728993" y="4718745"/>
                </a:cubicBezTo>
                <a:cubicBezTo>
                  <a:pt x="4407452" y="4794091"/>
                  <a:pt x="4336231" y="4700760"/>
                  <a:pt x="4145167" y="4718745"/>
                </a:cubicBezTo>
                <a:cubicBezTo>
                  <a:pt x="3954103" y="4736730"/>
                  <a:pt x="3518993" y="4673995"/>
                  <a:pt x="3351163" y="4718745"/>
                </a:cubicBezTo>
                <a:cubicBezTo>
                  <a:pt x="3183333" y="4763495"/>
                  <a:pt x="2808043" y="4683661"/>
                  <a:pt x="2557159" y="4718745"/>
                </a:cubicBezTo>
                <a:cubicBezTo>
                  <a:pt x="2306275" y="4753829"/>
                  <a:pt x="2355284" y="4693025"/>
                  <a:pt x="2183510" y="4718745"/>
                </a:cubicBezTo>
                <a:cubicBezTo>
                  <a:pt x="2011736" y="4744465"/>
                  <a:pt x="1841331" y="4681777"/>
                  <a:pt x="1704773" y="4718745"/>
                </a:cubicBezTo>
                <a:cubicBezTo>
                  <a:pt x="1568215" y="4755713"/>
                  <a:pt x="1255947" y="4657348"/>
                  <a:pt x="1120946" y="4718745"/>
                </a:cubicBezTo>
                <a:cubicBezTo>
                  <a:pt x="985945" y="4780142"/>
                  <a:pt x="722191" y="4713135"/>
                  <a:pt x="537120" y="4718745"/>
                </a:cubicBezTo>
                <a:cubicBezTo>
                  <a:pt x="352049" y="4724355"/>
                  <a:pt x="128668" y="4670505"/>
                  <a:pt x="0" y="4718745"/>
                </a:cubicBezTo>
                <a:cubicBezTo>
                  <a:pt x="-32336" y="4510478"/>
                  <a:pt x="32783" y="4400684"/>
                  <a:pt x="0" y="4223277"/>
                </a:cubicBezTo>
                <a:cubicBezTo>
                  <a:pt x="-32783" y="4045870"/>
                  <a:pt x="18396" y="3724091"/>
                  <a:pt x="0" y="3539059"/>
                </a:cubicBezTo>
                <a:cubicBezTo>
                  <a:pt x="-18396" y="3354027"/>
                  <a:pt x="39022" y="3148350"/>
                  <a:pt x="0" y="2996403"/>
                </a:cubicBezTo>
                <a:cubicBezTo>
                  <a:pt x="-39022" y="2844456"/>
                  <a:pt x="59472" y="2476131"/>
                  <a:pt x="0" y="2312185"/>
                </a:cubicBezTo>
                <a:cubicBezTo>
                  <a:pt x="-59472" y="2148239"/>
                  <a:pt x="56877" y="1921906"/>
                  <a:pt x="0" y="1769529"/>
                </a:cubicBezTo>
                <a:cubicBezTo>
                  <a:pt x="-56877" y="1617152"/>
                  <a:pt x="22184" y="1274126"/>
                  <a:pt x="0" y="1132499"/>
                </a:cubicBezTo>
                <a:cubicBezTo>
                  <a:pt x="-22184" y="990872"/>
                  <a:pt x="50815" y="815381"/>
                  <a:pt x="0" y="637031"/>
                </a:cubicBezTo>
                <a:cubicBezTo>
                  <a:pt x="-50815" y="458681"/>
                  <a:pt x="15184" y="235687"/>
                  <a:pt x="0" y="0"/>
                </a:cubicBezTo>
                <a:close/>
              </a:path>
              <a:path w="10508873" h="4718745" stroke="0" extrusionOk="0">
                <a:moveTo>
                  <a:pt x="0" y="0"/>
                </a:moveTo>
                <a:cubicBezTo>
                  <a:pt x="196604" y="-29093"/>
                  <a:pt x="248178" y="53903"/>
                  <a:pt x="478738" y="0"/>
                </a:cubicBezTo>
                <a:cubicBezTo>
                  <a:pt x="709298" y="-53903"/>
                  <a:pt x="631329" y="9516"/>
                  <a:pt x="747298" y="0"/>
                </a:cubicBezTo>
                <a:cubicBezTo>
                  <a:pt x="863267" y="-9516"/>
                  <a:pt x="1174290" y="25914"/>
                  <a:pt x="1541301" y="0"/>
                </a:cubicBezTo>
                <a:cubicBezTo>
                  <a:pt x="1908312" y="-25914"/>
                  <a:pt x="1814161" y="4381"/>
                  <a:pt x="2020039" y="0"/>
                </a:cubicBezTo>
                <a:cubicBezTo>
                  <a:pt x="2225917" y="-4381"/>
                  <a:pt x="2340174" y="5559"/>
                  <a:pt x="2498776" y="0"/>
                </a:cubicBezTo>
                <a:cubicBezTo>
                  <a:pt x="2657378" y="-5559"/>
                  <a:pt x="2963488" y="62443"/>
                  <a:pt x="3292780" y="0"/>
                </a:cubicBezTo>
                <a:cubicBezTo>
                  <a:pt x="3622072" y="-62443"/>
                  <a:pt x="3541227" y="18708"/>
                  <a:pt x="3666429" y="0"/>
                </a:cubicBezTo>
                <a:cubicBezTo>
                  <a:pt x="3791631" y="-18708"/>
                  <a:pt x="4071022" y="23563"/>
                  <a:pt x="4460433" y="0"/>
                </a:cubicBezTo>
                <a:cubicBezTo>
                  <a:pt x="4849844" y="-23563"/>
                  <a:pt x="5052088" y="622"/>
                  <a:pt x="5254436" y="0"/>
                </a:cubicBezTo>
                <a:cubicBezTo>
                  <a:pt x="5456784" y="-622"/>
                  <a:pt x="5655879" y="41978"/>
                  <a:pt x="5838263" y="0"/>
                </a:cubicBezTo>
                <a:cubicBezTo>
                  <a:pt x="6020647" y="-41978"/>
                  <a:pt x="6306948" y="73892"/>
                  <a:pt x="6632267" y="0"/>
                </a:cubicBezTo>
                <a:cubicBezTo>
                  <a:pt x="6957586" y="-73892"/>
                  <a:pt x="6951696" y="54309"/>
                  <a:pt x="7111004" y="0"/>
                </a:cubicBezTo>
                <a:cubicBezTo>
                  <a:pt x="7270312" y="-54309"/>
                  <a:pt x="7367390" y="28207"/>
                  <a:pt x="7589742" y="0"/>
                </a:cubicBezTo>
                <a:cubicBezTo>
                  <a:pt x="7812094" y="-28207"/>
                  <a:pt x="7948917" y="17961"/>
                  <a:pt x="8278657" y="0"/>
                </a:cubicBezTo>
                <a:cubicBezTo>
                  <a:pt x="8608398" y="-17961"/>
                  <a:pt x="8526844" y="51208"/>
                  <a:pt x="8757394" y="0"/>
                </a:cubicBezTo>
                <a:cubicBezTo>
                  <a:pt x="8987944" y="-51208"/>
                  <a:pt x="9253534" y="82171"/>
                  <a:pt x="9551398" y="0"/>
                </a:cubicBezTo>
                <a:cubicBezTo>
                  <a:pt x="9849262" y="-82171"/>
                  <a:pt x="10085572" y="31498"/>
                  <a:pt x="10508873" y="0"/>
                </a:cubicBezTo>
                <a:cubicBezTo>
                  <a:pt x="10540395" y="213952"/>
                  <a:pt x="10460236" y="399134"/>
                  <a:pt x="10508873" y="589843"/>
                </a:cubicBezTo>
                <a:cubicBezTo>
                  <a:pt x="10557510" y="780552"/>
                  <a:pt x="10447787" y="1001895"/>
                  <a:pt x="10508873" y="1226874"/>
                </a:cubicBezTo>
                <a:cubicBezTo>
                  <a:pt x="10569959" y="1451853"/>
                  <a:pt x="10465859" y="1542247"/>
                  <a:pt x="10508873" y="1675154"/>
                </a:cubicBezTo>
                <a:cubicBezTo>
                  <a:pt x="10551887" y="1808061"/>
                  <a:pt x="10463530" y="1949653"/>
                  <a:pt x="10508873" y="2170623"/>
                </a:cubicBezTo>
                <a:cubicBezTo>
                  <a:pt x="10554216" y="2391593"/>
                  <a:pt x="10500273" y="2656456"/>
                  <a:pt x="10508873" y="2807653"/>
                </a:cubicBezTo>
                <a:cubicBezTo>
                  <a:pt x="10517473" y="2958850"/>
                  <a:pt x="10477310" y="3174049"/>
                  <a:pt x="10508873" y="3350309"/>
                </a:cubicBezTo>
                <a:cubicBezTo>
                  <a:pt x="10540436" y="3526569"/>
                  <a:pt x="10468474" y="3635174"/>
                  <a:pt x="10508873" y="3845777"/>
                </a:cubicBezTo>
                <a:cubicBezTo>
                  <a:pt x="10549272" y="4056380"/>
                  <a:pt x="10472824" y="4543777"/>
                  <a:pt x="10508873" y="4718745"/>
                </a:cubicBezTo>
                <a:cubicBezTo>
                  <a:pt x="10252746" y="4763521"/>
                  <a:pt x="10204932" y="4679238"/>
                  <a:pt x="9925047" y="4718745"/>
                </a:cubicBezTo>
                <a:cubicBezTo>
                  <a:pt x="9645162" y="4758252"/>
                  <a:pt x="9597610" y="4689589"/>
                  <a:pt x="9341220" y="4718745"/>
                </a:cubicBezTo>
                <a:cubicBezTo>
                  <a:pt x="9084830" y="4747901"/>
                  <a:pt x="9060898" y="4685556"/>
                  <a:pt x="8967572" y="4718745"/>
                </a:cubicBezTo>
                <a:cubicBezTo>
                  <a:pt x="8874246" y="4751934"/>
                  <a:pt x="8486672" y="4662167"/>
                  <a:pt x="8278657" y="4718745"/>
                </a:cubicBezTo>
                <a:cubicBezTo>
                  <a:pt x="8070643" y="4775323"/>
                  <a:pt x="8029684" y="4715194"/>
                  <a:pt x="7905008" y="4718745"/>
                </a:cubicBezTo>
                <a:cubicBezTo>
                  <a:pt x="7780332" y="4722296"/>
                  <a:pt x="7470500" y="4651156"/>
                  <a:pt x="7216093" y="4718745"/>
                </a:cubicBezTo>
                <a:cubicBezTo>
                  <a:pt x="6961686" y="4786334"/>
                  <a:pt x="7057305" y="4698234"/>
                  <a:pt x="6947533" y="4718745"/>
                </a:cubicBezTo>
                <a:cubicBezTo>
                  <a:pt x="6837761" y="4739256"/>
                  <a:pt x="6476290" y="4649799"/>
                  <a:pt x="6258618" y="4718745"/>
                </a:cubicBezTo>
                <a:cubicBezTo>
                  <a:pt x="6040946" y="4787691"/>
                  <a:pt x="6005134" y="4700812"/>
                  <a:pt x="5884969" y="4718745"/>
                </a:cubicBezTo>
                <a:cubicBezTo>
                  <a:pt x="5764804" y="4736678"/>
                  <a:pt x="5746841" y="4687034"/>
                  <a:pt x="5616409" y="4718745"/>
                </a:cubicBezTo>
                <a:cubicBezTo>
                  <a:pt x="5485977" y="4750456"/>
                  <a:pt x="5340618" y="4686179"/>
                  <a:pt x="5242760" y="4718745"/>
                </a:cubicBezTo>
                <a:cubicBezTo>
                  <a:pt x="5144902" y="4751311"/>
                  <a:pt x="4847458" y="4683733"/>
                  <a:pt x="4553845" y="4718745"/>
                </a:cubicBezTo>
                <a:cubicBezTo>
                  <a:pt x="4260233" y="4753757"/>
                  <a:pt x="4266582" y="4697781"/>
                  <a:pt x="4180196" y="4718745"/>
                </a:cubicBezTo>
                <a:cubicBezTo>
                  <a:pt x="4093810" y="4739709"/>
                  <a:pt x="3969905" y="4690052"/>
                  <a:pt x="3911636" y="4718745"/>
                </a:cubicBezTo>
                <a:cubicBezTo>
                  <a:pt x="3853367" y="4747438"/>
                  <a:pt x="3622562" y="4716426"/>
                  <a:pt x="3537987" y="4718745"/>
                </a:cubicBezTo>
                <a:cubicBezTo>
                  <a:pt x="3453412" y="4721064"/>
                  <a:pt x="3191466" y="4680540"/>
                  <a:pt x="3059250" y="4718745"/>
                </a:cubicBezTo>
                <a:cubicBezTo>
                  <a:pt x="2927034" y="4756950"/>
                  <a:pt x="2690023" y="4681144"/>
                  <a:pt x="2475423" y="4718745"/>
                </a:cubicBezTo>
                <a:cubicBezTo>
                  <a:pt x="2260823" y="4756346"/>
                  <a:pt x="2262808" y="4718315"/>
                  <a:pt x="2101775" y="4718745"/>
                </a:cubicBezTo>
                <a:cubicBezTo>
                  <a:pt x="1940742" y="4719175"/>
                  <a:pt x="1480037" y="4677621"/>
                  <a:pt x="1307771" y="4718745"/>
                </a:cubicBezTo>
                <a:cubicBezTo>
                  <a:pt x="1135505" y="4759869"/>
                  <a:pt x="1006618" y="4698853"/>
                  <a:pt x="723945" y="4718745"/>
                </a:cubicBezTo>
                <a:cubicBezTo>
                  <a:pt x="441272" y="4738637"/>
                  <a:pt x="148221" y="4705097"/>
                  <a:pt x="0" y="4718745"/>
                </a:cubicBezTo>
                <a:cubicBezTo>
                  <a:pt x="-13490" y="4569886"/>
                  <a:pt x="39713" y="4258797"/>
                  <a:pt x="0" y="4081714"/>
                </a:cubicBezTo>
                <a:cubicBezTo>
                  <a:pt x="-39713" y="3904631"/>
                  <a:pt x="68669" y="3609918"/>
                  <a:pt x="0" y="3491871"/>
                </a:cubicBezTo>
                <a:cubicBezTo>
                  <a:pt x="-68669" y="3373824"/>
                  <a:pt x="19116" y="3063308"/>
                  <a:pt x="0" y="2949216"/>
                </a:cubicBezTo>
                <a:cubicBezTo>
                  <a:pt x="-19116" y="2835125"/>
                  <a:pt x="36056" y="2623329"/>
                  <a:pt x="0" y="2312185"/>
                </a:cubicBezTo>
                <a:cubicBezTo>
                  <a:pt x="-36056" y="2001041"/>
                  <a:pt x="67478" y="1995919"/>
                  <a:pt x="0" y="1722342"/>
                </a:cubicBezTo>
                <a:cubicBezTo>
                  <a:pt x="-67478" y="1448765"/>
                  <a:pt x="21554" y="1224458"/>
                  <a:pt x="0" y="1038124"/>
                </a:cubicBezTo>
                <a:cubicBezTo>
                  <a:pt x="-21554" y="851790"/>
                  <a:pt x="17393" y="213660"/>
                  <a:pt x="0" y="0"/>
                </a:cubicBezTo>
                <a:close/>
              </a:path>
            </a:pathLst>
          </a:custGeom>
          <a:ln w="57150">
            <a:solidFill>
              <a:schemeClr val="accent3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4E2A0835-121A-A0B8-CC15-77B895BF7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877930"/>
              </p:ext>
            </p:extLst>
          </p:nvPr>
        </p:nvGraphicFramePr>
        <p:xfrm>
          <a:off x="13120781" y="8955677"/>
          <a:ext cx="9775636" cy="2768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619722058"/>
                    </a:ext>
                  </a:extLst>
                </a:gridCol>
                <a:gridCol w="6346636">
                  <a:extLst>
                    <a:ext uri="{9D8B030D-6E8A-4147-A177-3AD203B41FA5}">
                      <a16:colId xmlns:a16="http://schemas.microsoft.com/office/drawing/2014/main" val="2812369670"/>
                    </a:ext>
                  </a:extLst>
                </a:gridCol>
              </a:tblGrid>
              <a:tr h="6921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ko-KR" sz="3000" b="0" kern="1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구분</a:t>
                      </a:r>
                      <a:endParaRPr lang="ko-KR" sz="3000" b="0" kern="100" dirty="0">
                        <a:solidFill>
                          <a:schemeClr val="tx1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altLang="ko-KR" sz="3000" b="0" kern="100" dirty="0" err="1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Times New Roman" panose="02020603050405020304" pitchFamily="18" charset="0"/>
                        </a:rPr>
                        <a:t>Multi_fc</a:t>
                      </a:r>
                      <a:endParaRPr lang="ko-KR" sz="3000" b="0" kern="100" dirty="0">
                        <a:solidFill>
                          <a:schemeClr val="tx1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28256"/>
                  </a:ext>
                </a:extLst>
              </a:tr>
              <a:tr h="6921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ko-KR" sz="3000" b="0" kern="100" dirty="0">
                          <a:solidFill>
                            <a:sysClr val="windowText" lastClr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핵심</a:t>
                      </a:r>
                      <a:endParaRPr lang="ko-KR" sz="3000" b="0" kern="100" dirty="0">
                        <a:solidFill>
                          <a:sysClr val="windowText" lastClr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ko-KR" sz="3000" kern="1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Times New Roman" panose="02020603050405020304" pitchFamily="18" charset="0"/>
                        </a:rPr>
                        <a:t>사용자 매칭 및 소통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960539"/>
                  </a:ext>
                </a:extLst>
              </a:tr>
              <a:tr h="6921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ko-KR" sz="3000" b="0" kern="100" dirty="0">
                          <a:solidFill>
                            <a:sysClr val="windowText" lastClr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가치 제안</a:t>
                      </a:r>
                      <a:endParaRPr lang="ko-KR" sz="3000" b="0" kern="100" dirty="0">
                        <a:solidFill>
                          <a:sysClr val="windowText" lastClr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ko-KR" sz="3000" kern="1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Times New Roman" panose="02020603050405020304" pitchFamily="18" charset="0"/>
                        </a:rPr>
                        <a:t>실시간 소통과 관계망 중심의 역동적 매칭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776207"/>
                  </a:ext>
                </a:extLst>
              </a:tr>
              <a:tr h="6921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ko-KR" sz="3000" b="0" kern="100" dirty="0">
                          <a:solidFill>
                            <a:sysClr val="windowText" lastClr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해결 목표</a:t>
                      </a:r>
                      <a:endParaRPr lang="ko-KR" sz="3000" b="0" kern="100" dirty="0">
                        <a:solidFill>
                          <a:sysClr val="windowText" lastClr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ko-KR" sz="3000" kern="1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Times New Roman" panose="02020603050405020304" pitchFamily="18" charset="0"/>
                        </a:rPr>
                        <a:t>함께 뛸 사람을 찾는 여정의 완결성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835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873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3200400"/>
            <a:ext cx="22326600" cy="16002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3136900" y="3702050"/>
            <a:ext cx="1765935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ko-KR" altLang="ko-KR" sz="3330" kern="0" dirty="0">
                <a:effectLst/>
                <a:latin typeface="나눔휴먼OTF Regular" panose="020B0600000101010101" pitchFamily="34" charset="-127"/>
                <a:ea typeface="나눔휴먼OTF Regular" panose="020B0600000101010101" pitchFamily="34" charset="-127"/>
                <a:cs typeface="Arial Unicode MS"/>
              </a:rPr>
              <a:t>기존 동호회 중심의 </a:t>
            </a:r>
            <a:r>
              <a:rPr lang="ko-KR" altLang="ko-KR" sz="3330" kern="0" dirty="0" err="1">
                <a:effectLst/>
                <a:latin typeface="나눔휴먼OTF Regular" panose="020B0600000101010101" pitchFamily="34" charset="-127"/>
                <a:ea typeface="나눔휴먼OTF Regular" panose="020B0600000101010101" pitchFamily="34" charset="-127"/>
                <a:cs typeface="Arial Unicode MS"/>
              </a:rPr>
              <a:t>풋살</a:t>
            </a:r>
            <a:r>
              <a:rPr lang="ko-KR" altLang="ko-KR" sz="3330" kern="0" dirty="0">
                <a:effectLst/>
                <a:latin typeface="나눔휴먼OTF Regular" panose="020B0600000101010101" pitchFamily="34" charset="-127"/>
                <a:ea typeface="나눔휴먼OTF Regular" panose="020B0600000101010101" pitchFamily="34" charset="-127"/>
                <a:cs typeface="Arial Unicode MS"/>
              </a:rPr>
              <a:t> 환경에서는 개인 사용자가 팀에 참여하거나 경기를 개설하기 어렵다는 한계</a:t>
            </a:r>
            <a:r>
              <a:rPr lang="ko-KR" altLang="en-US" sz="3330" kern="0" dirty="0">
                <a:latin typeface="나눔휴먼OTF Regular" panose="020B0600000101010101" pitchFamily="34" charset="-127"/>
                <a:ea typeface="나눔휴먼OTF Regular" panose="020B0600000101010101" pitchFamily="34" charset="-127"/>
                <a:cs typeface="Arial Unicode MS"/>
              </a:rPr>
              <a:t> 존재</a:t>
            </a:r>
            <a:endParaRPr lang="en" sz="3330" i="0" u="none" strike="noStrike" dirty="0">
              <a:solidFill>
                <a:srgbClr val="464749"/>
              </a:solidFill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5499100"/>
            <a:ext cx="22326600" cy="16002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7920038" y="6000750"/>
            <a:ext cx="8093075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ko-KR" altLang="en-US" sz="3330" i="0" u="none" strike="noStrike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기존 </a:t>
            </a:r>
            <a:r>
              <a:rPr lang="ko-KR" altLang="en-US" sz="3330" i="0" u="none" strike="noStrike" dirty="0" err="1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풋살</a:t>
            </a:r>
            <a:r>
              <a:rPr lang="ko-KR" altLang="en-US" sz="3330" i="0" u="none" strike="noStrike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 어플의 경우 실시간 소통에 한계 존재</a:t>
            </a:r>
            <a:endParaRPr lang="en" sz="3330" i="0" u="none" strike="noStrike" dirty="0"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632200"/>
            <a:ext cx="749300" cy="7239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511300" y="3733800"/>
            <a:ext cx="469900" cy="5334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en" sz="2970" b="0" i="0" u="none" strike="noStrike" dirty="0">
                <a:solidFill>
                  <a:srgbClr val="464749"/>
                </a:solidFill>
                <a:latin typeface="Bricolage Grotesque ExtraBold"/>
              </a:rPr>
              <a:t>1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5930900"/>
            <a:ext cx="749300" cy="7239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511300" y="6032500"/>
            <a:ext cx="469900" cy="5334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en" sz="2970" b="0" i="0" u="none" strike="noStrike" dirty="0">
                <a:solidFill>
                  <a:srgbClr val="464749"/>
                </a:solidFill>
                <a:latin typeface="Bricolage Grotesque ExtraBold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b="0" i="0" u="none" strike="noStrike" dirty="0">
                <a:solidFill>
                  <a:srgbClr val="787878"/>
                </a:solidFill>
                <a:latin typeface="Poppins Regular"/>
              </a:rPr>
              <a:t>09</a:t>
            </a:r>
          </a:p>
        </p:txBody>
      </p:sp>
      <p:sp>
        <p:nvSpPr>
          <p:cNvPr id="23" name="TextBox 15">
            <a:extLst>
              <a:ext uri="{FF2B5EF4-FFF2-40B4-BE49-F238E27FC236}">
                <a16:creationId xmlns:a16="http://schemas.microsoft.com/office/drawing/2014/main" id="{DCD99E1C-EF1F-865A-55B0-7558417416B9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endParaRPr lang="en" sz="2592" b="0" i="0" u="none" strike="noStrike" dirty="0">
              <a:solidFill>
                <a:srgbClr val="787878"/>
              </a:solidFill>
              <a:latin typeface="Poppins Regular"/>
            </a:endParaRPr>
          </a:p>
        </p:txBody>
      </p:sp>
      <p:sp>
        <p:nvSpPr>
          <p:cNvPr id="24" name="TextBox 16">
            <a:extLst>
              <a:ext uri="{FF2B5EF4-FFF2-40B4-BE49-F238E27FC236}">
                <a16:creationId xmlns:a16="http://schemas.microsoft.com/office/drawing/2014/main" id="{CBDE3ED4-06D7-94CF-9191-113E953333BC}"/>
              </a:ext>
            </a:extLst>
          </p:cNvPr>
          <p:cNvSpPr txBox="1"/>
          <p:nvPr/>
        </p:nvSpPr>
        <p:spPr>
          <a:xfrm>
            <a:off x="914402" y="965200"/>
            <a:ext cx="5791200" cy="2768600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소개</a:t>
            </a:r>
            <a:endParaRPr lang="ko-KR" altLang="en-US" sz="5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77B2C39-2678-59B1-A65B-DBB9ACDD10C9}"/>
              </a:ext>
            </a:extLst>
          </p:cNvPr>
          <p:cNvSpPr/>
          <p:nvPr/>
        </p:nvSpPr>
        <p:spPr>
          <a:xfrm>
            <a:off x="457200" y="1179946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0701DC1-E9FD-727F-8A11-2D490CCBBA4B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0E6B5F72-07FF-EEE8-D936-D2ED4C0F1EE4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29" name="TextBox 5">
                <a:extLst>
                  <a:ext uri="{FF2B5EF4-FFF2-40B4-BE49-F238E27FC236}">
                    <a16:creationId xmlns:a16="http://schemas.microsoft.com/office/drawing/2014/main" id="{1465A6EF-5D88-481E-C76E-AEED561A171E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0" name="그림 29">
                <a:extLst>
                  <a:ext uri="{FF2B5EF4-FFF2-40B4-BE49-F238E27FC236}">
                    <a16:creationId xmlns:a16="http://schemas.microsoft.com/office/drawing/2014/main" id="{DDB05423-3B59-8BDD-D052-98EC7C7E61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28" name="Picture 5">
              <a:extLst>
                <a:ext uri="{FF2B5EF4-FFF2-40B4-BE49-F238E27FC236}">
                  <a16:creationId xmlns:a16="http://schemas.microsoft.com/office/drawing/2014/main" id="{8FB0D803-CBD4-1AD5-BE0C-BEAC93F0C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31" name="Picture 5">
            <a:extLst>
              <a:ext uri="{FF2B5EF4-FFF2-40B4-BE49-F238E27FC236}">
                <a16:creationId xmlns:a16="http://schemas.microsoft.com/office/drawing/2014/main" id="{75DF8C48-0524-8B7C-4575-587EF6A262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pic>
        <p:nvPicPr>
          <p:cNvPr id="40" name="Picture 3">
            <a:extLst>
              <a:ext uri="{FF2B5EF4-FFF2-40B4-BE49-F238E27FC236}">
                <a16:creationId xmlns:a16="http://schemas.microsoft.com/office/drawing/2014/main" id="{BD9E4DEA-4574-7194-017B-1EEC3A5E7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166" y="8839200"/>
            <a:ext cx="22326600" cy="1600200"/>
          </a:xfrm>
          <a:prstGeom prst="rect">
            <a:avLst/>
          </a:prstGeom>
        </p:spPr>
      </p:pic>
      <p:sp>
        <p:nvSpPr>
          <p:cNvPr id="41" name="TextBox 5">
            <a:extLst>
              <a:ext uri="{FF2B5EF4-FFF2-40B4-BE49-F238E27FC236}">
                <a16:creationId xmlns:a16="http://schemas.microsoft.com/office/drawing/2014/main" id="{42DF23BB-D9B4-6293-3DE9-10742FC080D8}"/>
              </a:ext>
            </a:extLst>
          </p:cNvPr>
          <p:cNvSpPr txBox="1"/>
          <p:nvPr/>
        </p:nvSpPr>
        <p:spPr>
          <a:xfrm>
            <a:off x="4911898" y="9340850"/>
            <a:ext cx="14560204" cy="596900"/>
          </a:xfrm>
          <a:prstGeom prst="rect">
            <a:avLst/>
          </a:prstGeom>
        </p:spPr>
        <p:txBody>
          <a:bodyPr rtlCol="0" anchor="t"/>
          <a:lstStyle/>
          <a:p>
            <a:pPr lvl="0">
              <a:defRPr/>
            </a:pPr>
            <a:r>
              <a:rPr lang="ko-KR" altLang="en-US" sz="4000" i="0" u="none" strike="noStrike" baseline="0" dirty="0">
                <a:solidFill>
                  <a:srgbClr val="3E923A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  <a:cs typeface="맑은 고딕"/>
              </a:rPr>
              <a:t>개인 중심의 경기 개설</a:t>
            </a:r>
            <a:r>
              <a:rPr lang="ko-KR" altLang="en-US" sz="4000" i="0" u="none" strike="noStrike" baseline="0" dirty="0">
                <a:latin typeface="나눔휴먼OTF Regular" panose="020B0600000101010101" pitchFamily="34" charset="-127"/>
                <a:ea typeface="나눔휴먼OTF Regular" panose="020B0600000101010101" pitchFamily="34" charset="-127"/>
                <a:cs typeface="맑은 고딕"/>
              </a:rPr>
              <a:t>과 </a:t>
            </a:r>
            <a:r>
              <a:rPr lang="ko-KR" altLang="en-US" sz="4000" i="0" u="none" strike="noStrike" baseline="0" dirty="0">
                <a:solidFill>
                  <a:srgbClr val="3E923A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  <a:cs typeface="맑은 고딕"/>
              </a:rPr>
              <a:t>실시간 팀 매칭 </a:t>
            </a:r>
            <a:r>
              <a:rPr lang="ko-KR" altLang="en-US" sz="4000" i="0" u="none" strike="noStrike" baseline="0" dirty="0">
                <a:latin typeface="나눔휴먼OTF Regular" panose="020B0600000101010101" pitchFamily="34" charset="-127"/>
                <a:ea typeface="나눔휴먼OTF Regular" panose="020B0600000101010101" pitchFamily="34" charset="-127"/>
                <a:cs typeface="맑은 고딕"/>
              </a:rPr>
              <a:t>기능을 통해 이러한 한계점 개선</a:t>
            </a:r>
          </a:p>
        </p:txBody>
      </p:sp>
      <p:pic>
        <p:nvPicPr>
          <p:cNvPr id="42" name="Picture 6">
            <a:extLst>
              <a:ext uri="{FF2B5EF4-FFF2-40B4-BE49-F238E27FC236}">
                <a16:creationId xmlns:a16="http://schemas.microsoft.com/office/drawing/2014/main" id="{1E03C138-9DD8-9069-A828-D801A9BA3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166" y="11137900"/>
            <a:ext cx="22326600" cy="1600200"/>
          </a:xfrm>
          <a:prstGeom prst="rect">
            <a:avLst/>
          </a:prstGeom>
        </p:spPr>
      </p:pic>
      <p:sp>
        <p:nvSpPr>
          <p:cNvPr id="43" name="TextBox 8">
            <a:extLst>
              <a:ext uri="{FF2B5EF4-FFF2-40B4-BE49-F238E27FC236}">
                <a16:creationId xmlns:a16="http://schemas.microsoft.com/office/drawing/2014/main" id="{D62F9A60-0416-5E62-9E35-66E461114B93}"/>
              </a:ext>
            </a:extLst>
          </p:cNvPr>
          <p:cNvSpPr txBox="1"/>
          <p:nvPr/>
        </p:nvSpPr>
        <p:spPr>
          <a:xfrm>
            <a:off x="1829150" y="11639550"/>
            <a:ext cx="20725701" cy="596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4499"/>
              </a:lnSpc>
            </a:pPr>
            <a:r>
              <a:rPr lang="ko-KR" altLang="en-US" sz="40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매칭</a:t>
            </a:r>
            <a:r>
              <a:rPr lang="en-US" altLang="ko-KR" sz="40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, </a:t>
            </a:r>
            <a:r>
              <a:rPr lang="ko-KR" altLang="en-US" sz="40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채팅</a:t>
            </a:r>
            <a:r>
              <a:rPr lang="en-US" altLang="ko-KR" sz="40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, </a:t>
            </a:r>
            <a:r>
              <a:rPr lang="ko-KR" altLang="en-US" sz="40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커뮤니티</a:t>
            </a:r>
            <a:r>
              <a:rPr lang="en-US" altLang="ko-KR" sz="40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, </a:t>
            </a:r>
            <a:r>
              <a:rPr lang="ko-KR" altLang="en-US" sz="40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일정관리 등의 </a:t>
            </a:r>
            <a:r>
              <a:rPr lang="ko-KR" altLang="en-US" sz="4000" dirty="0">
                <a:solidFill>
                  <a:srgbClr val="3E923A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통합적 서비스</a:t>
            </a:r>
            <a:r>
              <a:rPr lang="ko-KR" altLang="en-US" sz="40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를 통해 </a:t>
            </a:r>
            <a:r>
              <a:rPr lang="ko-KR" altLang="en-US" sz="4000" dirty="0">
                <a:solidFill>
                  <a:srgbClr val="3E923A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실시간 소통 중심의 </a:t>
            </a:r>
            <a:r>
              <a:rPr lang="ko-KR" altLang="en-US" sz="4000" dirty="0" err="1">
                <a:solidFill>
                  <a:srgbClr val="3E923A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풋살</a:t>
            </a:r>
            <a:r>
              <a:rPr lang="ko-KR" altLang="en-US" sz="4000" dirty="0">
                <a:solidFill>
                  <a:srgbClr val="3E923A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 커뮤니티 </a:t>
            </a:r>
            <a:r>
              <a:rPr lang="ko-KR" altLang="en-US" sz="40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경험 제공</a:t>
            </a:r>
            <a:endParaRPr lang="en" sz="4000" i="0" u="none" strike="noStrike" dirty="0"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45" name="TextBox 13">
            <a:extLst>
              <a:ext uri="{FF2B5EF4-FFF2-40B4-BE49-F238E27FC236}">
                <a16:creationId xmlns:a16="http://schemas.microsoft.com/office/drawing/2014/main" id="{69488EDB-3C3D-0AB6-76D2-15BF91FD2EA4}"/>
              </a:ext>
            </a:extLst>
          </p:cNvPr>
          <p:cNvSpPr txBox="1"/>
          <p:nvPr/>
        </p:nvSpPr>
        <p:spPr>
          <a:xfrm>
            <a:off x="1502466" y="9372600"/>
            <a:ext cx="469900" cy="5334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endParaRPr lang="en" sz="2970" b="0" i="0" u="none" strike="noStrike" dirty="0">
              <a:solidFill>
                <a:srgbClr val="464749"/>
              </a:solidFill>
              <a:latin typeface="Bricolage Grotesque ExtraBold"/>
            </a:endParaRPr>
          </a:p>
        </p:txBody>
      </p:sp>
      <p:sp>
        <p:nvSpPr>
          <p:cNvPr id="47" name="TextBox 15">
            <a:extLst>
              <a:ext uri="{FF2B5EF4-FFF2-40B4-BE49-F238E27FC236}">
                <a16:creationId xmlns:a16="http://schemas.microsoft.com/office/drawing/2014/main" id="{76C3DD6B-E1DB-F9DE-96FA-A89B7C53F0A8}"/>
              </a:ext>
            </a:extLst>
          </p:cNvPr>
          <p:cNvSpPr txBox="1"/>
          <p:nvPr/>
        </p:nvSpPr>
        <p:spPr>
          <a:xfrm>
            <a:off x="1502466" y="11671300"/>
            <a:ext cx="469900" cy="5334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endParaRPr lang="en" sz="2970" b="0" i="0" u="none" strike="noStrike" dirty="0">
              <a:solidFill>
                <a:srgbClr val="464749"/>
              </a:solidFill>
              <a:latin typeface="Bricolage Grotesque ExtraBold"/>
            </a:endParaRPr>
          </a:p>
        </p:txBody>
      </p:sp>
      <p:sp>
        <p:nvSpPr>
          <p:cNvPr id="48" name="화살표: 아래쪽 47">
            <a:extLst>
              <a:ext uri="{FF2B5EF4-FFF2-40B4-BE49-F238E27FC236}">
                <a16:creationId xmlns:a16="http://schemas.microsoft.com/office/drawing/2014/main" id="{6032D9A8-3205-74FC-C121-68DD99F38DE1}"/>
              </a:ext>
            </a:extLst>
          </p:cNvPr>
          <p:cNvSpPr/>
          <p:nvPr/>
        </p:nvSpPr>
        <p:spPr>
          <a:xfrm>
            <a:off x="11201400" y="7315200"/>
            <a:ext cx="838200" cy="1104899"/>
          </a:xfrm>
          <a:prstGeom prst="downArrow">
            <a:avLst/>
          </a:prstGeom>
          <a:gradFill>
            <a:gsLst>
              <a:gs pos="100000">
                <a:srgbClr val="294717"/>
              </a:gs>
              <a:gs pos="58000">
                <a:srgbClr val="294717"/>
              </a:gs>
              <a:gs pos="0">
                <a:schemeClr val="accent3">
                  <a:lumMod val="60000"/>
                  <a:lumOff val="40000"/>
                </a:schemeClr>
              </a:gs>
              <a:gs pos="20000">
                <a:schemeClr val="accent3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8900" y="3962400"/>
            <a:ext cx="16535400" cy="6324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8839200"/>
            <a:ext cx="6223000" cy="2667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45000" y="8839200"/>
            <a:ext cx="6223000" cy="2667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3900" y="3124200"/>
            <a:ext cx="6223000" cy="2667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14400" y="3124200"/>
            <a:ext cx="6223000" cy="2667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5105400" y="3746500"/>
            <a:ext cx="5067300" cy="952500"/>
          </a:xfrm>
          <a:prstGeom prst="rect">
            <a:avLst/>
          </a:prstGeom>
        </p:spPr>
        <p:txBody>
          <a:bodyPr lIns="0" tIns="67733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333" b="0" i="0" u="none" strike="noStrike" dirty="0">
                <a:solidFill>
                  <a:srgbClr val="3E923A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실시간 채팅</a:t>
            </a:r>
            <a:endParaRPr lang="en" sz="5333" b="0" i="0" u="none" strike="noStrike" dirty="0">
              <a:solidFill>
                <a:srgbClr val="3E923A"/>
              </a:solidFill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940300" y="4673600"/>
            <a:ext cx="53975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en" sz="2400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1 </a:t>
            </a:r>
            <a:r>
              <a:rPr lang="ko-KR" altLang="en-US" sz="2400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대 </a:t>
            </a:r>
            <a:r>
              <a:rPr lang="en-US" altLang="ko-KR" sz="2400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1 • </a:t>
            </a:r>
            <a:r>
              <a:rPr lang="ko-KR" altLang="en-US" sz="2400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그룹 채팅 기능</a:t>
            </a:r>
            <a:endParaRPr lang="en-US" altLang="ko-KR" sz="2400" dirty="0">
              <a:solidFill>
                <a:srgbClr val="464749"/>
              </a:solidFill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058900" y="3746500"/>
            <a:ext cx="5346700" cy="952500"/>
          </a:xfrm>
          <a:prstGeom prst="rect">
            <a:avLst/>
          </a:prstGeom>
        </p:spPr>
        <p:txBody>
          <a:bodyPr lIns="0" tIns="67733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333" b="0" i="0" u="none" strike="noStrike" dirty="0">
                <a:solidFill>
                  <a:srgbClr val="3E923A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커뮤니티</a:t>
            </a:r>
            <a:endParaRPr lang="en" sz="5333" b="0" i="0" u="none" strike="noStrike" dirty="0">
              <a:solidFill>
                <a:srgbClr val="3E923A"/>
              </a:solidFill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033500" y="4673600"/>
            <a:ext cx="53975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ko-KR" altLang="en-US" sz="24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정보 공유 및 소통</a:t>
            </a:r>
            <a:endParaRPr lang="en" sz="2400" b="0" i="0" u="none" strike="noStrike" dirty="0">
              <a:solidFill>
                <a:srgbClr val="464749"/>
              </a:solidFill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625600" y="9448800"/>
            <a:ext cx="5003800" cy="952500"/>
          </a:xfrm>
          <a:prstGeom prst="rect">
            <a:avLst/>
          </a:prstGeom>
        </p:spPr>
        <p:txBody>
          <a:bodyPr lIns="0" tIns="67733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333" b="0" i="0" u="none" strike="noStrike" dirty="0" err="1">
                <a:solidFill>
                  <a:srgbClr val="3E923A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풋살</a:t>
            </a:r>
            <a:r>
              <a:rPr lang="ko-KR" altLang="en-US" sz="5333" b="0" i="0" u="none" strike="noStrike" dirty="0">
                <a:solidFill>
                  <a:srgbClr val="3E923A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 매칭</a:t>
            </a:r>
            <a:endParaRPr lang="en" sz="5333" b="0" i="0" u="none" strike="noStrike" dirty="0">
              <a:solidFill>
                <a:srgbClr val="3E923A"/>
              </a:solidFill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422400" y="10388600"/>
            <a:ext cx="53975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ko-KR" altLang="en-US" sz="24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경기 개설 및 참여</a:t>
            </a:r>
            <a:endParaRPr lang="en" sz="2400" b="0" i="0" u="none" strike="noStrike" dirty="0">
              <a:solidFill>
                <a:srgbClr val="464749"/>
              </a:solidFill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7830800" y="9448800"/>
            <a:ext cx="4851400" cy="952500"/>
          </a:xfrm>
          <a:prstGeom prst="rect">
            <a:avLst/>
          </a:prstGeom>
        </p:spPr>
        <p:txBody>
          <a:bodyPr lIns="0" tIns="67733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333" b="0" i="0" u="none" strike="noStrike" dirty="0">
                <a:solidFill>
                  <a:srgbClr val="3E923A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일정 관리</a:t>
            </a:r>
            <a:endParaRPr lang="en" sz="5333" b="0" i="0" u="none" strike="noStrike" dirty="0">
              <a:solidFill>
                <a:srgbClr val="3E923A"/>
              </a:solidFill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7551400" y="10617200"/>
            <a:ext cx="53975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ko-KR" altLang="en-US" sz="24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매칭 일정 자동 연동</a:t>
            </a:r>
            <a:endParaRPr lang="en-US" altLang="ko-KR" sz="2400" b="0" i="0" u="none" strike="noStrike" dirty="0">
              <a:solidFill>
                <a:srgbClr val="464749"/>
              </a:solidFill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  <a:p>
            <a:pPr lvl="0" algn="ctr">
              <a:lnSpc>
                <a:spcPct val="124499"/>
              </a:lnSpc>
            </a:pPr>
            <a:r>
              <a:rPr lang="ko-KR" altLang="en-US" sz="2400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개인 일정 관리</a:t>
            </a:r>
            <a:endParaRPr lang="en" sz="2400" b="0" i="0" u="none" strike="noStrike" dirty="0">
              <a:solidFill>
                <a:srgbClr val="464749"/>
              </a:solidFill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445500" y="6654800"/>
            <a:ext cx="7493000" cy="3086100"/>
          </a:xfrm>
          <a:prstGeom prst="rect">
            <a:avLst/>
          </a:prstGeom>
        </p:spPr>
        <p:txBody>
          <a:bodyPr lIns="0" tIns="352214" rIns="0" bIns="0" rtlCol="0" anchor="ctr"/>
          <a:lstStyle/>
          <a:p>
            <a:pPr lvl="0" algn="ctr">
              <a:lnSpc>
                <a:spcPct val="73039"/>
              </a:lnSpc>
            </a:pPr>
            <a:r>
              <a:rPr lang="ko-KR" altLang="en-US" sz="10666" b="0" i="0" u="none" strike="noStrike" spc="-320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주요 기능</a:t>
            </a:r>
            <a:endParaRPr lang="en" sz="10666" b="0" i="0" u="none" strike="noStrike" spc="-320" dirty="0">
              <a:solidFill>
                <a:srgbClr val="464749"/>
              </a:solidFill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702550" y="9779000"/>
            <a:ext cx="8978900" cy="8890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ko-KR" altLang="en-US" sz="3000" dirty="0" err="1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풋살</a:t>
            </a:r>
            <a:r>
              <a:rPr lang="ko-KR" altLang="en-US" sz="3000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 매칭</a:t>
            </a:r>
            <a:r>
              <a:rPr lang="en-US" altLang="ko-KR" sz="3000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, </a:t>
            </a:r>
            <a:r>
              <a:rPr lang="ko-KR" altLang="en-US" sz="3000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실시간 채팅</a:t>
            </a:r>
            <a:r>
              <a:rPr lang="en-US" altLang="ko-KR" sz="3000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, </a:t>
            </a:r>
            <a:r>
              <a:rPr lang="ko-KR" altLang="en-US" sz="3000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커뮤니티</a:t>
            </a:r>
            <a:r>
              <a:rPr lang="en-US" altLang="ko-KR" sz="3000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, </a:t>
            </a:r>
            <a:r>
              <a:rPr lang="ko-KR" altLang="en-US" sz="3000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일정 관리를 </a:t>
            </a:r>
            <a:r>
              <a:rPr lang="ko-KR" altLang="en-US" sz="4000" b="1" dirty="0">
                <a:solidFill>
                  <a:srgbClr val="3E923A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한 곳</a:t>
            </a:r>
            <a:r>
              <a:rPr lang="ko-KR" altLang="en-US" sz="3000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 에서</a:t>
            </a:r>
            <a:endParaRPr lang="en-US" altLang="ko-KR" sz="3000" dirty="0">
              <a:solidFill>
                <a:srgbClr val="464749"/>
              </a:solidFill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6500" y="8458200"/>
            <a:ext cx="749300" cy="7239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3886200" y="8547100"/>
            <a:ext cx="469900" cy="5334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en" sz="2970" b="0" i="0" u="none" strike="noStrike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1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77100" y="2717800"/>
            <a:ext cx="749300" cy="7239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7416800" y="2806700"/>
            <a:ext cx="469900" cy="5334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en" sz="2970" b="0" i="0" u="none" strike="noStrike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2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357600" y="2717800"/>
            <a:ext cx="749300" cy="7239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6497300" y="2806700"/>
            <a:ext cx="469900" cy="5334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en" sz="2970" b="0" i="0" u="none" strike="noStrike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3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875500" y="8458200"/>
            <a:ext cx="749300" cy="7239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20015200" y="8547100"/>
            <a:ext cx="469900" cy="5334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en" sz="2970" b="0" i="0" u="none" strike="noStrike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4</a:t>
            </a:r>
          </a:p>
        </p:txBody>
      </p:sp>
      <p:sp>
        <p:nvSpPr>
          <p:cNvPr id="29" name="TextBox 16">
            <a:extLst>
              <a:ext uri="{FF2B5EF4-FFF2-40B4-BE49-F238E27FC236}">
                <a16:creationId xmlns:a16="http://schemas.microsoft.com/office/drawing/2014/main" id="{34FF058A-38ED-74ED-D67F-8388871A6DC9}"/>
              </a:ext>
            </a:extLst>
          </p:cNvPr>
          <p:cNvSpPr txBox="1"/>
          <p:nvPr/>
        </p:nvSpPr>
        <p:spPr>
          <a:xfrm>
            <a:off x="914402" y="965200"/>
            <a:ext cx="5791200" cy="2768600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소개</a:t>
            </a:r>
            <a:endParaRPr lang="ko-KR" altLang="en-US" sz="5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79946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36" name="Picture 5">
            <a:extLst>
              <a:ext uri="{FF2B5EF4-FFF2-40B4-BE49-F238E27FC236}">
                <a16:creationId xmlns:a16="http://schemas.microsoft.com/office/drawing/2014/main" id="{40E41A3A-BE2B-19E1-1D6B-4B3A82D8E15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C29B4866-C17A-A580-B901-71CEB292242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68292" y="10388600"/>
            <a:ext cx="914400" cy="914400"/>
          </a:xfrm>
          <a:prstGeom prst="rect">
            <a:avLst/>
          </a:prstGeom>
        </p:spPr>
      </p:pic>
      <p:pic>
        <p:nvPicPr>
          <p:cNvPr id="38" name="Picture 8">
            <a:extLst>
              <a:ext uri="{FF2B5EF4-FFF2-40B4-BE49-F238E27FC236}">
                <a16:creationId xmlns:a16="http://schemas.microsoft.com/office/drawing/2014/main" id="{82E6B7EC-3EEB-7265-4F1B-7E0C71C9903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39654" y="4648200"/>
            <a:ext cx="1143000" cy="114300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6011A7FC-9976-6E2E-52F6-2165A899BB4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667046" y="4648200"/>
            <a:ext cx="1014046" cy="1014046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40C4C07A-6CA0-DB80-6D00-FDEFCA5F108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402800" y="10515600"/>
            <a:ext cx="838200" cy="838200"/>
          </a:xfrm>
          <a:prstGeom prst="rect">
            <a:avLst/>
          </a:prstGeom>
        </p:spPr>
      </p:pic>
      <p:sp>
        <p:nvSpPr>
          <p:cNvPr id="43" name="TextBox 22">
            <a:extLst>
              <a:ext uri="{FF2B5EF4-FFF2-40B4-BE49-F238E27FC236}">
                <a16:creationId xmlns:a16="http://schemas.microsoft.com/office/drawing/2014/main" id="{10820805-7194-6646-9671-D2A4337354D3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b="0" i="0" u="none" strike="noStrike" dirty="0">
                <a:solidFill>
                  <a:srgbClr val="787878"/>
                </a:solidFill>
                <a:latin typeface="Poppins Regular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29" name="TextBox 16">
            <a:extLst>
              <a:ext uri="{FF2B5EF4-FFF2-40B4-BE49-F238E27FC236}">
                <a16:creationId xmlns:a16="http://schemas.microsoft.com/office/drawing/2014/main" id="{34FF058A-38ED-74ED-D67F-8388871A6DC9}"/>
              </a:ext>
            </a:extLst>
          </p:cNvPr>
          <p:cNvSpPr txBox="1"/>
          <p:nvPr/>
        </p:nvSpPr>
        <p:spPr>
          <a:xfrm>
            <a:off x="914402" y="942101"/>
            <a:ext cx="80771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로드맵 </a:t>
            </a:r>
            <a:r>
              <a:rPr lang="en-US" altLang="ko-KR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WBS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36" name="Picture 5">
            <a:extLst>
              <a:ext uri="{FF2B5EF4-FFF2-40B4-BE49-F238E27FC236}">
                <a16:creationId xmlns:a16="http://schemas.microsoft.com/office/drawing/2014/main" id="{40E41A3A-BE2B-19E1-1D6B-4B3A82D8E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sp>
        <p:nvSpPr>
          <p:cNvPr id="26" name="TextBox 22">
            <a:extLst>
              <a:ext uri="{FF2B5EF4-FFF2-40B4-BE49-F238E27FC236}">
                <a16:creationId xmlns:a16="http://schemas.microsoft.com/office/drawing/2014/main" id="{4A410FDF-8C58-C4A1-ED03-575FAD0DB72E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dirty="0">
                <a:solidFill>
                  <a:srgbClr val="787878"/>
                </a:solidFill>
                <a:latin typeface="Poppins Regular"/>
              </a:rPr>
              <a:t>11</a:t>
            </a:r>
            <a:endParaRPr lang="en" sz="2592" b="0" i="0" u="none" strike="noStrike" dirty="0">
              <a:solidFill>
                <a:srgbClr val="787878"/>
              </a:solidFill>
              <a:latin typeface="Poppins Regular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AA17DE7-36B6-42A3-F96E-31DCC4780B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00" y="2930575"/>
            <a:ext cx="23040000" cy="964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396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36" name="Picture 5">
            <a:extLst>
              <a:ext uri="{FF2B5EF4-FFF2-40B4-BE49-F238E27FC236}">
                <a16:creationId xmlns:a16="http://schemas.microsoft.com/office/drawing/2014/main" id="{40E41A3A-BE2B-19E1-1D6B-4B3A82D8E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sp>
        <p:nvSpPr>
          <p:cNvPr id="26" name="TextBox 22">
            <a:extLst>
              <a:ext uri="{FF2B5EF4-FFF2-40B4-BE49-F238E27FC236}">
                <a16:creationId xmlns:a16="http://schemas.microsoft.com/office/drawing/2014/main" id="{4A410FDF-8C58-C4A1-ED03-575FAD0DB72E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dirty="0">
                <a:solidFill>
                  <a:srgbClr val="787878"/>
                </a:solidFill>
                <a:latin typeface="Poppins Regular"/>
              </a:rPr>
              <a:t>12</a:t>
            </a:r>
            <a:endParaRPr lang="en" sz="2592" b="0" i="0" u="none" strike="noStrike" dirty="0">
              <a:solidFill>
                <a:srgbClr val="787878"/>
              </a:solidFill>
              <a:latin typeface="Poppins Regular"/>
            </a:endParaRP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4B5F3E0C-54B5-0307-4512-62C9C86F4824}"/>
              </a:ext>
            </a:extLst>
          </p:cNvPr>
          <p:cNvSpPr txBox="1"/>
          <p:nvPr/>
        </p:nvSpPr>
        <p:spPr>
          <a:xfrm>
            <a:off x="914402" y="942101"/>
            <a:ext cx="80771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로드맵 </a:t>
            </a:r>
            <a:r>
              <a:rPr lang="en-US" altLang="ko-KR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WBS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19E13C7-4EA2-5817-F2E1-74BDE6FEBF68}"/>
              </a:ext>
            </a:extLst>
          </p:cNvPr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672000" y="2928600"/>
            <a:ext cx="23040000" cy="964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584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29" name="TextBox 16">
            <a:extLst>
              <a:ext uri="{FF2B5EF4-FFF2-40B4-BE49-F238E27FC236}">
                <a16:creationId xmlns:a16="http://schemas.microsoft.com/office/drawing/2014/main" id="{34FF058A-38ED-74ED-D67F-8388871A6DC9}"/>
              </a:ext>
            </a:extLst>
          </p:cNvPr>
          <p:cNvSpPr txBox="1"/>
          <p:nvPr/>
        </p:nvSpPr>
        <p:spPr>
          <a:xfrm>
            <a:off x="914402" y="942101"/>
            <a:ext cx="83819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로드맵 </a:t>
            </a:r>
            <a:r>
              <a:rPr lang="en-US" altLang="ko-KR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Notion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36" name="Picture 5">
            <a:extLst>
              <a:ext uri="{FF2B5EF4-FFF2-40B4-BE49-F238E27FC236}">
                <a16:creationId xmlns:a16="http://schemas.microsoft.com/office/drawing/2014/main" id="{40E41A3A-BE2B-19E1-1D6B-4B3A82D8E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sp>
        <p:nvSpPr>
          <p:cNvPr id="26" name="TextBox 22">
            <a:extLst>
              <a:ext uri="{FF2B5EF4-FFF2-40B4-BE49-F238E27FC236}">
                <a16:creationId xmlns:a16="http://schemas.microsoft.com/office/drawing/2014/main" id="{4A410FDF-8C58-C4A1-ED03-575FAD0DB72E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dirty="0">
                <a:solidFill>
                  <a:srgbClr val="787878"/>
                </a:solidFill>
                <a:latin typeface="Poppins Regular"/>
              </a:rPr>
              <a:t>13</a:t>
            </a:r>
            <a:endParaRPr lang="en" sz="2592" b="0" i="0" u="none" strike="noStrike" dirty="0">
              <a:solidFill>
                <a:srgbClr val="787878"/>
              </a:solidFill>
              <a:latin typeface="Poppins Regular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FF19912-27DF-FE29-5B12-991D63CE7F32}"/>
              </a:ext>
            </a:extLst>
          </p:cNvPr>
          <p:cNvGrpSpPr/>
          <p:nvPr/>
        </p:nvGrpSpPr>
        <p:grpSpPr>
          <a:xfrm>
            <a:off x="5704474" y="2551015"/>
            <a:ext cx="12975053" cy="10222884"/>
            <a:chOff x="5373194" y="2551015"/>
            <a:chExt cx="12975053" cy="1022288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70B72D1-DB1B-A763-4DD3-94E18E163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73194" y="2551015"/>
              <a:ext cx="6485358" cy="10222884"/>
            </a:xfrm>
            <a:prstGeom prst="rect">
              <a:avLst/>
            </a:prstGeom>
          </p:spPr>
        </p:pic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27E78831-F17F-A7A9-880D-0B785E8C1A2B}"/>
                </a:ext>
              </a:extLst>
            </p:cNvPr>
            <p:cNvGrpSpPr/>
            <p:nvPr/>
          </p:nvGrpSpPr>
          <p:grpSpPr>
            <a:xfrm>
              <a:off x="12525449" y="2551015"/>
              <a:ext cx="5822798" cy="10222884"/>
              <a:chOff x="9500022" y="2551015"/>
              <a:chExt cx="6096000" cy="11132192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F30728AE-7F39-FCCC-B842-B2CAC4538F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500022" y="2551015"/>
                <a:ext cx="6096000" cy="7648575"/>
              </a:xfrm>
              <a:prstGeom prst="rect">
                <a:avLst/>
              </a:prstGeom>
            </p:spPr>
          </p:pic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F2919C2D-C979-439F-3F50-516B89709F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500022" y="10134600"/>
                <a:ext cx="6096000" cy="3548607"/>
              </a:xfrm>
              <a:prstGeom prst="rect">
                <a:avLst/>
              </a:prstGeom>
            </p:spPr>
          </p:pic>
        </p:grp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B8DC61D4-F899-3BC3-37FA-86C68E08EB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588191" y="12367991"/>
            <a:ext cx="738409" cy="73840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4103C90-D967-8B69-D7CD-AB2B221367A6}"/>
              </a:ext>
            </a:extLst>
          </p:cNvPr>
          <p:cNvSpPr txBox="1"/>
          <p:nvPr/>
        </p:nvSpPr>
        <p:spPr>
          <a:xfrm>
            <a:off x="22117050" y="12451662"/>
            <a:ext cx="175176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000" dirty="0">
                <a:solidFill>
                  <a:srgbClr val="3E923A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Notion</a:t>
            </a:r>
            <a:endParaRPr lang="ko-KR" altLang="en-US" sz="3000" dirty="0">
              <a:solidFill>
                <a:srgbClr val="3E92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2438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29" name="TextBox 16">
            <a:extLst>
              <a:ext uri="{FF2B5EF4-FFF2-40B4-BE49-F238E27FC236}">
                <a16:creationId xmlns:a16="http://schemas.microsoft.com/office/drawing/2014/main" id="{34FF058A-38ED-74ED-D67F-8388871A6DC9}"/>
              </a:ext>
            </a:extLst>
          </p:cNvPr>
          <p:cNvSpPr txBox="1"/>
          <p:nvPr/>
        </p:nvSpPr>
        <p:spPr>
          <a:xfrm>
            <a:off x="914402" y="942101"/>
            <a:ext cx="85343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로드맵 </a:t>
            </a:r>
            <a:r>
              <a:rPr lang="en-US" altLang="ko-KR" sz="4000" b="1" spc="-156" dirty="0" err="1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Github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36" name="Picture 5">
            <a:extLst>
              <a:ext uri="{FF2B5EF4-FFF2-40B4-BE49-F238E27FC236}">
                <a16:creationId xmlns:a16="http://schemas.microsoft.com/office/drawing/2014/main" id="{40E41A3A-BE2B-19E1-1D6B-4B3A82D8E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sp>
        <p:nvSpPr>
          <p:cNvPr id="26" name="TextBox 22">
            <a:extLst>
              <a:ext uri="{FF2B5EF4-FFF2-40B4-BE49-F238E27FC236}">
                <a16:creationId xmlns:a16="http://schemas.microsoft.com/office/drawing/2014/main" id="{4A410FDF-8C58-C4A1-ED03-575FAD0DB72E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dirty="0">
                <a:solidFill>
                  <a:srgbClr val="787878"/>
                </a:solidFill>
                <a:latin typeface="Poppins Regular"/>
              </a:rPr>
              <a:t>14</a:t>
            </a:r>
            <a:endParaRPr lang="en" sz="2592" b="0" i="0" u="none" strike="noStrike" dirty="0">
              <a:solidFill>
                <a:srgbClr val="787878"/>
              </a:solidFill>
              <a:latin typeface="Poppins Regular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FE0B10D-4413-3777-8329-634592E3F4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762" y="3308718"/>
            <a:ext cx="14700738" cy="872896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15E91A3-1241-C42C-A69F-1CED647BDD52}"/>
              </a:ext>
            </a:extLst>
          </p:cNvPr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19584462" y="4334991"/>
            <a:ext cx="4037538" cy="667641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1278951-24A1-E2FA-6BB7-D729126A419B}"/>
              </a:ext>
            </a:extLst>
          </p:cNvPr>
          <p:cNvSpPr txBox="1"/>
          <p:nvPr/>
        </p:nvSpPr>
        <p:spPr>
          <a:xfrm>
            <a:off x="22117050" y="12451662"/>
            <a:ext cx="175176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000" dirty="0" err="1">
                <a:solidFill>
                  <a:srgbClr val="3E923A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ko-KR" altLang="en-US" sz="3000" dirty="0">
              <a:solidFill>
                <a:srgbClr val="3E923A"/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891BEA1-20E7-6564-E306-556C3752F24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570116" y="12343156"/>
            <a:ext cx="732427" cy="73242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4E09A01-A9A3-E964-59F5-6C48D2589F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99036" y="3367898"/>
            <a:ext cx="3562350" cy="861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028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3" name="TextBox 3"/>
          <p:cNvSpPr txBox="1"/>
          <p:nvPr/>
        </p:nvSpPr>
        <p:spPr>
          <a:xfrm>
            <a:off x="0" y="5067300"/>
            <a:ext cx="17322800" cy="2171700"/>
          </a:xfrm>
          <a:prstGeom prst="rect">
            <a:avLst/>
          </a:prstGeom>
        </p:spPr>
        <p:txBody>
          <a:bodyPr lIns="0" tIns="544464" rIns="0" bIns="0" rtlCol="0" anchor="t"/>
          <a:lstStyle/>
          <a:p>
            <a:pPr lvl="0" algn="ctr">
              <a:lnSpc>
                <a:spcPct val="83000"/>
              </a:lnSpc>
            </a:pPr>
            <a:r>
              <a:rPr lang="en" sz="10000" spc="-214" dirty="0">
                <a:solidFill>
                  <a:srgbClr val="464749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Part</a:t>
            </a:r>
            <a:r>
              <a:rPr lang="en" sz="10000" b="0" i="0" u="none" strike="noStrike" spc="-214" dirty="0">
                <a:solidFill>
                  <a:srgbClr val="464749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 2.  </a:t>
            </a:r>
            <a:r>
              <a:rPr lang="ko-KR" altLang="en-US" sz="13000" b="0" i="0" u="none" strike="noStrike" spc="-214" dirty="0">
                <a:solidFill>
                  <a:srgbClr val="3E923A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</a:t>
            </a:r>
            <a:r>
              <a:rPr lang="ko-KR" altLang="en-US" sz="13000" spc="-214" dirty="0">
                <a:solidFill>
                  <a:srgbClr val="3E923A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설계</a:t>
            </a:r>
            <a:endParaRPr lang="en" sz="13000" b="0" i="0" u="none" strike="noStrike" spc="-214" dirty="0">
              <a:solidFill>
                <a:srgbClr val="3E923A"/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248400" y="7538402"/>
            <a:ext cx="13017500" cy="889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4499"/>
              </a:lnSpc>
            </a:pPr>
            <a:r>
              <a:rPr lang="ko-KR" altLang="en-US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아키텍처 설계 </a:t>
            </a:r>
            <a:r>
              <a:rPr lang="en-US" altLang="ko-KR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/ </a:t>
            </a:r>
            <a:r>
              <a:rPr lang="ko-KR" altLang="en-US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화면 설계 </a:t>
            </a:r>
            <a:r>
              <a:rPr lang="en-US" altLang="ko-KR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/ DB </a:t>
            </a:r>
            <a:r>
              <a:rPr lang="ko-KR" altLang="en-US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설계 </a:t>
            </a:r>
            <a:r>
              <a:rPr lang="en-US" altLang="ko-KR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/ </a:t>
            </a:r>
            <a:r>
              <a:rPr lang="ko-KR" altLang="en-US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도메인 </a:t>
            </a:r>
            <a:r>
              <a:rPr lang="en-US" altLang="ko-KR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/ API </a:t>
            </a:r>
            <a:r>
              <a:rPr lang="ko-KR" altLang="en-US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명세서</a:t>
            </a:r>
            <a:endParaRPr lang="en" sz="3000" b="0" i="0" u="none" strike="noStrike" dirty="0">
              <a:solidFill>
                <a:srgbClr val="464749"/>
              </a:solidFill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b="0" i="0" u="none" strike="noStrike" dirty="0">
                <a:solidFill>
                  <a:srgbClr val="464749"/>
                </a:solidFill>
                <a:latin typeface="Poppins Regular"/>
              </a:rPr>
              <a:t>15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11BAE27-1FEF-DF13-F80A-DADB20C04CC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70000" contrast="-70000"/>
            <a:alphaModFix amt="35000"/>
          </a:blip>
          <a:stretch>
            <a:fillRect/>
          </a:stretch>
        </p:blipFill>
        <p:spPr>
          <a:xfrm>
            <a:off x="17301210" y="6517005"/>
            <a:ext cx="8686800" cy="8686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28FE46F8-4D93-671C-09EB-1E0D9A15D8B3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1C3B5EC4-C275-5E79-B7B1-F1F1F0C79495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21" name="TextBox 5">
                <a:extLst>
                  <a:ext uri="{FF2B5EF4-FFF2-40B4-BE49-F238E27FC236}">
                    <a16:creationId xmlns:a16="http://schemas.microsoft.com/office/drawing/2014/main" id="{A0799DAA-C5F3-175D-43A7-0ED0BFD1C22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22" name="그림 21">
                <a:extLst>
                  <a:ext uri="{FF2B5EF4-FFF2-40B4-BE49-F238E27FC236}">
                    <a16:creationId xmlns:a16="http://schemas.microsoft.com/office/drawing/2014/main" id="{65BA08E3-F6F9-A169-E315-0E8D801462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20" name="Picture 5">
              <a:extLst>
                <a:ext uri="{FF2B5EF4-FFF2-40B4-BE49-F238E27FC236}">
                  <a16:creationId xmlns:a16="http://schemas.microsoft.com/office/drawing/2014/main" id="{3E61F457-11F5-D7B2-76A8-E6CD4C9FC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23" name="Picture 5">
            <a:extLst>
              <a:ext uri="{FF2B5EF4-FFF2-40B4-BE49-F238E27FC236}">
                <a16:creationId xmlns:a16="http://schemas.microsoft.com/office/drawing/2014/main" id="{4559A545-1CCC-AF85-8E04-D1462A5585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030200"/>
            <a:ext cx="23040000" cy="2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978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29" name="TextBox 16">
            <a:extLst>
              <a:ext uri="{FF2B5EF4-FFF2-40B4-BE49-F238E27FC236}">
                <a16:creationId xmlns:a16="http://schemas.microsoft.com/office/drawing/2014/main" id="{34FF058A-38ED-74ED-D67F-8388871A6DC9}"/>
              </a:ext>
            </a:extLst>
          </p:cNvPr>
          <p:cNvSpPr txBox="1"/>
          <p:nvPr/>
        </p:nvSpPr>
        <p:spPr>
          <a:xfrm>
            <a:off x="914402" y="942101"/>
            <a:ext cx="114299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설계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 아키텍처</a:t>
            </a:r>
            <a:r>
              <a:rPr lang="en-US" altLang="ko-KR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설계</a:t>
            </a:r>
            <a:r>
              <a:rPr lang="en-US" altLang="ko-KR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 - draw.io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36" name="Picture 5">
            <a:extLst>
              <a:ext uri="{FF2B5EF4-FFF2-40B4-BE49-F238E27FC236}">
                <a16:creationId xmlns:a16="http://schemas.microsoft.com/office/drawing/2014/main" id="{40E41A3A-BE2B-19E1-1D6B-4B3A82D8E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sp>
        <p:nvSpPr>
          <p:cNvPr id="26" name="TextBox 22">
            <a:extLst>
              <a:ext uri="{FF2B5EF4-FFF2-40B4-BE49-F238E27FC236}">
                <a16:creationId xmlns:a16="http://schemas.microsoft.com/office/drawing/2014/main" id="{4A410FDF-8C58-C4A1-ED03-575FAD0DB72E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dirty="0">
                <a:solidFill>
                  <a:srgbClr val="787878"/>
                </a:solidFill>
                <a:latin typeface="Poppins Regular"/>
              </a:rPr>
              <a:t>16</a:t>
            </a:r>
            <a:endParaRPr lang="en" sz="2592" b="0" i="0" u="none" strike="noStrike" dirty="0">
              <a:solidFill>
                <a:srgbClr val="787878"/>
              </a:solidFill>
              <a:latin typeface="Poppins Regular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90D3DD9-9905-3C23-60B0-6860639041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1950" y="2897901"/>
            <a:ext cx="21720101" cy="98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312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29" name="TextBox 16">
            <a:extLst>
              <a:ext uri="{FF2B5EF4-FFF2-40B4-BE49-F238E27FC236}">
                <a16:creationId xmlns:a16="http://schemas.microsoft.com/office/drawing/2014/main" id="{34FF058A-38ED-74ED-D67F-8388871A6DC9}"/>
              </a:ext>
            </a:extLst>
          </p:cNvPr>
          <p:cNvSpPr txBox="1"/>
          <p:nvPr/>
        </p:nvSpPr>
        <p:spPr>
          <a:xfrm>
            <a:off x="914402" y="942101"/>
            <a:ext cx="102107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설계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 화면 설계 </a:t>
            </a:r>
            <a:r>
              <a:rPr lang="en-US" altLang="ko-KR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- Figma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36" name="Picture 5">
            <a:extLst>
              <a:ext uri="{FF2B5EF4-FFF2-40B4-BE49-F238E27FC236}">
                <a16:creationId xmlns:a16="http://schemas.microsoft.com/office/drawing/2014/main" id="{40E41A3A-BE2B-19E1-1D6B-4B3A82D8E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sp>
        <p:nvSpPr>
          <p:cNvPr id="26" name="TextBox 22">
            <a:extLst>
              <a:ext uri="{FF2B5EF4-FFF2-40B4-BE49-F238E27FC236}">
                <a16:creationId xmlns:a16="http://schemas.microsoft.com/office/drawing/2014/main" id="{4A410FDF-8C58-C4A1-ED03-575FAD0DB72E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dirty="0">
                <a:solidFill>
                  <a:srgbClr val="787878"/>
                </a:solidFill>
                <a:latin typeface="Poppins Regular"/>
              </a:rPr>
              <a:t>17</a:t>
            </a:r>
            <a:endParaRPr lang="en" sz="2592" b="0" i="0" u="none" strike="noStrike" dirty="0">
              <a:solidFill>
                <a:srgbClr val="787878"/>
              </a:solidFill>
              <a:latin typeface="Poppins Regular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8861E17-C010-3B92-D821-6EE9FFFD38F6}"/>
              </a:ext>
            </a:extLst>
          </p:cNvPr>
          <p:cNvGrpSpPr/>
          <p:nvPr/>
        </p:nvGrpSpPr>
        <p:grpSpPr>
          <a:xfrm>
            <a:off x="796576" y="3810000"/>
            <a:ext cx="22790848" cy="6090830"/>
            <a:chOff x="457200" y="4956485"/>
            <a:chExt cx="22790848" cy="6090830"/>
          </a:xfrm>
        </p:grpSpPr>
        <p:pic>
          <p:nvPicPr>
            <p:cNvPr id="5" name="그림 4" descr="텍스트, 스크린샷, 도표, 디스플레이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62478D7F-9C77-F191-3007-F26C3A80E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200" y="4956485"/>
              <a:ext cx="14989908" cy="6090830"/>
            </a:xfrm>
            <a:prstGeom prst="rect">
              <a:avLst/>
            </a:prstGeom>
          </p:spPr>
        </p:pic>
        <p:pic>
          <p:nvPicPr>
            <p:cNvPr id="7" name="그림 6" descr="텍스트, 스크린샷, 디스플레이, 도표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05AF0648-4DF2-B911-121E-D6B5E3685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04308" y="4956485"/>
              <a:ext cx="7343740" cy="6090830"/>
            </a:xfrm>
            <a:prstGeom prst="rect">
              <a:avLst/>
            </a:prstGeom>
          </p:spPr>
        </p:pic>
      </p:grpSp>
      <p:pic>
        <p:nvPicPr>
          <p:cNvPr id="10" name="그림 9" descr="텍스트, 스크린샷, 도표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2EDD2B6-EB1C-0B96-4758-64BE374CF0F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75082" y="10954553"/>
            <a:ext cx="3317422" cy="2063324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98054103-77FD-2CAB-0EB2-D396BB819380}"/>
              </a:ext>
            </a:extLst>
          </p:cNvPr>
          <p:cNvSpPr/>
          <p:nvPr/>
        </p:nvSpPr>
        <p:spPr>
          <a:xfrm>
            <a:off x="457200" y="3429000"/>
            <a:ext cx="23318400" cy="6705084"/>
          </a:xfrm>
          <a:prstGeom prst="rect">
            <a:avLst/>
          </a:prstGeom>
          <a:noFill/>
          <a:ln w="57150">
            <a:solidFill>
              <a:srgbClr val="3E92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57EF15A-E0A2-99EA-2CA3-DF01D78612EA}"/>
              </a:ext>
            </a:extLst>
          </p:cNvPr>
          <p:cNvSpPr/>
          <p:nvPr/>
        </p:nvSpPr>
        <p:spPr>
          <a:xfrm>
            <a:off x="21095593" y="10954553"/>
            <a:ext cx="1676400" cy="119654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2149A626-4175-E9D3-3316-E1982E89FB2D}"/>
              </a:ext>
            </a:extLst>
          </p:cNvPr>
          <p:cNvCxnSpPr>
            <a:cxnSpLocks/>
          </p:cNvCxnSpPr>
          <p:nvPr/>
        </p:nvCxnSpPr>
        <p:spPr>
          <a:xfrm flipH="1" flipV="1">
            <a:off x="20853400" y="10273408"/>
            <a:ext cx="939800" cy="68114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0965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5240" y="77894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29" name="TextBox 16">
            <a:extLst>
              <a:ext uri="{FF2B5EF4-FFF2-40B4-BE49-F238E27FC236}">
                <a16:creationId xmlns:a16="http://schemas.microsoft.com/office/drawing/2014/main" id="{34FF058A-38ED-74ED-D67F-8388871A6DC9}"/>
              </a:ext>
            </a:extLst>
          </p:cNvPr>
          <p:cNvSpPr txBox="1"/>
          <p:nvPr/>
        </p:nvSpPr>
        <p:spPr>
          <a:xfrm>
            <a:off x="914402" y="942101"/>
            <a:ext cx="102107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설계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 화면 설계 </a:t>
            </a:r>
            <a:r>
              <a:rPr lang="en-US" altLang="ko-KR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- Figma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36" name="Picture 5">
            <a:extLst>
              <a:ext uri="{FF2B5EF4-FFF2-40B4-BE49-F238E27FC236}">
                <a16:creationId xmlns:a16="http://schemas.microsoft.com/office/drawing/2014/main" id="{40E41A3A-BE2B-19E1-1D6B-4B3A82D8E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sp>
        <p:nvSpPr>
          <p:cNvPr id="26" name="TextBox 22">
            <a:extLst>
              <a:ext uri="{FF2B5EF4-FFF2-40B4-BE49-F238E27FC236}">
                <a16:creationId xmlns:a16="http://schemas.microsoft.com/office/drawing/2014/main" id="{4A410FDF-8C58-C4A1-ED03-575FAD0DB72E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b="0" i="0" u="none" strike="noStrike" dirty="0">
                <a:solidFill>
                  <a:srgbClr val="787878"/>
                </a:solidFill>
                <a:latin typeface="Poppins Regular"/>
              </a:rPr>
              <a:t>1</a:t>
            </a:r>
            <a:r>
              <a:rPr lang="en" sz="2592" dirty="0">
                <a:solidFill>
                  <a:srgbClr val="787878"/>
                </a:solidFill>
                <a:latin typeface="Poppins Regular"/>
              </a:rPr>
              <a:t>8</a:t>
            </a:r>
            <a:endParaRPr lang="en" sz="2592" b="0" i="0" u="none" strike="noStrike" dirty="0">
              <a:solidFill>
                <a:srgbClr val="787878"/>
              </a:solidFill>
              <a:latin typeface="Poppins Regular"/>
            </a:endParaRPr>
          </a:p>
        </p:txBody>
      </p:sp>
      <p:pic>
        <p:nvPicPr>
          <p:cNvPr id="5" name="그림 4" descr="텍스트, 스크린샷, 직사각형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1E51F0F-93EF-6890-1FE4-EBE6FAA4FF0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2819400"/>
            <a:ext cx="7645232" cy="9954499"/>
          </a:xfrm>
          <a:prstGeom prst="rect">
            <a:avLst/>
          </a:prstGeom>
        </p:spPr>
      </p:pic>
      <p:pic>
        <p:nvPicPr>
          <p:cNvPr id="7" name="그림 6" descr="텍스트, 스크린샷, 디스플레이, 직사각형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C879246-D08E-D0B9-3EC0-45ABA3A4ECC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2858" y="2819400"/>
            <a:ext cx="7645232" cy="9697358"/>
          </a:xfrm>
          <a:prstGeom prst="rect">
            <a:avLst/>
          </a:prstGeom>
        </p:spPr>
      </p:pic>
      <p:pic>
        <p:nvPicPr>
          <p:cNvPr id="17" name="그림 16" descr="텍스트, 스크린샷, 도표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17BFC00-5A2E-B7DF-1FF8-5C1FF3651C4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75082" y="10954553"/>
            <a:ext cx="3317422" cy="2063324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FB4DE330-E8F2-FDE1-4A4D-526E509F0A71}"/>
              </a:ext>
            </a:extLst>
          </p:cNvPr>
          <p:cNvSpPr/>
          <p:nvPr/>
        </p:nvSpPr>
        <p:spPr>
          <a:xfrm>
            <a:off x="20269199" y="12039600"/>
            <a:ext cx="1308101" cy="104063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35C5AA0A-F207-7867-9479-7267655F5351}"/>
              </a:ext>
            </a:extLst>
          </p:cNvPr>
          <p:cNvCxnSpPr>
            <a:cxnSpLocks/>
          </p:cNvCxnSpPr>
          <p:nvPr/>
        </p:nvCxnSpPr>
        <p:spPr>
          <a:xfrm flipH="1" flipV="1">
            <a:off x="19434571" y="9855792"/>
            <a:ext cx="1139429" cy="21838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3B51132-95AF-310E-0BCD-CBCFDBEE24FF}"/>
              </a:ext>
            </a:extLst>
          </p:cNvPr>
          <p:cNvSpPr/>
          <p:nvPr/>
        </p:nvSpPr>
        <p:spPr>
          <a:xfrm>
            <a:off x="2806699" y="2615489"/>
            <a:ext cx="16489589" cy="10387625"/>
          </a:xfrm>
          <a:prstGeom prst="rect">
            <a:avLst/>
          </a:prstGeom>
          <a:noFill/>
          <a:ln w="57150">
            <a:solidFill>
              <a:srgbClr val="3E92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28203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5240" y="77894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29" name="TextBox 16">
            <a:extLst>
              <a:ext uri="{FF2B5EF4-FFF2-40B4-BE49-F238E27FC236}">
                <a16:creationId xmlns:a16="http://schemas.microsoft.com/office/drawing/2014/main" id="{34FF058A-38ED-74ED-D67F-8388871A6DC9}"/>
              </a:ext>
            </a:extLst>
          </p:cNvPr>
          <p:cNvSpPr txBox="1"/>
          <p:nvPr/>
        </p:nvSpPr>
        <p:spPr>
          <a:xfrm>
            <a:off x="914402" y="942101"/>
            <a:ext cx="102107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설계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 화면 설계 </a:t>
            </a:r>
            <a:r>
              <a:rPr lang="en-US" altLang="ko-KR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- Figma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36" name="Picture 5">
            <a:extLst>
              <a:ext uri="{FF2B5EF4-FFF2-40B4-BE49-F238E27FC236}">
                <a16:creationId xmlns:a16="http://schemas.microsoft.com/office/drawing/2014/main" id="{40E41A3A-BE2B-19E1-1D6B-4B3A82D8E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sp>
        <p:nvSpPr>
          <p:cNvPr id="26" name="TextBox 22">
            <a:extLst>
              <a:ext uri="{FF2B5EF4-FFF2-40B4-BE49-F238E27FC236}">
                <a16:creationId xmlns:a16="http://schemas.microsoft.com/office/drawing/2014/main" id="{4A410FDF-8C58-C4A1-ED03-575FAD0DB72E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b="0" i="0" u="none" strike="noStrike" dirty="0">
                <a:solidFill>
                  <a:srgbClr val="787878"/>
                </a:solidFill>
                <a:latin typeface="Poppins Regular"/>
              </a:rPr>
              <a:t>19</a:t>
            </a:r>
          </a:p>
        </p:txBody>
      </p:sp>
      <p:pic>
        <p:nvPicPr>
          <p:cNvPr id="9" name="그림 8" descr="텍스트, 스크린샷, 소프트웨어, 직사각형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7ED3543-3AB8-CDAC-8051-1CF26E5B768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264" y="3081622"/>
            <a:ext cx="9108150" cy="5831419"/>
          </a:xfrm>
          <a:prstGeom prst="rect">
            <a:avLst/>
          </a:prstGeom>
        </p:spPr>
      </p:pic>
      <p:pic>
        <p:nvPicPr>
          <p:cNvPr id="11" name="그림 10" descr="텍스트, 스크린샷, 직사각형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052B1A2-801D-1FC5-185B-D142FE9C5B0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7034" y="3116057"/>
            <a:ext cx="10366966" cy="5688833"/>
          </a:xfrm>
          <a:prstGeom prst="rect">
            <a:avLst/>
          </a:prstGeom>
        </p:spPr>
      </p:pic>
      <p:pic>
        <p:nvPicPr>
          <p:cNvPr id="13" name="그림 12" descr="텍스트, 스크린샷, 디스플레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16092CD-8CC9-276E-6671-0D2280D38A4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421" y="9052365"/>
            <a:ext cx="8991598" cy="3621616"/>
          </a:xfrm>
          <a:prstGeom prst="rect">
            <a:avLst/>
          </a:prstGeom>
        </p:spPr>
      </p:pic>
      <p:pic>
        <p:nvPicPr>
          <p:cNvPr id="4" name="그림 3" descr="텍스트, 스크린샷, 도표, 디스플레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BA5238E-C6F7-79C2-2AC4-62C84740E9E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75082" y="10954553"/>
            <a:ext cx="3317422" cy="206332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36A847B-674A-3734-234A-DA1EE2FB9C61}"/>
              </a:ext>
            </a:extLst>
          </p:cNvPr>
          <p:cNvSpPr/>
          <p:nvPr/>
        </p:nvSpPr>
        <p:spPr>
          <a:xfrm>
            <a:off x="21485859" y="11935302"/>
            <a:ext cx="2106645" cy="73867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ED19A912-CBF1-3608-DBC2-7104B9B4F4FB}"/>
              </a:ext>
            </a:extLst>
          </p:cNvPr>
          <p:cNvCxnSpPr>
            <a:cxnSpLocks/>
          </p:cNvCxnSpPr>
          <p:nvPr/>
        </p:nvCxnSpPr>
        <p:spPr>
          <a:xfrm flipH="1" flipV="1">
            <a:off x="15316200" y="9448800"/>
            <a:ext cx="6629400" cy="24865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E175423E-CC18-85EB-5EE2-51633DB060F3}"/>
              </a:ext>
            </a:extLst>
          </p:cNvPr>
          <p:cNvSpPr/>
          <p:nvPr/>
        </p:nvSpPr>
        <p:spPr>
          <a:xfrm>
            <a:off x="650240" y="2614514"/>
            <a:ext cx="20441920" cy="10227726"/>
          </a:xfrm>
          <a:custGeom>
            <a:avLst/>
            <a:gdLst>
              <a:gd name="connsiteX0" fmla="*/ 0 w 20441920"/>
              <a:gd name="connsiteY0" fmla="*/ 0 h 9895840"/>
              <a:gd name="connsiteX1" fmla="*/ 0 w 20441920"/>
              <a:gd name="connsiteY1" fmla="*/ 9855200 h 9895840"/>
              <a:gd name="connsiteX2" fmla="*/ 14345920 w 20441920"/>
              <a:gd name="connsiteY2" fmla="*/ 9895840 h 9895840"/>
              <a:gd name="connsiteX3" fmla="*/ 14345920 w 20441920"/>
              <a:gd name="connsiteY3" fmla="*/ 6299200 h 9895840"/>
              <a:gd name="connsiteX4" fmla="*/ 20441920 w 20441920"/>
              <a:gd name="connsiteY4" fmla="*/ 6299200 h 9895840"/>
              <a:gd name="connsiteX5" fmla="*/ 20441920 w 20441920"/>
              <a:gd name="connsiteY5" fmla="*/ 223520 h 9895840"/>
              <a:gd name="connsiteX6" fmla="*/ 20320 w 20441920"/>
              <a:gd name="connsiteY6" fmla="*/ 182880 h 989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441920" h="9895840">
                <a:moveTo>
                  <a:pt x="0" y="0"/>
                </a:moveTo>
                <a:lnTo>
                  <a:pt x="0" y="9855200"/>
                </a:lnTo>
                <a:lnTo>
                  <a:pt x="14345920" y="9895840"/>
                </a:lnTo>
                <a:lnTo>
                  <a:pt x="14345920" y="6299200"/>
                </a:lnTo>
                <a:lnTo>
                  <a:pt x="20441920" y="6299200"/>
                </a:lnTo>
                <a:lnTo>
                  <a:pt x="20441920" y="223520"/>
                </a:lnTo>
                <a:lnTo>
                  <a:pt x="20320" y="182880"/>
                </a:lnTo>
              </a:path>
            </a:pathLst>
          </a:custGeom>
          <a:noFill/>
          <a:ln w="57150">
            <a:solidFill>
              <a:srgbClr val="3E92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ABDF4A0-9E4A-D5DF-0409-81EC82C38EE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2481229"/>
            <a:ext cx="1057275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017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29" name="TextBox 16">
            <a:extLst>
              <a:ext uri="{FF2B5EF4-FFF2-40B4-BE49-F238E27FC236}">
                <a16:creationId xmlns:a16="http://schemas.microsoft.com/office/drawing/2014/main" id="{34FF058A-38ED-74ED-D67F-8388871A6DC9}"/>
              </a:ext>
            </a:extLst>
          </p:cNvPr>
          <p:cNvSpPr txBox="1"/>
          <p:nvPr/>
        </p:nvSpPr>
        <p:spPr>
          <a:xfrm>
            <a:off x="914402" y="942101"/>
            <a:ext cx="107441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설계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 </a:t>
            </a:r>
            <a:r>
              <a:rPr lang="en-US" altLang="ko-KR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DB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설계</a:t>
            </a:r>
            <a:r>
              <a:rPr lang="en-US" altLang="ko-KR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 - </a:t>
            </a:r>
            <a:r>
              <a:rPr lang="en-US" altLang="ko-KR" sz="4000" b="1" spc="-156" dirty="0" err="1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ERDcloud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36" name="Picture 5">
            <a:extLst>
              <a:ext uri="{FF2B5EF4-FFF2-40B4-BE49-F238E27FC236}">
                <a16:creationId xmlns:a16="http://schemas.microsoft.com/office/drawing/2014/main" id="{40E41A3A-BE2B-19E1-1D6B-4B3A82D8E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sp>
        <p:nvSpPr>
          <p:cNvPr id="26" name="TextBox 22">
            <a:extLst>
              <a:ext uri="{FF2B5EF4-FFF2-40B4-BE49-F238E27FC236}">
                <a16:creationId xmlns:a16="http://schemas.microsoft.com/office/drawing/2014/main" id="{4A410FDF-8C58-C4A1-ED03-575FAD0DB72E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dirty="0">
                <a:solidFill>
                  <a:srgbClr val="787878"/>
                </a:solidFill>
                <a:latin typeface="Poppins Regular"/>
              </a:rPr>
              <a:t>20</a:t>
            </a:r>
            <a:endParaRPr lang="en" sz="2592" b="0" i="0" u="none" strike="noStrike" dirty="0">
              <a:solidFill>
                <a:srgbClr val="787878"/>
              </a:solidFill>
              <a:latin typeface="Poppins Regular"/>
            </a:endParaRPr>
          </a:p>
        </p:txBody>
      </p:sp>
      <p:pic>
        <p:nvPicPr>
          <p:cNvPr id="4" name="그림 3" descr="텍스트, 스크린샷, 직사각형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8F77FD6-F7E2-21B8-223E-27DCF273D0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814" y="2514600"/>
            <a:ext cx="15730372" cy="10433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9804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29" name="TextBox 16">
            <a:extLst>
              <a:ext uri="{FF2B5EF4-FFF2-40B4-BE49-F238E27FC236}">
                <a16:creationId xmlns:a16="http://schemas.microsoft.com/office/drawing/2014/main" id="{34FF058A-38ED-74ED-D67F-8388871A6DC9}"/>
              </a:ext>
            </a:extLst>
          </p:cNvPr>
          <p:cNvSpPr txBox="1"/>
          <p:nvPr/>
        </p:nvSpPr>
        <p:spPr>
          <a:xfrm>
            <a:off x="914402" y="942101"/>
            <a:ext cx="96773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설계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 테이블 인스턴스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36" name="Picture 5">
            <a:extLst>
              <a:ext uri="{FF2B5EF4-FFF2-40B4-BE49-F238E27FC236}">
                <a16:creationId xmlns:a16="http://schemas.microsoft.com/office/drawing/2014/main" id="{40E41A3A-BE2B-19E1-1D6B-4B3A82D8E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sp>
        <p:nvSpPr>
          <p:cNvPr id="26" name="TextBox 22">
            <a:extLst>
              <a:ext uri="{FF2B5EF4-FFF2-40B4-BE49-F238E27FC236}">
                <a16:creationId xmlns:a16="http://schemas.microsoft.com/office/drawing/2014/main" id="{4A410FDF-8C58-C4A1-ED03-575FAD0DB72E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dirty="0">
                <a:solidFill>
                  <a:srgbClr val="787878"/>
                </a:solidFill>
                <a:latin typeface="Poppins Regular"/>
              </a:rPr>
              <a:t>21</a:t>
            </a:r>
            <a:endParaRPr lang="en" sz="2592" b="0" i="0" u="none" strike="noStrike" dirty="0">
              <a:solidFill>
                <a:srgbClr val="787878"/>
              </a:solidFill>
              <a:latin typeface="Poppins Regular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D42D7E3-9693-7F19-9A0B-20FCB6E44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057201"/>
              </p:ext>
            </p:extLst>
          </p:nvPr>
        </p:nvGraphicFramePr>
        <p:xfrm>
          <a:off x="762000" y="3660091"/>
          <a:ext cx="12121979" cy="7652300"/>
        </p:xfrm>
        <a:graphic>
          <a:graphicData uri="http://schemas.openxmlformats.org/drawingml/2006/table">
            <a:tbl>
              <a:tblPr/>
              <a:tblGrid>
                <a:gridCol w="2882130">
                  <a:extLst>
                    <a:ext uri="{9D8B030D-6E8A-4147-A177-3AD203B41FA5}">
                      <a16:colId xmlns:a16="http://schemas.microsoft.com/office/drawing/2014/main" val="1190215379"/>
                    </a:ext>
                  </a:extLst>
                </a:gridCol>
                <a:gridCol w="4772779">
                  <a:extLst>
                    <a:ext uri="{9D8B030D-6E8A-4147-A177-3AD203B41FA5}">
                      <a16:colId xmlns:a16="http://schemas.microsoft.com/office/drawing/2014/main" val="4002408949"/>
                    </a:ext>
                  </a:extLst>
                </a:gridCol>
                <a:gridCol w="4467070">
                  <a:extLst>
                    <a:ext uri="{9D8B030D-6E8A-4147-A177-3AD203B41FA5}">
                      <a16:colId xmlns:a16="http://schemas.microsoft.com/office/drawing/2014/main" val="3895368787"/>
                    </a:ext>
                  </a:extLst>
                </a:gridCol>
              </a:tblGrid>
              <a:tr h="232121">
                <a:tc>
                  <a:txBody>
                    <a:bodyPr/>
                    <a:lstStyle/>
                    <a:p>
                      <a:r>
                        <a:rPr lang="ko-KR" alt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필드명</a:t>
                      </a:r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타입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설명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5984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user_id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</a:t>
                      </a:r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PK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사용자 고유 </a:t>
                      </a:r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297995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username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varchar(50) unique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로그인 아이디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681277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email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varchar(50)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사용자 이메일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14616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password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varchar(255)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암호화된 비밀번호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92006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nickname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varchar(50) unique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사용자 닉네임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257415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profile_image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varchar(255)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프로필 이미지 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URL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907274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gender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enum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(’</a:t>
                      </a:r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남성’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, ‘</a:t>
                      </a:r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여성’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사용자 성별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140319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address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varchar(255)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사용자 주소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810634"/>
                  </a:ext>
                </a:extLst>
              </a:tr>
              <a:tr h="238297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level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enum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('</a:t>
                      </a:r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초급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', '</a:t>
                      </a:r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중급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', '</a:t>
                      </a:r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고급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', ’</a:t>
                      </a:r>
                      <a:r>
                        <a:rPr lang="ko-KR" alt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미기입</a:t>
                      </a:r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’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실력 수준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84172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position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enum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(’</a:t>
                      </a:r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전체 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(ALL)’, ‘</a:t>
                      </a:r>
                      <a:r>
                        <a:rPr lang="ko-KR" alt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픽소</a:t>
                      </a:r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(FIXO)’, </a:t>
                      </a:r>
                    </a:p>
                    <a:p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‘</a:t>
                      </a:r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비보 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(PIVO)’, ‘</a:t>
                      </a:r>
                      <a:r>
                        <a:rPr lang="ko-KR" alt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콜레이로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(GOLEIRO)’ )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사용자 포지션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44659"/>
                  </a:ext>
                </a:extLst>
              </a:tr>
              <a:tr h="238297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reset_code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varchar(6)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비밀번호 재설정 인증번호 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(6</a:t>
                      </a:r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자리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3185470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reset_code_expires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timestamp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인증번호 만료 시간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855198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created_at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timestamp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계정 생성 시간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437705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updated_at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timestamp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정보 수정 시간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6949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login_fail_count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int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로그인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</a:t>
                      </a:r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실패 횟수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283045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locked_untill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timestamp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로그인 잠금 시간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40349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D67F5AA2-754A-5C69-3C5B-A735EB0CF0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549474"/>
              </p:ext>
            </p:extLst>
          </p:nvPr>
        </p:nvGraphicFramePr>
        <p:xfrm>
          <a:off x="14406489" y="2645642"/>
          <a:ext cx="9282065" cy="10212620"/>
        </p:xfrm>
        <a:graphic>
          <a:graphicData uri="http://schemas.openxmlformats.org/drawingml/2006/table">
            <a:tbl>
              <a:tblPr/>
              <a:tblGrid>
                <a:gridCol w="2652665">
                  <a:extLst>
                    <a:ext uri="{9D8B030D-6E8A-4147-A177-3AD203B41FA5}">
                      <a16:colId xmlns:a16="http://schemas.microsoft.com/office/drawing/2014/main" val="2044246646"/>
                    </a:ext>
                  </a:extLst>
                </a:gridCol>
                <a:gridCol w="6629400">
                  <a:extLst>
                    <a:ext uri="{9D8B030D-6E8A-4147-A177-3AD203B41FA5}">
                      <a16:colId xmlns:a16="http://schemas.microsoft.com/office/drawing/2014/main" val="1682602206"/>
                    </a:ext>
                  </a:extLst>
                </a:gridCol>
              </a:tblGrid>
              <a:tr h="232121">
                <a:tc>
                  <a:txBody>
                    <a:bodyPr/>
                    <a:lstStyle/>
                    <a:p>
                      <a:r>
                        <a:rPr lang="ko-KR" alt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필드명</a:t>
                      </a:r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536719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user_id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12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11985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username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taeran0129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024635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email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hlinkClick r:id="rId6"/>
                        </a:rPr>
                        <a:t>taeran0129@naver.com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426265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password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$2a$10$J7MPi2o9TnJPp54CcKzcbuT0TUYcgYiAD82gx.y5yD2it5K6HN6Yy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257067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nickname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aeran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42800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profile_image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https://multifc-profile-images.s3.ap-northeast-2.amazonaws.com/profile/80ad7711-5e51-4e10-a18d-e7623f10893f_%EC%8A%A4%ED%81%AC%EB%A6%B0%EC%83%B7%202025-10-06%20024613.png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596012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gender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여성</a:t>
                      </a:r>
                      <a:endParaRPr lang="en-US" altLang="ko-KR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824482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address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경기도 화성시 동탄 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123456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844171"/>
                  </a:ext>
                </a:extLst>
              </a:tr>
              <a:tr h="238297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level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초급</a:t>
                      </a:r>
                      <a:endParaRPr lang="en-US" altLang="ko-KR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277909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position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전체 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(ALL)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507617"/>
                  </a:ext>
                </a:extLst>
              </a:tr>
              <a:tr h="238297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reset_code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215789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978726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reset_code_expires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2025-11-30 11:41:45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68674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created_at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2025-11-07 13:47:18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242417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updated_at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2025-11-30 11:36:45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537868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login_fail_count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2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396519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locked_untill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null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221330"/>
                  </a:ext>
                </a:extLst>
              </a:tr>
            </a:tbl>
          </a:graphicData>
        </a:graphic>
      </p:graphicFrame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264B0856-8EDA-6E8F-6CE0-9C6E1B001ACC}"/>
              </a:ext>
            </a:extLst>
          </p:cNvPr>
          <p:cNvSpPr/>
          <p:nvPr/>
        </p:nvSpPr>
        <p:spPr>
          <a:xfrm rot="16200000">
            <a:off x="13291943" y="6933791"/>
            <a:ext cx="838200" cy="1104899"/>
          </a:xfrm>
          <a:prstGeom prst="downArrow">
            <a:avLst/>
          </a:prstGeom>
          <a:gradFill>
            <a:gsLst>
              <a:gs pos="100000">
                <a:srgbClr val="294717"/>
              </a:gs>
              <a:gs pos="58000">
                <a:srgbClr val="294717"/>
              </a:gs>
              <a:gs pos="0">
                <a:schemeClr val="accent3">
                  <a:lumMod val="60000"/>
                  <a:lumOff val="40000"/>
                </a:schemeClr>
              </a:gs>
              <a:gs pos="20000">
                <a:schemeClr val="accent3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1CFBB6-92C4-8D1F-DEF1-1FE6C20EE549}"/>
              </a:ext>
            </a:extLst>
          </p:cNvPr>
          <p:cNvSpPr txBox="1"/>
          <p:nvPr/>
        </p:nvSpPr>
        <p:spPr>
          <a:xfrm>
            <a:off x="779025" y="2971800"/>
            <a:ext cx="1237956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• User</a:t>
            </a:r>
            <a:r>
              <a:rPr lang="ko-KR" altLang="en-US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 </a:t>
            </a:r>
            <a:r>
              <a:rPr lang="en-US" altLang="ko-KR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Table</a:t>
            </a:r>
            <a:endParaRPr lang="ko-KR" altLang="en-US" sz="2500" dirty="0"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7A40E8-012C-08E7-2233-FCF339AACAD7}"/>
              </a:ext>
            </a:extLst>
          </p:cNvPr>
          <p:cNvSpPr txBox="1"/>
          <p:nvPr/>
        </p:nvSpPr>
        <p:spPr>
          <a:xfrm>
            <a:off x="14406489" y="1975193"/>
            <a:ext cx="1237956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• </a:t>
            </a:r>
            <a:r>
              <a:rPr lang="ko-KR" altLang="en-US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샘플 데이터</a:t>
            </a:r>
          </a:p>
        </p:txBody>
      </p:sp>
    </p:spTree>
    <p:extLst>
      <p:ext uri="{BB962C8B-B14F-4D97-AF65-F5344CB8AC3E}">
        <p14:creationId xmlns:p14="http://schemas.microsoft.com/office/powerpoint/2010/main" val="8853212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29" name="TextBox 16">
            <a:extLst>
              <a:ext uri="{FF2B5EF4-FFF2-40B4-BE49-F238E27FC236}">
                <a16:creationId xmlns:a16="http://schemas.microsoft.com/office/drawing/2014/main" id="{34FF058A-38ED-74ED-D67F-8388871A6DC9}"/>
              </a:ext>
            </a:extLst>
          </p:cNvPr>
          <p:cNvSpPr txBox="1"/>
          <p:nvPr/>
        </p:nvSpPr>
        <p:spPr>
          <a:xfrm>
            <a:off x="914402" y="942101"/>
            <a:ext cx="96773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설계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 테이블 인스턴스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sp>
        <p:nvSpPr>
          <p:cNvPr id="26" name="TextBox 22">
            <a:extLst>
              <a:ext uri="{FF2B5EF4-FFF2-40B4-BE49-F238E27FC236}">
                <a16:creationId xmlns:a16="http://schemas.microsoft.com/office/drawing/2014/main" id="{4A410FDF-8C58-C4A1-ED03-575FAD0DB72E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b="0" i="0" u="none" strike="noStrike" dirty="0">
                <a:solidFill>
                  <a:srgbClr val="787878"/>
                </a:solidFill>
                <a:latin typeface="Poppins Regular"/>
              </a:rPr>
              <a:t>22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D42D7E3-9693-7F19-9A0B-20FCB6E44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686219"/>
              </p:ext>
            </p:extLst>
          </p:nvPr>
        </p:nvGraphicFramePr>
        <p:xfrm>
          <a:off x="762000" y="3202891"/>
          <a:ext cx="12121979" cy="3629020"/>
        </p:xfrm>
        <a:graphic>
          <a:graphicData uri="http://schemas.openxmlformats.org/drawingml/2006/table">
            <a:tbl>
              <a:tblPr/>
              <a:tblGrid>
                <a:gridCol w="2882130">
                  <a:extLst>
                    <a:ext uri="{9D8B030D-6E8A-4147-A177-3AD203B41FA5}">
                      <a16:colId xmlns:a16="http://schemas.microsoft.com/office/drawing/2014/main" val="1190215379"/>
                    </a:ext>
                  </a:extLst>
                </a:gridCol>
                <a:gridCol w="4772779">
                  <a:extLst>
                    <a:ext uri="{9D8B030D-6E8A-4147-A177-3AD203B41FA5}">
                      <a16:colId xmlns:a16="http://schemas.microsoft.com/office/drawing/2014/main" val="4002408949"/>
                    </a:ext>
                  </a:extLst>
                </a:gridCol>
                <a:gridCol w="4467070">
                  <a:extLst>
                    <a:ext uri="{9D8B030D-6E8A-4147-A177-3AD203B41FA5}">
                      <a16:colId xmlns:a16="http://schemas.microsoft.com/office/drawing/2014/main" val="3895368787"/>
                    </a:ext>
                  </a:extLst>
                </a:gridCol>
              </a:tblGrid>
              <a:tr h="232121">
                <a:tc>
                  <a:txBody>
                    <a:bodyPr/>
                    <a:lstStyle/>
                    <a:p>
                      <a:r>
                        <a:rPr lang="ko-KR" alt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필드명</a:t>
                      </a:r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타입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설명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5984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stadium_id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 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풋살장 고유 </a:t>
                      </a:r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297995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varchar(100)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풋살장 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681277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address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varchar(255)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풋살장 주소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14616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latitude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decimal(10, 8)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위도 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(</a:t>
                      </a:r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카카오맵 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92006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longitude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decimal(11, 8)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경도 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(</a:t>
                      </a:r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카카오맵 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257415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created_at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등록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810634"/>
                  </a:ext>
                </a:extLst>
              </a:tr>
              <a:tr h="238297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updated_at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수정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841721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D67F5AA2-754A-5C69-3C5B-A735EB0CF0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616184"/>
              </p:ext>
            </p:extLst>
          </p:nvPr>
        </p:nvGraphicFramePr>
        <p:xfrm>
          <a:off x="14406489" y="3185049"/>
          <a:ext cx="9282065" cy="3629020"/>
        </p:xfrm>
        <a:graphic>
          <a:graphicData uri="http://schemas.openxmlformats.org/drawingml/2006/table">
            <a:tbl>
              <a:tblPr/>
              <a:tblGrid>
                <a:gridCol w="2652665">
                  <a:extLst>
                    <a:ext uri="{9D8B030D-6E8A-4147-A177-3AD203B41FA5}">
                      <a16:colId xmlns:a16="http://schemas.microsoft.com/office/drawing/2014/main" val="2044246646"/>
                    </a:ext>
                  </a:extLst>
                </a:gridCol>
                <a:gridCol w="6629400">
                  <a:extLst>
                    <a:ext uri="{9D8B030D-6E8A-4147-A177-3AD203B41FA5}">
                      <a16:colId xmlns:a16="http://schemas.microsoft.com/office/drawing/2014/main" val="1682602206"/>
                    </a:ext>
                  </a:extLst>
                </a:gridCol>
              </a:tblGrid>
              <a:tr h="232121">
                <a:tc>
                  <a:txBody>
                    <a:bodyPr/>
                    <a:lstStyle/>
                    <a:p>
                      <a:r>
                        <a:rPr lang="ko-KR" alt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필드명</a:t>
                      </a:r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536719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stadium_id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1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119851"/>
                  </a:ext>
                </a:extLst>
              </a:tr>
              <a:tr h="434459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kern="1200" dirty="0" err="1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캥거루풋볼</a:t>
                      </a:r>
                      <a:endParaRPr lang="ko-KR" altLang="en-US" sz="2400" kern="1200" dirty="0">
                        <a:solidFill>
                          <a:schemeClr val="tx1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  <a:cs typeface="+mn-cs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024635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address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서울 강남구 개포로 </a:t>
                      </a:r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508</a:t>
                      </a:r>
                      <a:endParaRPr lang="ko-KR" altLang="en-US" sz="2400" kern="1200" dirty="0">
                        <a:solidFill>
                          <a:schemeClr val="tx1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  <a:cs typeface="+mn-cs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426265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latitude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37.52268442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257067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longitude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127.02036229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42800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created_at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2025-11-12 16:47:25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844171"/>
                  </a:ext>
                </a:extLst>
              </a:tr>
              <a:tr h="238297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updated_at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2025-11-12 16:47:25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277909"/>
                  </a:ext>
                </a:extLst>
              </a:tr>
            </a:tbl>
          </a:graphicData>
        </a:graphic>
      </p:graphicFrame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264B0856-8EDA-6E8F-6CE0-9C6E1B001ACC}"/>
              </a:ext>
            </a:extLst>
          </p:cNvPr>
          <p:cNvSpPr/>
          <p:nvPr/>
        </p:nvSpPr>
        <p:spPr>
          <a:xfrm rot="16200000">
            <a:off x="13291943" y="4591051"/>
            <a:ext cx="838200" cy="1104899"/>
          </a:xfrm>
          <a:prstGeom prst="downArrow">
            <a:avLst/>
          </a:prstGeom>
          <a:gradFill>
            <a:gsLst>
              <a:gs pos="100000">
                <a:srgbClr val="294717"/>
              </a:gs>
              <a:gs pos="58000">
                <a:srgbClr val="294717"/>
              </a:gs>
              <a:gs pos="0">
                <a:schemeClr val="accent3">
                  <a:lumMod val="60000"/>
                  <a:lumOff val="40000"/>
                </a:schemeClr>
              </a:gs>
              <a:gs pos="20000">
                <a:schemeClr val="accent3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1CFBB6-92C4-8D1F-DEF1-1FE6C20EE549}"/>
              </a:ext>
            </a:extLst>
          </p:cNvPr>
          <p:cNvSpPr txBox="1"/>
          <p:nvPr/>
        </p:nvSpPr>
        <p:spPr>
          <a:xfrm>
            <a:off x="779025" y="2514600"/>
            <a:ext cx="1237956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• Stadium Table</a:t>
            </a:r>
            <a:endParaRPr lang="ko-KR" altLang="en-US" sz="2500" dirty="0"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7A40E8-012C-08E7-2233-FCF339AACAD7}"/>
              </a:ext>
            </a:extLst>
          </p:cNvPr>
          <p:cNvSpPr txBox="1"/>
          <p:nvPr/>
        </p:nvSpPr>
        <p:spPr>
          <a:xfrm>
            <a:off x="14406489" y="2514600"/>
            <a:ext cx="1237956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• </a:t>
            </a:r>
            <a:r>
              <a:rPr lang="ko-KR" altLang="en-US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샘플 데이터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5FC77BE-C911-0875-19D8-220860F3EF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609442"/>
              </p:ext>
            </p:extLst>
          </p:nvPr>
        </p:nvGraphicFramePr>
        <p:xfrm>
          <a:off x="761999" y="7670563"/>
          <a:ext cx="12121979" cy="5457820"/>
        </p:xfrm>
        <a:graphic>
          <a:graphicData uri="http://schemas.openxmlformats.org/drawingml/2006/table">
            <a:tbl>
              <a:tblPr/>
              <a:tblGrid>
                <a:gridCol w="2882130">
                  <a:extLst>
                    <a:ext uri="{9D8B030D-6E8A-4147-A177-3AD203B41FA5}">
                      <a16:colId xmlns:a16="http://schemas.microsoft.com/office/drawing/2014/main" val="3526336508"/>
                    </a:ext>
                  </a:extLst>
                </a:gridCol>
                <a:gridCol w="4772779">
                  <a:extLst>
                    <a:ext uri="{9D8B030D-6E8A-4147-A177-3AD203B41FA5}">
                      <a16:colId xmlns:a16="http://schemas.microsoft.com/office/drawing/2014/main" val="1398084810"/>
                    </a:ext>
                  </a:extLst>
                </a:gridCol>
                <a:gridCol w="4467070">
                  <a:extLst>
                    <a:ext uri="{9D8B030D-6E8A-4147-A177-3AD203B41FA5}">
                      <a16:colId xmlns:a16="http://schemas.microsoft.com/office/drawing/2014/main" val="3137115603"/>
                    </a:ext>
                  </a:extLst>
                </a:gridCol>
              </a:tblGrid>
              <a:tr h="232121">
                <a:tc>
                  <a:txBody>
                    <a:bodyPr/>
                    <a:lstStyle/>
                    <a:p>
                      <a:r>
                        <a:rPr lang="ko-KR" alt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필드명</a:t>
                      </a:r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타입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설명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40341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room_id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 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매칭방 고유 </a:t>
                      </a:r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592245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stadium_id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 FK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풋살장 </a:t>
                      </a:r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 (Stadium </a:t>
                      </a:r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참조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66990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host_id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 FK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방장 사용자 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 (User </a:t>
                      </a:r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참조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942499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match_date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경기 날짜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148473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match_time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경기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611652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max_players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최대 모집 인원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434229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current_players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현재 참가 인원 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(</a:t>
                      </a:r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기본값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: 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998760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enum('</a:t>
                      </a:r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초급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', '</a:t>
                      </a:r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중급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', '</a:t>
                      </a:r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고급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')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경기 수준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293522"/>
                  </a:ext>
                </a:extLst>
              </a:tr>
              <a:tr h="238297"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Varchar(50)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매칭방 상태 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(</a:t>
                      </a:r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기본값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: '</a:t>
                      </a:r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모집중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')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723487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created_at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생성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635570"/>
                  </a:ext>
                </a:extLst>
              </a:tr>
              <a:tr h="238297"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updated_at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수정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202580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A82D4A1-7A4E-4EE2-675C-AC3BDE8A47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417494"/>
              </p:ext>
            </p:extLst>
          </p:nvPr>
        </p:nvGraphicFramePr>
        <p:xfrm>
          <a:off x="14406489" y="7670563"/>
          <a:ext cx="7654909" cy="5457820"/>
        </p:xfrm>
        <a:graphic>
          <a:graphicData uri="http://schemas.openxmlformats.org/drawingml/2006/table">
            <a:tbl>
              <a:tblPr/>
              <a:tblGrid>
                <a:gridCol w="2882130">
                  <a:extLst>
                    <a:ext uri="{9D8B030D-6E8A-4147-A177-3AD203B41FA5}">
                      <a16:colId xmlns:a16="http://schemas.microsoft.com/office/drawing/2014/main" val="3526336508"/>
                    </a:ext>
                  </a:extLst>
                </a:gridCol>
                <a:gridCol w="4772779">
                  <a:extLst>
                    <a:ext uri="{9D8B030D-6E8A-4147-A177-3AD203B41FA5}">
                      <a16:colId xmlns:a16="http://schemas.microsoft.com/office/drawing/2014/main" val="1398084810"/>
                    </a:ext>
                  </a:extLst>
                </a:gridCol>
              </a:tblGrid>
              <a:tr h="232121">
                <a:tc>
                  <a:txBody>
                    <a:bodyPr/>
                    <a:lstStyle/>
                    <a:p>
                      <a:r>
                        <a:rPr lang="ko-KR" alt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필드명</a:t>
                      </a:r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40341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room_id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592245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stadium_id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66990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host_id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942499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match_date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2025-11-10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148473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match_time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19:00:00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611652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max_players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20:00:00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434229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current_players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998760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초급</a:t>
                      </a:r>
                      <a:endParaRPr lang="en-US" altLang="ko-KR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293522"/>
                  </a:ext>
                </a:extLst>
              </a:tr>
              <a:tr h="238297"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CLOSED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723487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created_at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2025-11-07 14:04:52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635570"/>
                  </a:ext>
                </a:extLst>
              </a:tr>
              <a:tr h="238297"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updated_at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2025-11-08 00:26:59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202580"/>
                  </a:ext>
                </a:extLst>
              </a:tr>
            </a:tbl>
          </a:graphicData>
        </a:graphic>
      </p:graphicFrame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FE69739C-27AB-E644-D801-CEAE84C6468B}"/>
              </a:ext>
            </a:extLst>
          </p:cNvPr>
          <p:cNvSpPr/>
          <p:nvPr/>
        </p:nvSpPr>
        <p:spPr>
          <a:xfrm rot="16200000">
            <a:off x="13279100" y="9160632"/>
            <a:ext cx="838200" cy="1104899"/>
          </a:xfrm>
          <a:prstGeom prst="downArrow">
            <a:avLst/>
          </a:prstGeom>
          <a:gradFill>
            <a:gsLst>
              <a:gs pos="100000">
                <a:srgbClr val="294717"/>
              </a:gs>
              <a:gs pos="58000">
                <a:srgbClr val="294717"/>
              </a:gs>
              <a:gs pos="0">
                <a:schemeClr val="accent3">
                  <a:lumMod val="60000"/>
                  <a:lumOff val="40000"/>
                </a:schemeClr>
              </a:gs>
              <a:gs pos="20000">
                <a:schemeClr val="accent3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888B1D-A906-FCAA-E82B-FAC88A7C643F}"/>
              </a:ext>
            </a:extLst>
          </p:cNvPr>
          <p:cNvSpPr txBox="1"/>
          <p:nvPr/>
        </p:nvSpPr>
        <p:spPr>
          <a:xfrm>
            <a:off x="766182" y="7084181"/>
            <a:ext cx="1237956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• </a:t>
            </a:r>
            <a:r>
              <a:rPr lang="en-US" altLang="ko-KR" sz="2500" dirty="0" err="1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Match_Room</a:t>
            </a:r>
            <a:r>
              <a:rPr lang="en-US" altLang="ko-KR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 Table</a:t>
            </a:r>
            <a:endParaRPr lang="ko-KR" altLang="en-US" sz="2500" dirty="0"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3C9A86-D65B-C720-F6BA-6E9DD428CCDF}"/>
              </a:ext>
            </a:extLst>
          </p:cNvPr>
          <p:cNvSpPr txBox="1"/>
          <p:nvPr/>
        </p:nvSpPr>
        <p:spPr>
          <a:xfrm>
            <a:off x="14393646" y="7084181"/>
            <a:ext cx="1237956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• </a:t>
            </a:r>
            <a:r>
              <a:rPr lang="ko-KR" altLang="en-US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샘플 데이터</a:t>
            </a:r>
          </a:p>
        </p:txBody>
      </p:sp>
    </p:spTree>
    <p:extLst>
      <p:ext uri="{BB962C8B-B14F-4D97-AF65-F5344CB8AC3E}">
        <p14:creationId xmlns:p14="http://schemas.microsoft.com/office/powerpoint/2010/main" val="19430167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29" name="TextBox 16">
            <a:extLst>
              <a:ext uri="{FF2B5EF4-FFF2-40B4-BE49-F238E27FC236}">
                <a16:creationId xmlns:a16="http://schemas.microsoft.com/office/drawing/2014/main" id="{34FF058A-38ED-74ED-D67F-8388871A6DC9}"/>
              </a:ext>
            </a:extLst>
          </p:cNvPr>
          <p:cNvSpPr txBox="1"/>
          <p:nvPr/>
        </p:nvSpPr>
        <p:spPr>
          <a:xfrm>
            <a:off x="914402" y="942101"/>
            <a:ext cx="96773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설계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 테이블 인스턴스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sp>
        <p:nvSpPr>
          <p:cNvPr id="26" name="TextBox 22">
            <a:extLst>
              <a:ext uri="{FF2B5EF4-FFF2-40B4-BE49-F238E27FC236}">
                <a16:creationId xmlns:a16="http://schemas.microsoft.com/office/drawing/2014/main" id="{4A410FDF-8C58-C4A1-ED03-575FAD0DB72E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dirty="0">
                <a:solidFill>
                  <a:srgbClr val="787878"/>
                </a:solidFill>
                <a:latin typeface="Poppins Regular"/>
              </a:rPr>
              <a:t>23</a:t>
            </a:r>
            <a:endParaRPr lang="en" sz="2592" b="0" i="0" u="none" strike="noStrike" dirty="0">
              <a:solidFill>
                <a:srgbClr val="787878"/>
              </a:solidFill>
              <a:latin typeface="Poppins Regular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D42D7E3-9693-7F19-9A0B-20FCB6E44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933283"/>
              </p:ext>
            </p:extLst>
          </p:nvPr>
        </p:nvGraphicFramePr>
        <p:xfrm>
          <a:off x="762000" y="3888691"/>
          <a:ext cx="12121979" cy="3171820"/>
        </p:xfrm>
        <a:graphic>
          <a:graphicData uri="http://schemas.openxmlformats.org/drawingml/2006/table">
            <a:tbl>
              <a:tblPr/>
              <a:tblGrid>
                <a:gridCol w="2882130">
                  <a:extLst>
                    <a:ext uri="{9D8B030D-6E8A-4147-A177-3AD203B41FA5}">
                      <a16:colId xmlns:a16="http://schemas.microsoft.com/office/drawing/2014/main" val="1190215379"/>
                    </a:ext>
                  </a:extLst>
                </a:gridCol>
                <a:gridCol w="4772779">
                  <a:extLst>
                    <a:ext uri="{9D8B030D-6E8A-4147-A177-3AD203B41FA5}">
                      <a16:colId xmlns:a16="http://schemas.microsoft.com/office/drawing/2014/main" val="4002408949"/>
                    </a:ext>
                  </a:extLst>
                </a:gridCol>
                <a:gridCol w="4467070">
                  <a:extLst>
                    <a:ext uri="{9D8B030D-6E8A-4147-A177-3AD203B41FA5}">
                      <a16:colId xmlns:a16="http://schemas.microsoft.com/office/drawing/2014/main" val="3895368787"/>
                    </a:ext>
                  </a:extLst>
                </a:gridCol>
              </a:tblGrid>
              <a:tr h="88906">
                <a:tc>
                  <a:txBody>
                    <a:bodyPr/>
                    <a:lstStyle/>
                    <a:p>
                      <a:r>
                        <a:rPr lang="ko-KR" alt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필드명</a:t>
                      </a:r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타입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설명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5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participant_id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</a:t>
                      </a:r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참가자 고유 </a:t>
                      </a:r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297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room_id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</a:t>
                      </a:r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FK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매칭방</a:t>
                      </a:r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</a:t>
                      </a:r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 (</a:t>
                      </a:r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Match_Room</a:t>
                      </a:r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</a:t>
                      </a:r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참조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681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user_id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</a:t>
                      </a:r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FK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참가자 사용자 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 (User </a:t>
                      </a:r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참조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14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Varchar(50)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참여 상태</a:t>
                      </a:r>
                      <a:endParaRPr lang="en-US" altLang="ko-KR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92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joined_at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참여 시간</a:t>
                      </a:r>
                      <a:endParaRPr lang="en-US" altLang="ko-KR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257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Varchar(10)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참가자 포지션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810634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D67F5AA2-754A-5C69-3C5B-A735EB0CF0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243802"/>
              </p:ext>
            </p:extLst>
          </p:nvPr>
        </p:nvGraphicFramePr>
        <p:xfrm>
          <a:off x="14406489" y="3870849"/>
          <a:ext cx="9282065" cy="3171820"/>
        </p:xfrm>
        <a:graphic>
          <a:graphicData uri="http://schemas.openxmlformats.org/drawingml/2006/table">
            <a:tbl>
              <a:tblPr/>
              <a:tblGrid>
                <a:gridCol w="2652665">
                  <a:extLst>
                    <a:ext uri="{9D8B030D-6E8A-4147-A177-3AD203B41FA5}">
                      <a16:colId xmlns:a16="http://schemas.microsoft.com/office/drawing/2014/main" val="2044246646"/>
                    </a:ext>
                  </a:extLst>
                </a:gridCol>
                <a:gridCol w="6629400">
                  <a:extLst>
                    <a:ext uri="{9D8B030D-6E8A-4147-A177-3AD203B41FA5}">
                      <a16:colId xmlns:a16="http://schemas.microsoft.com/office/drawing/2014/main" val="16826022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필드명</a:t>
                      </a:r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536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participant_id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45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119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room_id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137</a:t>
                      </a:r>
                      <a:endParaRPr lang="ko-KR" altLang="en-US" sz="2400" kern="1200" dirty="0">
                        <a:solidFill>
                          <a:schemeClr val="tx1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  <a:cs typeface="+mn-cs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024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user_id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76</a:t>
                      </a:r>
                      <a:endParaRPr lang="ko-KR" altLang="en-US" sz="2400" kern="1200" dirty="0">
                        <a:solidFill>
                          <a:schemeClr val="tx1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  <a:cs typeface="+mn-cs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426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확정</a:t>
                      </a:r>
                      <a:endParaRPr lang="en-US" altLang="ko-KR" sz="2400" kern="1200" dirty="0">
                        <a:solidFill>
                          <a:schemeClr val="tx1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  <a:cs typeface="+mn-cs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257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joined_at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2025-11-29 13:14:10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42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비보 </a:t>
                      </a:r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(PIVO)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844171"/>
                  </a:ext>
                </a:extLst>
              </a:tr>
            </a:tbl>
          </a:graphicData>
        </a:graphic>
      </p:graphicFrame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264B0856-8EDA-6E8F-6CE0-9C6E1B001ACC}"/>
              </a:ext>
            </a:extLst>
          </p:cNvPr>
          <p:cNvSpPr/>
          <p:nvPr/>
        </p:nvSpPr>
        <p:spPr>
          <a:xfrm rot="16200000">
            <a:off x="13291943" y="4819651"/>
            <a:ext cx="838200" cy="1104899"/>
          </a:xfrm>
          <a:prstGeom prst="downArrow">
            <a:avLst/>
          </a:prstGeom>
          <a:gradFill>
            <a:gsLst>
              <a:gs pos="100000">
                <a:srgbClr val="294717"/>
              </a:gs>
              <a:gs pos="58000">
                <a:srgbClr val="294717"/>
              </a:gs>
              <a:gs pos="0">
                <a:schemeClr val="accent3">
                  <a:lumMod val="60000"/>
                  <a:lumOff val="40000"/>
                </a:schemeClr>
              </a:gs>
              <a:gs pos="20000">
                <a:schemeClr val="accent3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1CFBB6-92C4-8D1F-DEF1-1FE6C20EE549}"/>
              </a:ext>
            </a:extLst>
          </p:cNvPr>
          <p:cNvSpPr txBox="1"/>
          <p:nvPr/>
        </p:nvSpPr>
        <p:spPr>
          <a:xfrm>
            <a:off x="779025" y="3200400"/>
            <a:ext cx="1237956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• </a:t>
            </a:r>
            <a:r>
              <a:rPr lang="en-US" altLang="ko-KR" sz="2500" dirty="0" err="1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Match_Participant</a:t>
            </a:r>
            <a:r>
              <a:rPr lang="en-US" altLang="ko-KR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 Table</a:t>
            </a:r>
            <a:endParaRPr lang="ko-KR" altLang="en-US" sz="2500" dirty="0"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7A40E8-012C-08E7-2233-FCF339AACAD7}"/>
              </a:ext>
            </a:extLst>
          </p:cNvPr>
          <p:cNvSpPr txBox="1"/>
          <p:nvPr/>
        </p:nvSpPr>
        <p:spPr>
          <a:xfrm>
            <a:off x="14406489" y="3200400"/>
            <a:ext cx="1237956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• </a:t>
            </a:r>
            <a:r>
              <a:rPr lang="ko-KR" altLang="en-US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샘플 데이터</a:t>
            </a:r>
          </a:p>
        </p:txBody>
      </p:sp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FE69739C-27AB-E644-D801-CEAE84C6468B}"/>
              </a:ext>
            </a:extLst>
          </p:cNvPr>
          <p:cNvSpPr/>
          <p:nvPr/>
        </p:nvSpPr>
        <p:spPr>
          <a:xfrm rot="16200000">
            <a:off x="13279100" y="9846432"/>
            <a:ext cx="838200" cy="1104899"/>
          </a:xfrm>
          <a:prstGeom prst="downArrow">
            <a:avLst/>
          </a:prstGeom>
          <a:gradFill>
            <a:gsLst>
              <a:gs pos="100000">
                <a:srgbClr val="294717"/>
              </a:gs>
              <a:gs pos="58000">
                <a:srgbClr val="294717"/>
              </a:gs>
              <a:gs pos="0">
                <a:schemeClr val="accent3">
                  <a:lumMod val="60000"/>
                  <a:lumOff val="40000"/>
                </a:schemeClr>
              </a:gs>
              <a:gs pos="20000">
                <a:schemeClr val="accent3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888B1D-A906-FCAA-E82B-FAC88A7C643F}"/>
              </a:ext>
            </a:extLst>
          </p:cNvPr>
          <p:cNvSpPr txBox="1"/>
          <p:nvPr/>
        </p:nvSpPr>
        <p:spPr>
          <a:xfrm>
            <a:off x="766182" y="7769981"/>
            <a:ext cx="1237956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• </a:t>
            </a:r>
            <a:r>
              <a:rPr lang="en-US" altLang="ko-KR" sz="2500" dirty="0" err="1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Riview</a:t>
            </a:r>
            <a:r>
              <a:rPr lang="en-US" altLang="ko-KR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 Table</a:t>
            </a:r>
            <a:endParaRPr lang="ko-KR" altLang="en-US" sz="2500" dirty="0"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3C9A86-D65B-C720-F6BA-6E9DD428CCDF}"/>
              </a:ext>
            </a:extLst>
          </p:cNvPr>
          <p:cNvSpPr txBox="1"/>
          <p:nvPr/>
        </p:nvSpPr>
        <p:spPr>
          <a:xfrm>
            <a:off x="14393646" y="7769981"/>
            <a:ext cx="1237956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• </a:t>
            </a:r>
            <a:r>
              <a:rPr lang="ko-KR" altLang="en-US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샘플 데이터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A8E7F4E4-5316-003F-9A70-981D9F089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285662"/>
              </p:ext>
            </p:extLst>
          </p:nvPr>
        </p:nvGraphicFramePr>
        <p:xfrm>
          <a:off x="762000" y="8526418"/>
          <a:ext cx="12121979" cy="3629020"/>
        </p:xfrm>
        <a:graphic>
          <a:graphicData uri="http://schemas.openxmlformats.org/drawingml/2006/table">
            <a:tbl>
              <a:tblPr/>
              <a:tblGrid>
                <a:gridCol w="2882130">
                  <a:extLst>
                    <a:ext uri="{9D8B030D-6E8A-4147-A177-3AD203B41FA5}">
                      <a16:colId xmlns:a16="http://schemas.microsoft.com/office/drawing/2014/main" val="1190215379"/>
                    </a:ext>
                  </a:extLst>
                </a:gridCol>
                <a:gridCol w="4772779">
                  <a:extLst>
                    <a:ext uri="{9D8B030D-6E8A-4147-A177-3AD203B41FA5}">
                      <a16:colId xmlns:a16="http://schemas.microsoft.com/office/drawing/2014/main" val="4002408949"/>
                    </a:ext>
                  </a:extLst>
                </a:gridCol>
                <a:gridCol w="4467070">
                  <a:extLst>
                    <a:ext uri="{9D8B030D-6E8A-4147-A177-3AD203B41FA5}">
                      <a16:colId xmlns:a16="http://schemas.microsoft.com/office/drawing/2014/main" val="3895368787"/>
                    </a:ext>
                  </a:extLst>
                </a:gridCol>
              </a:tblGrid>
              <a:tr h="232121">
                <a:tc>
                  <a:txBody>
                    <a:bodyPr/>
                    <a:lstStyle/>
                    <a:p>
                      <a:r>
                        <a:rPr lang="ko-KR" alt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필드명</a:t>
                      </a:r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타입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설명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5984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review_id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 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후기 고유 </a:t>
                      </a:r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297995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stadium_id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 FK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풋살장 </a:t>
                      </a:r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 (Stadium </a:t>
                      </a:r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참조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681277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user_id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 FK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작성자 사용자 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 (User </a:t>
                      </a:r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참조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14616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rating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평점 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(1~5</a:t>
                      </a:r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점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92006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후기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257415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created_at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작성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810634"/>
                  </a:ext>
                </a:extLst>
              </a:tr>
              <a:tr h="238297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updated_at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수정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841721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9069354-D7B6-4B6B-25D2-E49785AB1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692841"/>
              </p:ext>
            </p:extLst>
          </p:nvPr>
        </p:nvGraphicFramePr>
        <p:xfrm>
          <a:off x="14406489" y="8508576"/>
          <a:ext cx="9282065" cy="3629020"/>
        </p:xfrm>
        <a:graphic>
          <a:graphicData uri="http://schemas.openxmlformats.org/drawingml/2006/table">
            <a:tbl>
              <a:tblPr/>
              <a:tblGrid>
                <a:gridCol w="2652665">
                  <a:extLst>
                    <a:ext uri="{9D8B030D-6E8A-4147-A177-3AD203B41FA5}">
                      <a16:colId xmlns:a16="http://schemas.microsoft.com/office/drawing/2014/main" val="2044246646"/>
                    </a:ext>
                  </a:extLst>
                </a:gridCol>
                <a:gridCol w="6629400">
                  <a:extLst>
                    <a:ext uri="{9D8B030D-6E8A-4147-A177-3AD203B41FA5}">
                      <a16:colId xmlns:a16="http://schemas.microsoft.com/office/drawing/2014/main" val="1682602206"/>
                    </a:ext>
                  </a:extLst>
                </a:gridCol>
              </a:tblGrid>
              <a:tr h="232121">
                <a:tc>
                  <a:txBody>
                    <a:bodyPr/>
                    <a:lstStyle/>
                    <a:p>
                      <a:r>
                        <a:rPr lang="ko-KR" alt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필드명</a:t>
                      </a:r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536719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review_id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10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119851"/>
                  </a:ext>
                </a:extLst>
              </a:tr>
              <a:tr h="434459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stadium_id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545</a:t>
                      </a:r>
                      <a:endParaRPr lang="ko-KR" altLang="en-US" sz="2400" kern="1200" dirty="0">
                        <a:solidFill>
                          <a:schemeClr val="tx1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  <a:cs typeface="+mn-cs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024635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user_id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12</a:t>
                      </a:r>
                      <a:endParaRPr lang="ko-KR" altLang="en-US" sz="2400" kern="1200" dirty="0">
                        <a:solidFill>
                          <a:schemeClr val="tx1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  <a:cs typeface="+mn-cs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426265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rating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5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257067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시설이 좋았습니다</a:t>
                      </a:r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!</a:t>
                      </a:r>
                      <a:endParaRPr lang="ko-KR" altLang="en-US" sz="2400" kern="1200" dirty="0">
                        <a:solidFill>
                          <a:schemeClr val="tx1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  <a:cs typeface="+mn-cs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42800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created_at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2025-11-12 16:47:25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844171"/>
                  </a:ext>
                </a:extLst>
              </a:tr>
              <a:tr h="238297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updated_at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2025-11-12 16:50:12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277909"/>
                  </a:ext>
                </a:extLst>
              </a:tr>
            </a:tbl>
          </a:graphicData>
        </a:graphic>
      </p:graphicFrame>
      <p:pic>
        <p:nvPicPr>
          <p:cNvPr id="13" name="Picture 5">
            <a:extLst>
              <a:ext uri="{FF2B5EF4-FFF2-40B4-BE49-F238E27FC236}">
                <a16:creationId xmlns:a16="http://schemas.microsoft.com/office/drawing/2014/main" id="{010289C5-741E-3366-6A3C-E16BBE0894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4141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29" name="TextBox 16">
            <a:extLst>
              <a:ext uri="{FF2B5EF4-FFF2-40B4-BE49-F238E27FC236}">
                <a16:creationId xmlns:a16="http://schemas.microsoft.com/office/drawing/2014/main" id="{34FF058A-38ED-74ED-D67F-8388871A6DC9}"/>
              </a:ext>
            </a:extLst>
          </p:cNvPr>
          <p:cNvSpPr txBox="1"/>
          <p:nvPr/>
        </p:nvSpPr>
        <p:spPr>
          <a:xfrm>
            <a:off x="914402" y="942101"/>
            <a:ext cx="96773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</a:t>
            </a:r>
            <a:r>
              <a:rPr lang="ko-KR" altLang="en-US" sz="8000" b="1" spc="-156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설계</a:t>
            </a:r>
            <a:r>
              <a:rPr lang="ko-KR" altLang="en-US" sz="4000" b="1" spc="-156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 테이블 인스턴스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36" name="Picture 5">
            <a:extLst>
              <a:ext uri="{FF2B5EF4-FFF2-40B4-BE49-F238E27FC236}">
                <a16:creationId xmlns:a16="http://schemas.microsoft.com/office/drawing/2014/main" id="{40E41A3A-BE2B-19E1-1D6B-4B3A82D8E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sp>
        <p:nvSpPr>
          <p:cNvPr id="26" name="TextBox 22">
            <a:extLst>
              <a:ext uri="{FF2B5EF4-FFF2-40B4-BE49-F238E27FC236}">
                <a16:creationId xmlns:a16="http://schemas.microsoft.com/office/drawing/2014/main" id="{4A410FDF-8C58-C4A1-ED03-575FAD0DB72E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dirty="0">
                <a:solidFill>
                  <a:srgbClr val="787878"/>
                </a:solidFill>
                <a:latin typeface="Poppins Regular"/>
              </a:rPr>
              <a:t>24</a:t>
            </a:r>
            <a:endParaRPr lang="en" sz="2592" b="0" i="0" u="none" strike="noStrike" dirty="0">
              <a:solidFill>
                <a:srgbClr val="787878"/>
              </a:solidFill>
              <a:latin typeface="Poppins Regular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B686609-FB9C-BA84-C97C-8DCD676810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50798"/>
              </p:ext>
            </p:extLst>
          </p:nvPr>
        </p:nvGraphicFramePr>
        <p:xfrm>
          <a:off x="1496985" y="3838580"/>
          <a:ext cx="12121979" cy="4543420"/>
        </p:xfrm>
        <a:graphic>
          <a:graphicData uri="http://schemas.openxmlformats.org/drawingml/2006/table">
            <a:tbl>
              <a:tblPr/>
              <a:tblGrid>
                <a:gridCol w="2882130">
                  <a:extLst>
                    <a:ext uri="{9D8B030D-6E8A-4147-A177-3AD203B41FA5}">
                      <a16:colId xmlns:a16="http://schemas.microsoft.com/office/drawing/2014/main" val="3526336508"/>
                    </a:ext>
                  </a:extLst>
                </a:gridCol>
                <a:gridCol w="4772779">
                  <a:extLst>
                    <a:ext uri="{9D8B030D-6E8A-4147-A177-3AD203B41FA5}">
                      <a16:colId xmlns:a16="http://schemas.microsoft.com/office/drawing/2014/main" val="1398084810"/>
                    </a:ext>
                  </a:extLst>
                </a:gridCol>
                <a:gridCol w="4467070">
                  <a:extLst>
                    <a:ext uri="{9D8B030D-6E8A-4147-A177-3AD203B41FA5}">
                      <a16:colId xmlns:a16="http://schemas.microsoft.com/office/drawing/2014/main" val="3137115603"/>
                    </a:ext>
                  </a:extLst>
                </a:gridCol>
              </a:tblGrid>
              <a:tr h="232121">
                <a:tc>
                  <a:txBody>
                    <a:bodyPr/>
                    <a:lstStyle/>
                    <a:p>
                      <a:r>
                        <a:rPr lang="ko-KR" alt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필드명</a:t>
                      </a:r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타입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설명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40341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chat_room_id</a:t>
                      </a:r>
                      <a:endParaRPr lang="en-US" sz="2400" dirty="0"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 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채팅방 고유 </a:t>
                      </a:r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592245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room_type</a:t>
                      </a:r>
                      <a:endParaRPr lang="en-US" sz="2400" dirty="0"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enum('1</a:t>
                      </a:r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대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1', '</a:t>
                      </a:r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그룹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', '</a:t>
                      </a:r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전체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')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채팅방 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66990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room_name</a:t>
                      </a:r>
                      <a:endParaRPr lang="en-US" sz="2400" dirty="0"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VARCHAR(255)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채팅방 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942499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unread_count</a:t>
                      </a:r>
                      <a:endParaRPr lang="en-US" sz="2400" dirty="0"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채팅방 내 읽지 않은 메세지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148473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member_count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binint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현재 채팅방에 있는 인원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611652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creator_id</a:t>
                      </a:r>
                      <a:endParaRPr lang="en-US" sz="2400" dirty="0"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방장 </a:t>
                      </a:r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434229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max_participants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채팅방 최대 인원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998760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created_at</a:t>
                      </a:r>
                      <a:endParaRPr lang="en-US" sz="2400" dirty="0"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생성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293522"/>
                  </a:ext>
                </a:extLst>
              </a:tr>
              <a:tr h="238297">
                <a:tc>
                  <a:txBody>
                    <a:bodyPr/>
                    <a:lstStyle/>
                    <a:p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updated_at</a:t>
                      </a:r>
                      <a:endParaRPr lang="en-US" sz="2400" dirty="0"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수정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723487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FF26C01-7275-A813-4AE8-015D21FC15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416520"/>
              </p:ext>
            </p:extLst>
          </p:nvPr>
        </p:nvGraphicFramePr>
        <p:xfrm>
          <a:off x="15141475" y="3838580"/>
          <a:ext cx="7654909" cy="4543420"/>
        </p:xfrm>
        <a:graphic>
          <a:graphicData uri="http://schemas.openxmlformats.org/drawingml/2006/table">
            <a:tbl>
              <a:tblPr/>
              <a:tblGrid>
                <a:gridCol w="2882130">
                  <a:extLst>
                    <a:ext uri="{9D8B030D-6E8A-4147-A177-3AD203B41FA5}">
                      <a16:colId xmlns:a16="http://schemas.microsoft.com/office/drawing/2014/main" val="3526336508"/>
                    </a:ext>
                  </a:extLst>
                </a:gridCol>
                <a:gridCol w="4772779">
                  <a:extLst>
                    <a:ext uri="{9D8B030D-6E8A-4147-A177-3AD203B41FA5}">
                      <a16:colId xmlns:a16="http://schemas.microsoft.com/office/drawing/2014/main" val="1398084810"/>
                    </a:ext>
                  </a:extLst>
                </a:gridCol>
              </a:tblGrid>
              <a:tr h="232121">
                <a:tc>
                  <a:txBody>
                    <a:bodyPr/>
                    <a:lstStyle/>
                    <a:p>
                      <a:r>
                        <a:rPr lang="ko-KR" alt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필드명</a:t>
                      </a:r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40341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chat_room_id</a:t>
                      </a:r>
                      <a:endParaRPr lang="en-US" sz="2400" dirty="0"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592245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room_type</a:t>
                      </a:r>
                      <a:endParaRPr lang="en-US" sz="2400" dirty="0"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1</a:t>
                      </a:r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대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1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66990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room_name</a:t>
                      </a:r>
                      <a:endParaRPr lang="en-US" sz="2400" dirty="0"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kern="1200" dirty="0" err="1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chapssal</a:t>
                      </a:r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ko-KR" altLang="en-US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님과의 채팅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942499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unread_count</a:t>
                      </a:r>
                      <a:endParaRPr lang="en-US" sz="2400" dirty="0"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148473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member_count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611652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creator_id</a:t>
                      </a:r>
                      <a:endParaRPr lang="en-US" sz="2400" dirty="0"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434229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max_participants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998760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created_at</a:t>
                      </a:r>
                      <a:endParaRPr lang="en-US" sz="2400" dirty="0"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2025-11-27</a:t>
                      </a:r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10:49:36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293522"/>
                  </a:ext>
                </a:extLst>
              </a:tr>
              <a:tr h="238297">
                <a:tc>
                  <a:txBody>
                    <a:bodyPr/>
                    <a:lstStyle/>
                    <a:p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updated_at</a:t>
                      </a:r>
                      <a:endParaRPr lang="en-US" sz="2400" dirty="0"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2025-11-28 11:46:51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723487"/>
                  </a:ext>
                </a:extLst>
              </a:tr>
            </a:tbl>
          </a:graphicData>
        </a:graphic>
      </p:graphicFrame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312FB434-EB49-0320-FEE3-C4F5796B7B28}"/>
              </a:ext>
            </a:extLst>
          </p:cNvPr>
          <p:cNvSpPr/>
          <p:nvPr/>
        </p:nvSpPr>
        <p:spPr>
          <a:xfrm rot="16200000">
            <a:off x="14014086" y="5328649"/>
            <a:ext cx="838200" cy="1104899"/>
          </a:xfrm>
          <a:prstGeom prst="downArrow">
            <a:avLst/>
          </a:prstGeom>
          <a:gradFill>
            <a:gsLst>
              <a:gs pos="100000">
                <a:srgbClr val="294717"/>
              </a:gs>
              <a:gs pos="58000">
                <a:srgbClr val="294717"/>
              </a:gs>
              <a:gs pos="0">
                <a:schemeClr val="accent3">
                  <a:lumMod val="60000"/>
                  <a:lumOff val="40000"/>
                </a:schemeClr>
              </a:gs>
              <a:gs pos="20000">
                <a:schemeClr val="accent3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060DB5-A725-ED66-797F-0A3829A935E0}"/>
              </a:ext>
            </a:extLst>
          </p:cNvPr>
          <p:cNvSpPr txBox="1"/>
          <p:nvPr/>
        </p:nvSpPr>
        <p:spPr>
          <a:xfrm>
            <a:off x="1501168" y="3252198"/>
            <a:ext cx="1237956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• </a:t>
            </a:r>
            <a:r>
              <a:rPr lang="en-US" altLang="ko-KR" sz="2500" dirty="0" err="1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Chat_Room</a:t>
            </a:r>
            <a:r>
              <a:rPr lang="en-US" altLang="ko-KR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 Table</a:t>
            </a:r>
            <a:endParaRPr lang="ko-KR" altLang="en-US" sz="2500" dirty="0"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1DAC83-3FC7-7C8D-77C9-73F2EDAAF82D}"/>
              </a:ext>
            </a:extLst>
          </p:cNvPr>
          <p:cNvSpPr txBox="1"/>
          <p:nvPr/>
        </p:nvSpPr>
        <p:spPr>
          <a:xfrm>
            <a:off x="15128632" y="3252198"/>
            <a:ext cx="1237956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• </a:t>
            </a:r>
            <a:r>
              <a:rPr lang="ko-KR" altLang="en-US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샘플 데이터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69611B48-734F-F48E-A598-9A977820B3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719084"/>
              </p:ext>
            </p:extLst>
          </p:nvPr>
        </p:nvGraphicFramePr>
        <p:xfrm>
          <a:off x="1496985" y="9401180"/>
          <a:ext cx="12121979" cy="2714620"/>
        </p:xfrm>
        <a:graphic>
          <a:graphicData uri="http://schemas.openxmlformats.org/drawingml/2006/table">
            <a:tbl>
              <a:tblPr/>
              <a:tblGrid>
                <a:gridCol w="2882130">
                  <a:extLst>
                    <a:ext uri="{9D8B030D-6E8A-4147-A177-3AD203B41FA5}">
                      <a16:colId xmlns:a16="http://schemas.microsoft.com/office/drawing/2014/main" val="3526336508"/>
                    </a:ext>
                  </a:extLst>
                </a:gridCol>
                <a:gridCol w="4772779">
                  <a:extLst>
                    <a:ext uri="{9D8B030D-6E8A-4147-A177-3AD203B41FA5}">
                      <a16:colId xmlns:a16="http://schemas.microsoft.com/office/drawing/2014/main" val="1398084810"/>
                    </a:ext>
                  </a:extLst>
                </a:gridCol>
                <a:gridCol w="4467070">
                  <a:extLst>
                    <a:ext uri="{9D8B030D-6E8A-4147-A177-3AD203B41FA5}">
                      <a16:colId xmlns:a16="http://schemas.microsoft.com/office/drawing/2014/main" val="3137115603"/>
                    </a:ext>
                  </a:extLst>
                </a:gridCol>
              </a:tblGrid>
              <a:tr h="232121">
                <a:tc>
                  <a:txBody>
                    <a:bodyPr/>
                    <a:lstStyle/>
                    <a:p>
                      <a:r>
                        <a:rPr lang="ko-KR" alt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필드명</a:t>
                      </a:r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타입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설명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40341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message_id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 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메시지 고유 </a:t>
                      </a:r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592245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chat_room_id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 FK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채팅방 </a:t>
                      </a:r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 (Chat_Room </a:t>
                      </a:r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참조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66990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sender_id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 FK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발신자 사용자 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 (User </a:t>
                      </a:r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참조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942499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message_content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메시지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148473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sent_at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전송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611652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FDA27CB-CEF8-11B7-7714-CFEF927C16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887228"/>
              </p:ext>
            </p:extLst>
          </p:nvPr>
        </p:nvGraphicFramePr>
        <p:xfrm>
          <a:off x="15141475" y="9401180"/>
          <a:ext cx="7654909" cy="2714620"/>
        </p:xfrm>
        <a:graphic>
          <a:graphicData uri="http://schemas.openxmlformats.org/drawingml/2006/table">
            <a:tbl>
              <a:tblPr/>
              <a:tblGrid>
                <a:gridCol w="2882130">
                  <a:extLst>
                    <a:ext uri="{9D8B030D-6E8A-4147-A177-3AD203B41FA5}">
                      <a16:colId xmlns:a16="http://schemas.microsoft.com/office/drawing/2014/main" val="3526336508"/>
                    </a:ext>
                  </a:extLst>
                </a:gridCol>
                <a:gridCol w="4772779">
                  <a:extLst>
                    <a:ext uri="{9D8B030D-6E8A-4147-A177-3AD203B41FA5}">
                      <a16:colId xmlns:a16="http://schemas.microsoft.com/office/drawing/2014/main" val="1398084810"/>
                    </a:ext>
                  </a:extLst>
                </a:gridCol>
              </a:tblGrid>
              <a:tr h="232121">
                <a:tc>
                  <a:txBody>
                    <a:bodyPr/>
                    <a:lstStyle/>
                    <a:p>
                      <a:r>
                        <a:rPr lang="ko-KR" alt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필드명</a:t>
                      </a:r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40341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message_id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134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592245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chat_room_id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66990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sender_id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11</a:t>
                      </a:r>
                      <a:endParaRPr lang="ko-KR" altLang="en-US" sz="2400" kern="1200" dirty="0">
                        <a:solidFill>
                          <a:schemeClr val="tx1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942499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message_content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안녕하세요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148473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sent_at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2025-11-27 10:50:00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611652"/>
                  </a:ext>
                </a:extLst>
              </a:tr>
            </a:tbl>
          </a:graphicData>
        </a:graphic>
      </p:graphicFrame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D09B79B8-36E4-DE11-09CA-562657DFC17B}"/>
              </a:ext>
            </a:extLst>
          </p:cNvPr>
          <p:cNvSpPr/>
          <p:nvPr/>
        </p:nvSpPr>
        <p:spPr>
          <a:xfrm rot="16200000">
            <a:off x="14014086" y="10306051"/>
            <a:ext cx="838200" cy="1104899"/>
          </a:xfrm>
          <a:prstGeom prst="downArrow">
            <a:avLst/>
          </a:prstGeom>
          <a:gradFill>
            <a:gsLst>
              <a:gs pos="100000">
                <a:srgbClr val="294717"/>
              </a:gs>
              <a:gs pos="58000">
                <a:srgbClr val="294717"/>
              </a:gs>
              <a:gs pos="0">
                <a:schemeClr val="accent3">
                  <a:lumMod val="60000"/>
                  <a:lumOff val="40000"/>
                </a:schemeClr>
              </a:gs>
              <a:gs pos="20000">
                <a:schemeClr val="accent3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9F5FCF-FCEF-383C-A81E-8BA85B68B6CC}"/>
              </a:ext>
            </a:extLst>
          </p:cNvPr>
          <p:cNvSpPr txBox="1"/>
          <p:nvPr/>
        </p:nvSpPr>
        <p:spPr>
          <a:xfrm>
            <a:off x="1501168" y="8814798"/>
            <a:ext cx="1237956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• </a:t>
            </a:r>
            <a:r>
              <a:rPr lang="en-US" altLang="ko-KR" sz="2500" dirty="0" err="1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Chat_Message</a:t>
            </a:r>
            <a:endParaRPr lang="ko-KR" altLang="en-US" sz="2500" dirty="0"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EFD3BE-CDA9-1DE4-C7B8-034D9D98F5B9}"/>
              </a:ext>
            </a:extLst>
          </p:cNvPr>
          <p:cNvSpPr txBox="1"/>
          <p:nvPr/>
        </p:nvSpPr>
        <p:spPr>
          <a:xfrm>
            <a:off x="15128632" y="8814798"/>
            <a:ext cx="1237956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• </a:t>
            </a:r>
            <a:r>
              <a:rPr lang="ko-KR" altLang="en-US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샘플 데이터</a:t>
            </a:r>
          </a:p>
        </p:txBody>
      </p:sp>
    </p:spTree>
    <p:extLst>
      <p:ext uri="{BB962C8B-B14F-4D97-AF65-F5344CB8AC3E}">
        <p14:creationId xmlns:p14="http://schemas.microsoft.com/office/powerpoint/2010/main" val="2094823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29" name="TextBox 16">
            <a:extLst>
              <a:ext uri="{FF2B5EF4-FFF2-40B4-BE49-F238E27FC236}">
                <a16:creationId xmlns:a16="http://schemas.microsoft.com/office/drawing/2014/main" id="{34FF058A-38ED-74ED-D67F-8388871A6DC9}"/>
              </a:ext>
            </a:extLst>
          </p:cNvPr>
          <p:cNvSpPr txBox="1"/>
          <p:nvPr/>
        </p:nvSpPr>
        <p:spPr>
          <a:xfrm>
            <a:off x="914402" y="942101"/>
            <a:ext cx="96773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</a:t>
            </a:r>
            <a:r>
              <a:rPr lang="ko-KR" altLang="en-US" sz="8000" b="1" spc="-156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설계</a:t>
            </a:r>
            <a:r>
              <a:rPr lang="ko-KR" altLang="en-US" sz="4000" b="1" spc="-156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 테이블 인스턴스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36" name="Picture 5">
            <a:extLst>
              <a:ext uri="{FF2B5EF4-FFF2-40B4-BE49-F238E27FC236}">
                <a16:creationId xmlns:a16="http://schemas.microsoft.com/office/drawing/2014/main" id="{40E41A3A-BE2B-19E1-1D6B-4B3A82D8E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sp>
        <p:nvSpPr>
          <p:cNvPr id="26" name="TextBox 22">
            <a:extLst>
              <a:ext uri="{FF2B5EF4-FFF2-40B4-BE49-F238E27FC236}">
                <a16:creationId xmlns:a16="http://schemas.microsoft.com/office/drawing/2014/main" id="{4A410FDF-8C58-C4A1-ED03-575FAD0DB72E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dirty="0">
                <a:solidFill>
                  <a:srgbClr val="787878"/>
                </a:solidFill>
                <a:latin typeface="Poppins Regular"/>
              </a:rPr>
              <a:t>25</a:t>
            </a:r>
            <a:endParaRPr lang="en" sz="2592" b="0" i="0" u="none" strike="noStrike" dirty="0">
              <a:solidFill>
                <a:srgbClr val="787878"/>
              </a:solidFill>
              <a:latin typeface="Poppins Regular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B686609-FB9C-BA84-C97C-8DCD676810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103817"/>
              </p:ext>
            </p:extLst>
          </p:nvPr>
        </p:nvGraphicFramePr>
        <p:xfrm>
          <a:off x="1420785" y="4219580"/>
          <a:ext cx="12121979" cy="3171820"/>
        </p:xfrm>
        <a:graphic>
          <a:graphicData uri="http://schemas.openxmlformats.org/drawingml/2006/table">
            <a:tbl>
              <a:tblPr/>
              <a:tblGrid>
                <a:gridCol w="3276601">
                  <a:extLst>
                    <a:ext uri="{9D8B030D-6E8A-4147-A177-3AD203B41FA5}">
                      <a16:colId xmlns:a16="http://schemas.microsoft.com/office/drawing/2014/main" val="3526336508"/>
                    </a:ext>
                  </a:extLst>
                </a:gridCol>
                <a:gridCol w="4378308">
                  <a:extLst>
                    <a:ext uri="{9D8B030D-6E8A-4147-A177-3AD203B41FA5}">
                      <a16:colId xmlns:a16="http://schemas.microsoft.com/office/drawing/2014/main" val="1398084810"/>
                    </a:ext>
                  </a:extLst>
                </a:gridCol>
                <a:gridCol w="4467070">
                  <a:extLst>
                    <a:ext uri="{9D8B030D-6E8A-4147-A177-3AD203B41FA5}">
                      <a16:colId xmlns:a16="http://schemas.microsoft.com/office/drawing/2014/main" val="3137115603"/>
                    </a:ext>
                  </a:extLst>
                </a:gridCol>
              </a:tblGrid>
              <a:tr h="232121">
                <a:tc>
                  <a:txBody>
                    <a:bodyPr/>
                    <a:lstStyle/>
                    <a:p>
                      <a:r>
                        <a:rPr lang="ko-KR" alt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필드명</a:t>
                      </a:r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타입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설명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40341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chat_part_id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 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채팅 참가자 고유 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592245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chat_room_id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 FK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채팅방 </a:t>
                      </a:r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 (Chat_Room </a:t>
                      </a:r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참조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66990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user_id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 FK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참가자 사용자 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 (User </a:t>
                      </a:r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참조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942499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enum</a:t>
                      </a:r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('creator', 'member')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방 참가자 역할 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(</a:t>
                      </a:r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방장 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or </a:t>
                      </a:r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나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148473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last_read_message_id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마지막으로 읽은 메세지 </a:t>
                      </a:r>
                      <a:r>
                        <a:rPr lang="en-US" altLang="ko-KR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611652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joined_at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참가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434229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FF26C01-7275-A813-4AE8-015D21FC15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790179"/>
              </p:ext>
            </p:extLst>
          </p:nvPr>
        </p:nvGraphicFramePr>
        <p:xfrm>
          <a:off x="15065275" y="4219580"/>
          <a:ext cx="7654909" cy="3171820"/>
        </p:xfrm>
        <a:graphic>
          <a:graphicData uri="http://schemas.openxmlformats.org/drawingml/2006/table">
            <a:tbl>
              <a:tblPr/>
              <a:tblGrid>
                <a:gridCol w="3424311">
                  <a:extLst>
                    <a:ext uri="{9D8B030D-6E8A-4147-A177-3AD203B41FA5}">
                      <a16:colId xmlns:a16="http://schemas.microsoft.com/office/drawing/2014/main" val="3526336508"/>
                    </a:ext>
                  </a:extLst>
                </a:gridCol>
                <a:gridCol w="4230598">
                  <a:extLst>
                    <a:ext uri="{9D8B030D-6E8A-4147-A177-3AD203B41FA5}">
                      <a16:colId xmlns:a16="http://schemas.microsoft.com/office/drawing/2014/main" val="1398084810"/>
                    </a:ext>
                  </a:extLst>
                </a:gridCol>
              </a:tblGrid>
              <a:tr h="232121">
                <a:tc>
                  <a:txBody>
                    <a:bodyPr/>
                    <a:lstStyle/>
                    <a:p>
                      <a:r>
                        <a:rPr lang="ko-KR" alt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필드명</a:t>
                      </a:r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40341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chat_part_id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592245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chat_room_id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66990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user_id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73</a:t>
                      </a:r>
                      <a:endParaRPr lang="ko-KR" altLang="en-US" sz="2400" kern="1200" dirty="0">
                        <a:solidFill>
                          <a:schemeClr val="tx1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942499"/>
                  </a:ext>
                </a:extLst>
              </a:tr>
              <a:tr h="3083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Creator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148473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last_read_message_id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189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611652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joined_at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2025-11-25 14:53:55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434229"/>
                  </a:ext>
                </a:extLst>
              </a:tr>
            </a:tbl>
          </a:graphicData>
        </a:graphic>
      </p:graphicFrame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312FB434-EB49-0320-FEE3-C4F5796B7B28}"/>
              </a:ext>
            </a:extLst>
          </p:cNvPr>
          <p:cNvSpPr/>
          <p:nvPr/>
        </p:nvSpPr>
        <p:spPr>
          <a:xfrm rot="16200000">
            <a:off x="13937886" y="5429251"/>
            <a:ext cx="838200" cy="1104899"/>
          </a:xfrm>
          <a:prstGeom prst="downArrow">
            <a:avLst/>
          </a:prstGeom>
          <a:gradFill>
            <a:gsLst>
              <a:gs pos="100000">
                <a:srgbClr val="294717"/>
              </a:gs>
              <a:gs pos="58000">
                <a:srgbClr val="294717"/>
              </a:gs>
              <a:gs pos="0">
                <a:schemeClr val="accent3">
                  <a:lumMod val="60000"/>
                  <a:lumOff val="40000"/>
                </a:schemeClr>
              </a:gs>
              <a:gs pos="20000">
                <a:schemeClr val="accent3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060DB5-A725-ED66-797F-0A3829A935E0}"/>
              </a:ext>
            </a:extLst>
          </p:cNvPr>
          <p:cNvSpPr txBox="1"/>
          <p:nvPr/>
        </p:nvSpPr>
        <p:spPr>
          <a:xfrm>
            <a:off x="1424968" y="3633198"/>
            <a:ext cx="1237956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• </a:t>
            </a:r>
            <a:r>
              <a:rPr lang="en-US" altLang="ko-KR" sz="2500" dirty="0" err="1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Chat_Participant</a:t>
            </a:r>
            <a:r>
              <a:rPr lang="en-US" altLang="ko-KR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 Table</a:t>
            </a:r>
            <a:endParaRPr lang="ko-KR" altLang="en-US" sz="2500" dirty="0"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1DAC83-3FC7-7C8D-77C9-73F2EDAAF82D}"/>
              </a:ext>
            </a:extLst>
          </p:cNvPr>
          <p:cNvSpPr txBox="1"/>
          <p:nvPr/>
        </p:nvSpPr>
        <p:spPr>
          <a:xfrm>
            <a:off x="15052432" y="3633198"/>
            <a:ext cx="1237956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• </a:t>
            </a:r>
            <a:r>
              <a:rPr lang="ko-KR" altLang="en-US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샘플 데이터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69611B48-734F-F48E-A598-9A977820B3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766150"/>
              </p:ext>
            </p:extLst>
          </p:nvPr>
        </p:nvGraphicFramePr>
        <p:xfrm>
          <a:off x="1420785" y="8943980"/>
          <a:ext cx="12121979" cy="2714620"/>
        </p:xfrm>
        <a:graphic>
          <a:graphicData uri="http://schemas.openxmlformats.org/drawingml/2006/table">
            <a:tbl>
              <a:tblPr/>
              <a:tblGrid>
                <a:gridCol w="2882130">
                  <a:extLst>
                    <a:ext uri="{9D8B030D-6E8A-4147-A177-3AD203B41FA5}">
                      <a16:colId xmlns:a16="http://schemas.microsoft.com/office/drawing/2014/main" val="3526336508"/>
                    </a:ext>
                  </a:extLst>
                </a:gridCol>
                <a:gridCol w="4772779">
                  <a:extLst>
                    <a:ext uri="{9D8B030D-6E8A-4147-A177-3AD203B41FA5}">
                      <a16:colId xmlns:a16="http://schemas.microsoft.com/office/drawing/2014/main" val="1398084810"/>
                    </a:ext>
                  </a:extLst>
                </a:gridCol>
                <a:gridCol w="4467070">
                  <a:extLst>
                    <a:ext uri="{9D8B030D-6E8A-4147-A177-3AD203B41FA5}">
                      <a16:colId xmlns:a16="http://schemas.microsoft.com/office/drawing/2014/main" val="3137115603"/>
                    </a:ext>
                  </a:extLst>
                </a:gridCol>
              </a:tblGrid>
              <a:tr h="232121">
                <a:tc>
                  <a:txBody>
                    <a:bodyPr/>
                    <a:lstStyle/>
                    <a:p>
                      <a:r>
                        <a:rPr lang="ko-KR" alt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필드명</a:t>
                      </a:r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타입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설명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40341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friend_id</a:t>
                      </a:r>
                      <a:endParaRPr lang="en-US" sz="2400" dirty="0"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 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친구 추가 고유 </a:t>
                      </a:r>
                      <a:r>
                        <a:rPr lang="en-US" altLang="ko-KR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592245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user_id</a:t>
                      </a:r>
                      <a:endParaRPr lang="en-US" sz="2400" dirty="0"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 FK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사용자 </a:t>
                      </a:r>
                      <a:r>
                        <a:rPr lang="en-US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 (User </a:t>
                      </a:r>
                      <a:r>
                        <a:rPr lang="ko-KR" altLang="en-US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참조</a:t>
                      </a:r>
                      <a:r>
                        <a:rPr lang="en-US" altLang="ko-KR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66990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friend_user_id</a:t>
                      </a:r>
                      <a:endParaRPr lang="en-US" sz="2400" dirty="0"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 FK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친구 </a:t>
                      </a:r>
                      <a:r>
                        <a:rPr lang="en-US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 (User </a:t>
                      </a:r>
                      <a:r>
                        <a:rPr lang="ko-KR" altLang="en-US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참조</a:t>
                      </a:r>
                      <a:r>
                        <a:rPr lang="en-US" altLang="ko-KR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942499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ENUM('</a:t>
                      </a:r>
                      <a:r>
                        <a:rPr lang="ko-KR" altLang="en-US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대기</a:t>
                      </a:r>
                      <a:r>
                        <a:rPr lang="en-US" altLang="ko-KR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', '</a:t>
                      </a:r>
                      <a:r>
                        <a:rPr lang="ko-KR" altLang="en-US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승인</a:t>
                      </a:r>
                      <a:r>
                        <a:rPr lang="en-US" altLang="ko-KR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', '</a:t>
                      </a:r>
                      <a:r>
                        <a:rPr lang="ko-KR" altLang="en-US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거절</a:t>
                      </a:r>
                      <a:r>
                        <a:rPr lang="en-US" altLang="ko-KR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')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승인 여부 </a:t>
                      </a:r>
                      <a:r>
                        <a:rPr lang="en-US" altLang="ko-KR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(</a:t>
                      </a:r>
                      <a:r>
                        <a:rPr lang="ko-KR" altLang="en-US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기본값</a:t>
                      </a:r>
                      <a:r>
                        <a:rPr lang="en-US" altLang="ko-KR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: '</a:t>
                      </a:r>
                      <a:r>
                        <a:rPr lang="ko-KR" altLang="en-US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대기’</a:t>
                      </a:r>
                      <a:r>
                        <a:rPr lang="en-US" altLang="ko-KR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148473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created_at</a:t>
                      </a:r>
                      <a:endParaRPr lang="en-US" sz="2400" dirty="0"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생성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611652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FDA27CB-CEF8-11B7-7714-CFEF927C16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766400"/>
              </p:ext>
            </p:extLst>
          </p:nvPr>
        </p:nvGraphicFramePr>
        <p:xfrm>
          <a:off x="15065275" y="8943980"/>
          <a:ext cx="7654909" cy="2714620"/>
        </p:xfrm>
        <a:graphic>
          <a:graphicData uri="http://schemas.openxmlformats.org/drawingml/2006/table">
            <a:tbl>
              <a:tblPr/>
              <a:tblGrid>
                <a:gridCol w="2882130">
                  <a:extLst>
                    <a:ext uri="{9D8B030D-6E8A-4147-A177-3AD203B41FA5}">
                      <a16:colId xmlns:a16="http://schemas.microsoft.com/office/drawing/2014/main" val="3526336508"/>
                    </a:ext>
                  </a:extLst>
                </a:gridCol>
                <a:gridCol w="4772779">
                  <a:extLst>
                    <a:ext uri="{9D8B030D-6E8A-4147-A177-3AD203B41FA5}">
                      <a16:colId xmlns:a16="http://schemas.microsoft.com/office/drawing/2014/main" val="1398084810"/>
                    </a:ext>
                  </a:extLst>
                </a:gridCol>
              </a:tblGrid>
              <a:tr h="232121">
                <a:tc>
                  <a:txBody>
                    <a:bodyPr/>
                    <a:lstStyle/>
                    <a:p>
                      <a:r>
                        <a:rPr lang="ko-KR" alt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필드명</a:t>
                      </a:r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40341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friend_id</a:t>
                      </a:r>
                      <a:endParaRPr lang="en-US" sz="2400" dirty="0"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592245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user_id</a:t>
                      </a:r>
                      <a:endParaRPr lang="en-US" sz="2400" dirty="0"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73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66990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friend_user_id</a:t>
                      </a:r>
                      <a:endParaRPr lang="en-US" sz="2400" dirty="0"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12</a:t>
                      </a:r>
                      <a:endParaRPr lang="ko-KR" altLang="en-US" sz="2400" kern="1200" dirty="0">
                        <a:solidFill>
                          <a:schemeClr val="tx1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942499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승인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148473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created_at</a:t>
                      </a:r>
                      <a:endParaRPr lang="en-US" sz="2400" dirty="0"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2025-11-27 10:50:00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611652"/>
                  </a:ext>
                </a:extLst>
              </a:tr>
            </a:tbl>
          </a:graphicData>
        </a:graphic>
      </p:graphicFrame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D09B79B8-36E4-DE11-09CA-562657DFC17B}"/>
              </a:ext>
            </a:extLst>
          </p:cNvPr>
          <p:cNvSpPr/>
          <p:nvPr/>
        </p:nvSpPr>
        <p:spPr>
          <a:xfrm rot="16200000">
            <a:off x="13937886" y="9848851"/>
            <a:ext cx="838200" cy="1104899"/>
          </a:xfrm>
          <a:prstGeom prst="downArrow">
            <a:avLst/>
          </a:prstGeom>
          <a:gradFill>
            <a:gsLst>
              <a:gs pos="100000">
                <a:srgbClr val="294717"/>
              </a:gs>
              <a:gs pos="58000">
                <a:srgbClr val="294717"/>
              </a:gs>
              <a:gs pos="0">
                <a:schemeClr val="accent3">
                  <a:lumMod val="60000"/>
                  <a:lumOff val="40000"/>
                </a:schemeClr>
              </a:gs>
              <a:gs pos="20000">
                <a:schemeClr val="accent3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9F5FCF-FCEF-383C-A81E-8BA85B68B6CC}"/>
              </a:ext>
            </a:extLst>
          </p:cNvPr>
          <p:cNvSpPr txBox="1"/>
          <p:nvPr/>
        </p:nvSpPr>
        <p:spPr>
          <a:xfrm>
            <a:off x="1424968" y="8357598"/>
            <a:ext cx="1237956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• Friend</a:t>
            </a:r>
            <a:endParaRPr lang="ko-KR" altLang="en-US" sz="2500" dirty="0"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EFD3BE-CDA9-1DE4-C7B8-034D9D98F5B9}"/>
              </a:ext>
            </a:extLst>
          </p:cNvPr>
          <p:cNvSpPr txBox="1"/>
          <p:nvPr/>
        </p:nvSpPr>
        <p:spPr>
          <a:xfrm>
            <a:off x="15052432" y="8357598"/>
            <a:ext cx="1237956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• </a:t>
            </a:r>
            <a:r>
              <a:rPr lang="ko-KR" altLang="en-US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샘플 데이터</a:t>
            </a:r>
          </a:p>
        </p:txBody>
      </p:sp>
    </p:spTree>
    <p:extLst>
      <p:ext uri="{BB962C8B-B14F-4D97-AF65-F5344CB8AC3E}">
        <p14:creationId xmlns:p14="http://schemas.microsoft.com/office/powerpoint/2010/main" val="9015501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29" name="TextBox 16">
            <a:extLst>
              <a:ext uri="{FF2B5EF4-FFF2-40B4-BE49-F238E27FC236}">
                <a16:creationId xmlns:a16="http://schemas.microsoft.com/office/drawing/2014/main" id="{34FF058A-38ED-74ED-D67F-8388871A6DC9}"/>
              </a:ext>
            </a:extLst>
          </p:cNvPr>
          <p:cNvSpPr txBox="1"/>
          <p:nvPr/>
        </p:nvSpPr>
        <p:spPr>
          <a:xfrm>
            <a:off x="914402" y="942101"/>
            <a:ext cx="96773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</a:t>
            </a:r>
            <a:r>
              <a:rPr lang="ko-KR" altLang="en-US" sz="8000" b="1" spc="-156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설계</a:t>
            </a:r>
            <a:r>
              <a:rPr lang="ko-KR" altLang="en-US" sz="4000" b="1" spc="-156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 테이블 인스턴스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sp>
        <p:nvSpPr>
          <p:cNvPr id="26" name="TextBox 22">
            <a:extLst>
              <a:ext uri="{FF2B5EF4-FFF2-40B4-BE49-F238E27FC236}">
                <a16:creationId xmlns:a16="http://schemas.microsoft.com/office/drawing/2014/main" id="{4A410FDF-8C58-C4A1-ED03-575FAD0DB72E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dirty="0">
                <a:solidFill>
                  <a:srgbClr val="787878"/>
                </a:solidFill>
                <a:latin typeface="Poppins Regular"/>
              </a:rPr>
              <a:t>26</a:t>
            </a:r>
            <a:endParaRPr lang="en" sz="2592" b="0" i="0" u="none" strike="noStrike" dirty="0">
              <a:solidFill>
                <a:srgbClr val="787878"/>
              </a:solidFill>
              <a:latin typeface="Poppins Regular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F0342BA-1141-3188-019B-B117A6CE9D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270366"/>
              </p:ext>
            </p:extLst>
          </p:nvPr>
        </p:nvGraphicFramePr>
        <p:xfrm>
          <a:off x="1066800" y="3329582"/>
          <a:ext cx="12121979" cy="5457820"/>
        </p:xfrm>
        <a:graphic>
          <a:graphicData uri="http://schemas.openxmlformats.org/drawingml/2006/table">
            <a:tbl>
              <a:tblPr/>
              <a:tblGrid>
                <a:gridCol w="3962401">
                  <a:extLst>
                    <a:ext uri="{9D8B030D-6E8A-4147-A177-3AD203B41FA5}">
                      <a16:colId xmlns:a16="http://schemas.microsoft.com/office/drawing/2014/main" val="3526336508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1398084810"/>
                    </a:ext>
                  </a:extLst>
                </a:gridCol>
                <a:gridCol w="3892378">
                  <a:extLst>
                    <a:ext uri="{9D8B030D-6E8A-4147-A177-3AD203B41FA5}">
                      <a16:colId xmlns:a16="http://schemas.microsoft.com/office/drawing/2014/main" val="3137115603"/>
                    </a:ext>
                  </a:extLst>
                </a:gridCol>
              </a:tblGrid>
              <a:tr h="232121">
                <a:tc>
                  <a:txBody>
                    <a:bodyPr/>
                    <a:lstStyle/>
                    <a:p>
                      <a:r>
                        <a:rPr lang="ko-KR" alt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필드명</a:t>
                      </a:r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타입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설명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40341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 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게시글 고유 </a:t>
                      </a:r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592245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user_id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</a:t>
                      </a:r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FK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작성자 사용자 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 (User </a:t>
                      </a:r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참조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66990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enum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('</a:t>
                      </a:r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공지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', '</a:t>
                      </a:r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자유게시판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', '</a:t>
                      </a:r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전체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')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게시글 카테고리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942499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varchar(200)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게시글 제목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148473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게시글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611652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image_url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varchar(500)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이미지 첨부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247209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created_at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작성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998760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updated_at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수정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293522"/>
                  </a:ext>
                </a:extLst>
              </a:tr>
              <a:tr h="238297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view_count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</a:t>
                      </a:r>
                      <a:endParaRPr lang="en-US" altLang="ko-KR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게시글 조회수</a:t>
                      </a:r>
                      <a:endParaRPr lang="en-US" altLang="ko-KR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723487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last_checked_commrnt_id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마지막 확인 댓글 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</a:t>
                      </a:r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635570"/>
                  </a:ext>
                </a:extLst>
              </a:tr>
              <a:tr h="238297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current_comment_id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새로 달린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</a:t>
                      </a:r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댓글 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</a:t>
                      </a:r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202580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CE744F0-8EBB-63A2-3AC4-015A4843E4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958667"/>
              </p:ext>
            </p:extLst>
          </p:nvPr>
        </p:nvGraphicFramePr>
        <p:xfrm>
          <a:off x="14711290" y="3329582"/>
          <a:ext cx="7654909" cy="5457820"/>
        </p:xfrm>
        <a:graphic>
          <a:graphicData uri="http://schemas.openxmlformats.org/drawingml/2006/table">
            <a:tbl>
              <a:tblPr/>
              <a:tblGrid>
                <a:gridCol w="4033911">
                  <a:extLst>
                    <a:ext uri="{9D8B030D-6E8A-4147-A177-3AD203B41FA5}">
                      <a16:colId xmlns:a16="http://schemas.microsoft.com/office/drawing/2014/main" val="3526336508"/>
                    </a:ext>
                  </a:extLst>
                </a:gridCol>
                <a:gridCol w="3620998">
                  <a:extLst>
                    <a:ext uri="{9D8B030D-6E8A-4147-A177-3AD203B41FA5}">
                      <a16:colId xmlns:a16="http://schemas.microsoft.com/office/drawing/2014/main" val="1398084810"/>
                    </a:ext>
                  </a:extLst>
                </a:gridCol>
              </a:tblGrid>
              <a:tr h="232121">
                <a:tc>
                  <a:txBody>
                    <a:bodyPr/>
                    <a:lstStyle/>
                    <a:p>
                      <a:r>
                        <a:rPr lang="ko-KR" alt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필드명</a:t>
                      </a:r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40341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592245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user_id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4731432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자유게시판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66990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안녕하세요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942499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하이염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148473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image_url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Null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611652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created_at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2025-11-29 17:05:54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7998760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updated_at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2025-11-29 17:05:54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293522"/>
                  </a:ext>
                </a:extLst>
              </a:tr>
              <a:tr h="238297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view_count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723487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last_checked_commrnt_id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635570"/>
                  </a:ext>
                </a:extLst>
              </a:tr>
              <a:tr h="238297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current_comment_id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202580"/>
                  </a:ext>
                </a:extLst>
              </a:tr>
            </a:tbl>
          </a:graphicData>
        </a:graphic>
      </p:graphicFrame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AB36FB4E-0CE2-87B3-E86E-28DABB5ADEE7}"/>
              </a:ext>
            </a:extLst>
          </p:cNvPr>
          <p:cNvSpPr/>
          <p:nvPr/>
        </p:nvSpPr>
        <p:spPr>
          <a:xfrm rot="16200000">
            <a:off x="13583901" y="5734050"/>
            <a:ext cx="838200" cy="1104899"/>
          </a:xfrm>
          <a:prstGeom prst="downArrow">
            <a:avLst/>
          </a:prstGeom>
          <a:gradFill>
            <a:gsLst>
              <a:gs pos="100000">
                <a:srgbClr val="294717"/>
              </a:gs>
              <a:gs pos="58000">
                <a:srgbClr val="294717"/>
              </a:gs>
              <a:gs pos="0">
                <a:schemeClr val="accent3">
                  <a:lumMod val="60000"/>
                  <a:lumOff val="40000"/>
                </a:schemeClr>
              </a:gs>
              <a:gs pos="20000">
                <a:schemeClr val="accent3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6762E3-55CA-34E5-7DA1-94DC25E60E39}"/>
              </a:ext>
            </a:extLst>
          </p:cNvPr>
          <p:cNvSpPr txBox="1"/>
          <p:nvPr/>
        </p:nvSpPr>
        <p:spPr>
          <a:xfrm>
            <a:off x="1070983" y="2743200"/>
            <a:ext cx="1237956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• Post Table</a:t>
            </a:r>
            <a:endParaRPr lang="ko-KR" altLang="en-US" sz="2500" dirty="0"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6EF64B-2361-4418-A835-02D748C42747}"/>
              </a:ext>
            </a:extLst>
          </p:cNvPr>
          <p:cNvSpPr txBox="1"/>
          <p:nvPr/>
        </p:nvSpPr>
        <p:spPr>
          <a:xfrm>
            <a:off x="14698447" y="2743200"/>
            <a:ext cx="1237956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• </a:t>
            </a:r>
            <a:r>
              <a:rPr lang="ko-KR" altLang="en-US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샘플 데이터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C0AAE3E5-9E24-E030-15D2-7F9C0E34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052586"/>
              </p:ext>
            </p:extLst>
          </p:nvPr>
        </p:nvGraphicFramePr>
        <p:xfrm>
          <a:off x="1066800" y="9553580"/>
          <a:ext cx="12121979" cy="3629020"/>
        </p:xfrm>
        <a:graphic>
          <a:graphicData uri="http://schemas.openxmlformats.org/drawingml/2006/table">
            <a:tbl>
              <a:tblPr/>
              <a:tblGrid>
                <a:gridCol w="3276601">
                  <a:extLst>
                    <a:ext uri="{9D8B030D-6E8A-4147-A177-3AD203B41FA5}">
                      <a16:colId xmlns:a16="http://schemas.microsoft.com/office/drawing/2014/main" val="3526336508"/>
                    </a:ext>
                  </a:extLst>
                </a:gridCol>
                <a:gridCol w="4378308">
                  <a:extLst>
                    <a:ext uri="{9D8B030D-6E8A-4147-A177-3AD203B41FA5}">
                      <a16:colId xmlns:a16="http://schemas.microsoft.com/office/drawing/2014/main" val="1398084810"/>
                    </a:ext>
                  </a:extLst>
                </a:gridCol>
                <a:gridCol w="4467070">
                  <a:extLst>
                    <a:ext uri="{9D8B030D-6E8A-4147-A177-3AD203B41FA5}">
                      <a16:colId xmlns:a16="http://schemas.microsoft.com/office/drawing/2014/main" val="3137115603"/>
                    </a:ext>
                  </a:extLst>
                </a:gridCol>
              </a:tblGrid>
              <a:tr h="232121">
                <a:tc>
                  <a:txBody>
                    <a:bodyPr/>
                    <a:lstStyle/>
                    <a:p>
                      <a:r>
                        <a:rPr lang="ko-KR" alt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필드명</a:t>
                      </a:r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타입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설명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40341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comment_id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</a:t>
                      </a:r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댓글 고유 </a:t>
                      </a:r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592245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</a:t>
                      </a:r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FK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게시글 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 (Post </a:t>
                      </a:r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참조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66990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user_id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FK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작성자 사용자 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 (User </a:t>
                      </a:r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참조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942499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parent_comment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부모 댓글 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 (Comment </a:t>
                      </a:r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참조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</a:t>
                      </a:r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148473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varchar (255)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댓글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611652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created_at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작성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204019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updated_at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수정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434229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3C96BC1-83FE-205A-A438-2780D568EA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028319"/>
              </p:ext>
            </p:extLst>
          </p:nvPr>
        </p:nvGraphicFramePr>
        <p:xfrm>
          <a:off x="14711290" y="9553580"/>
          <a:ext cx="8683310" cy="3629020"/>
        </p:xfrm>
        <a:graphic>
          <a:graphicData uri="http://schemas.openxmlformats.org/drawingml/2006/table">
            <a:tbl>
              <a:tblPr/>
              <a:tblGrid>
                <a:gridCol w="3043310">
                  <a:extLst>
                    <a:ext uri="{9D8B030D-6E8A-4147-A177-3AD203B41FA5}">
                      <a16:colId xmlns:a16="http://schemas.microsoft.com/office/drawing/2014/main" val="3526336508"/>
                    </a:ext>
                  </a:extLst>
                </a:gridCol>
                <a:gridCol w="5640000">
                  <a:extLst>
                    <a:ext uri="{9D8B030D-6E8A-4147-A177-3AD203B41FA5}">
                      <a16:colId xmlns:a16="http://schemas.microsoft.com/office/drawing/2014/main" val="1398084810"/>
                    </a:ext>
                  </a:extLst>
                </a:gridCol>
              </a:tblGrid>
              <a:tr h="232121">
                <a:tc>
                  <a:txBody>
                    <a:bodyPr/>
                    <a:lstStyle/>
                    <a:p>
                      <a:r>
                        <a:rPr lang="ko-KR" alt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필드명</a:t>
                      </a:r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40341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comment_id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592245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66990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user_id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37</a:t>
                      </a:r>
                      <a:endParaRPr lang="ko-KR" altLang="en-US" sz="2400" kern="1200" dirty="0">
                        <a:solidFill>
                          <a:schemeClr val="tx1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942499"/>
                  </a:ext>
                </a:extLst>
              </a:tr>
              <a:tr h="3083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parent_comment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148473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@taeran </a:t>
                      </a:r>
                      <a:r>
                        <a:rPr lang="ko-KR" alt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테스트댓글</a:t>
                      </a:r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1 (</a:t>
                      </a:r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수정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 </a:t>
                      </a:r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의 </a:t>
                      </a:r>
                      <a:r>
                        <a:rPr lang="ko-KR" alt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대댓글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611652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created_at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2025-11-18 22:50:07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31958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updated_at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2025-11-18 22:50:07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434229"/>
                  </a:ext>
                </a:extLst>
              </a:tr>
            </a:tbl>
          </a:graphicData>
        </a:graphic>
      </p:graphicFrame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94C89D23-FEC6-991D-1266-2164A86E0FE9}"/>
              </a:ext>
            </a:extLst>
          </p:cNvPr>
          <p:cNvSpPr/>
          <p:nvPr/>
        </p:nvSpPr>
        <p:spPr>
          <a:xfrm rot="16200000">
            <a:off x="13583901" y="10763251"/>
            <a:ext cx="838200" cy="1104899"/>
          </a:xfrm>
          <a:prstGeom prst="downArrow">
            <a:avLst/>
          </a:prstGeom>
          <a:gradFill>
            <a:gsLst>
              <a:gs pos="100000">
                <a:srgbClr val="294717"/>
              </a:gs>
              <a:gs pos="58000">
                <a:srgbClr val="294717"/>
              </a:gs>
              <a:gs pos="0">
                <a:schemeClr val="accent3">
                  <a:lumMod val="60000"/>
                  <a:lumOff val="40000"/>
                </a:schemeClr>
              </a:gs>
              <a:gs pos="20000">
                <a:schemeClr val="accent3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EFAD99-9434-E31C-ADB8-63D477AB268D}"/>
              </a:ext>
            </a:extLst>
          </p:cNvPr>
          <p:cNvSpPr txBox="1"/>
          <p:nvPr/>
        </p:nvSpPr>
        <p:spPr>
          <a:xfrm>
            <a:off x="1070983" y="8967198"/>
            <a:ext cx="1237956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• Comment Table</a:t>
            </a:r>
            <a:endParaRPr lang="ko-KR" altLang="en-US" sz="2500" dirty="0"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32A47E-5DFA-8C1C-E86B-334C108AD395}"/>
              </a:ext>
            </a:extLst>
          </p:cNvPr>
          <p:cNvSpPr txBox="1"/>
          <p:nvPr/>
        </p:nvSpPr>
        <p:spPr>
          <a:xfrm>
            <a:off x="14698447" y="8967198"/>
            <a:ext cx="1237956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• </a:t>
            </a:r>
            <a:r>
              <a:rPr lang="ko-KR" altLang="en-US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샘플 데이터</a:t>
            </a:r>
          </a:p>
        </p:txBody>
      </p:sp>
    </p:spTree>
    <p:extLst>
      <p:ext uri="{BB962C8B-B14F-4D97-AF65-F5344CB8AC3E}">
        <p14:creationId xmlns:p14="http://schemas.microsoft.com/office/powerpoint/2010/main" val="10837806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29" name="TextBox 16">
            <a:extLst>
              <a:ext uri="{FF2B5EF4-FFF2-40B4-BE49-F238E27FC236}">
                <a16:creationId xmlns:a16="http://schemas.microsoft.com/office/drawing/2014/main" id="{34FF058A-38ED-74ED-D67F-8388871A6DC9}"/>
              </a:ext>
            </a:extLst>
          </p:cNvPr>
          <p:cNvSpPr txBox="1"/>
          <p:nvPr/>
        </p:nvSpPr>
        <p:spPr>
          <a:xfrm>
            <a:off x="914402" y="942101"/>
            <a:ext cx="96773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</a:t>
            </a:r>
            <a:r>
              <a:rPr lang="ko-KR" altLang="en-US" sz="8000" b="1" spc="-156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설계</a:t>
            </a:r>
            <a:r>
              <a:rPr lang="ko-KR" altLang="en-US" sz="4000" b="1" spc="-156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 테이블 인스턴스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sp>
        <p:nvSpPr>
          <p:cNvPr id="26" name="TextBox 22">
            <a:extLst>
              <a:ext uri="{FF2B5EF4-FFF2-40B4-BE49-F238E27FC236}">
                <a16:creationId xmlns:a16="http://schemas.microsoft.com/office/drawing/2014/main" id="{4A410FDF-8C58-C4A1-ED03-575FAD0DB72E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dirty="0">
                <a:solidFill>
                  <a:srgbClr val="787878"/>
                </a:solidFill>
                <a:latin typeface="Poppins Regular"/>
              </a:rPr>
              <a:t>27</a:t>
            </a:r>
            <a:endParaRPr lang="en" sz="2592" b="0" i="0" u="none" strike="noStrike" dirty="0">
              <a:solidFill>
                <a:srgbClr val="787878"/>
              </a:solidFill>
              <a:latin typeface="Poppins Regular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127208F-BAD2-A252-ACF2-2AC85F5EE2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37860"/>
              </p:ext>
            </p:extLst>
          </p:nvPr>
        </p:nvGraphicFramePr>
        <p:xfrm>
          <a:off x="914400" y="3407089"/>
          <a:ext cx="12121979" cy="4714820"/>
        </p:xfrm>
        <a:graphic>
          <a:graphicData uri="http://schemas.openxmlformats.org/drawingml/2006/table">
            <a:tbl>
              <a:tblPr/>
              <a:tblGrid>
                <a:gridCol w="2882130">
                  <a:extLst>
                    <a:ext uri="{9D8B030D-6E8A-4147-A177-3AD203B41FA5}">
                      <a16:colId xmlns:a16="http://schemas.microsoft.com/office/drawing/2014/main" val="1190215379"/>
                    </a:ext>
                  </a:extLst>
                </a:gridCol>
                <a:gridCol w="4772779">
                  <a:extLst>
                    <a:ext uri="{9D8B030D-6E8A-4147-A177-3AD203B41FA5}">
                      <a16:colId xmlns:a16="http://schemas.microsoft.com/office/drawing/2014/main" val="4002408949"/>
                    </a:ext>
                  </a:extLst>
                </a:gridCol>
                <a:gridCol w="4467070">
                  <a:extLst>
                    <a:ext uri="{9D8B030D-6E8A-4147-A177-3AD203B41FA5}">
                      <a16:colId xmlns:a16="http://schemas.microsoft.com/office/drawing/2014/main" val="3895368787"/>
                    </a:ext>
                  </a:extLst>
                </a:gridCol>
              </a:tblGrid>
              <a:tr h="334410">
                <a:tc>
                  <a:txBody>
                    <a:bodyPr/>
                    <a:lstStyle/>
                    <a:p>
                      <a:r>
                        <a:rPr lang="ko-KR" alt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필드명</a:t>
                      </a:r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타입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설명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5984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schedule_id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</a:t>
                      </a:r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PK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일정 고유 </a:t>
                      </a:r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297995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altLang="ko-KR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user_id</a:t>
                      </a:r>
                      <a:endParaRPr lang="en-US" altLang="ko-KR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FK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사용자 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 (User </a:t>
                      </a:r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참조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681277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title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varchar(255)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일정 제목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92006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content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text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일정 내용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257415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schedule_type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enum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(’</a:t>
                      </a:r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경기’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, ‘</a:t>
                      </a:r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개인 일정’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일정 종류</a:t>
                      </a:r>
                      <a:endParaRPr lang="en-US" altLang="ko-KR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907274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altLang="ko-KR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schedule_date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date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일정 날짜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140319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altLang="ko-KR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schedule_time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time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일정 시간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810634"/>
                  </a:ext>
                </a:extLst>
              </a:tr>
              <a:tr h="238297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created_at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timestamp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일정 생성 시간</a:t>
                      </a:r>
                      <a:endParaRPr lang="en-US" altLang="ko-KR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3185470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updated_at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timestamp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일정 수정 시간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855198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match_room_id</a:t>
                      </a:r>
                      <a:endParaRPr lang="en-US" altLang="ko-KR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매치룸</a:t>
                      </a:r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4377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3BF04AA-EF18-9DD8-FB40-BF13B09DF665}"/>
              </a:ext>
            </a:extLst>
          </p:cNvPr>
          <p:cNvSpPr txBox="1"/>
          <p:nvPr/>
        </p:nvSpPr>
        <p:spPr>
          <a:xfrm>
            <a:off x="931425" y="2794998"/>
            <a:ext cx="1237956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• Schedule</a:t>
            </a:r>
            <a:r>
              <a:rPr lang="ko-KR" altLang="en-US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 </a:t>
            </a:r>
            <a:r>
              <a:rPr lang="en-US" altLang="ko-KR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Table</a:t>
            </a:r>
            <a:endParaRPr lang="ko-KR" altLang="en-US" sz="2500" dirty="0"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2869C1A-6FFE-4024-3FA9-8D484AEECC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173826"/>
              </p:ext>
            </p:extLst>
          </p:nvPr>
        </p:nvGraphicFramePr>
        <p:xfrm>
          <a:off x="14958935" y="3407089"/>
          <a:ext cx="6300865" cy="4714820"/>
        </p:xfrm>
        <a:graphic>
          <a:graphicData uri="http://schemas.openxmlformats.org/drawingml/2006/table">
            <a:tbl>
              <a:tblPr/>
              <a:tblGrid>
                <a:gridCol w="2882130">
                  <a:extLst>
                    <a:ext uri="{9D8B030D-6E8A-4147-A177-3AD203B41FA5}">
                      <a16:colId xmlns:a16="http://schemas.microsoft.com/office/drawing/2014/main" val="1190215379"/>
                    </a:ext>
                  </a:extLst>
                </a:gridCol>
                <a:gridCol w="3418735">
                  <a:extLst>
                    <a:ext uri="{9D8B030D-6E8A-4147-A177-3AD203B41FA5}">
                      <a16:colId xmlns:a16="http://schemas.microsoft.com/office/drawing/2014/main" val="4002408949"/>
                    </a:ext>
                  </a:extLst>
                </a:gridCol>
              </a:tblGrid>
              <a:tr h="232121">
                <a:tc>
                  <a:txBody>
                    <a:bodyPr/>
                    <a:lstStyle/>
                    <a:p>
                      <a:r>
                        <a:rPr lang="ko-KR" alt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필드명</a:t>
                      </a:r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5984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schedule_id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98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297995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altLang="ko-KR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user_id</a:t>
                      </a:r>
                      <a:endParaRPr lang="en-US" altLang="ko-KR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37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681277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title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하청스포츠타운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614616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content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null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92006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schedule_type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경기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257415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altLang="ko-KR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schedule_date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2025-12-01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907274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altLang="ko-KR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schedule_time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19:00:00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140319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created_at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2025-12-01 17:01:31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44659"/>
                  </a:ext>
                </a:extLst>
              </a:tr>
              <a:tr h="238297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updated_at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2025-12-01 17:10:31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3185470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match_room_id</a:t>
                      </a:r>
                      <a:endParaRPr lang="en-US" altLang="ko-KR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142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855198"/>
                  </a:ext>
                </a:extLst>
              </a:tr>
            </a:tbl>
          </a:graphicData>
        </a:graphic>
      </p:graphicFrame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0A84CFED-D89C-C67E-00CE-2784E813B405}"/>
              </a:ext>
            </a:extLst>
          </p:cNvPr>
          <p:cNvSpPr/>
          <p:nvPr/>
        </p:nvSpPr>
        <p:spPr>
          <a:xfrm rot="16200000">
            <a:off x="13582650" y="6243049"/>
            <a:ext cx="838200" cy="1104899"/>
          </a:xfrm>
          <a:prstGeom prst="downArrow">
            <a:avLst/>
          </a:prstGeom>
          <a:gradFill>
            <a:gsLst>
              <a:gs pos="100000">
                <a:srgbClr val="294717"/>
              </a:gs>
              <a:gs pos="58000">
                <a:srgbClr val="294717"/>
              </a:gs>
              <a:gs pos="0">
                <a:schemeClr val="accent3">
                  <a:lumMod val="60000"/>
                  <a:lumOff val="40000"/>
                </a:schemeClr>
              </a:gs>
              <a:gs pos="20000">
                <a:schemeClr val="accent3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D5061D-BBE5-C0F6-A509-52CAC822B55F}"/>
              </a:ext>
            </a:extLst>
          </p:cNvPr>
          <p:cNvSpPr txBox="1"/>
          <p:nvPr/>
        </p:nvSpPr>
        <p:spPr>
          <a:xfrm>
            <a:off x="14976232" y="2794998"/>
            <a:ext cx="1237956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• </a:t>
            </a:r>
            <a:r>
              <a:rPr lang="ko-KR" altLang="en-US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샘플 데이터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B142777-7AB0-CED9-588B-7E90B952EE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938617"/>
              </p:ext>
            </p:extLst>
          </p:nvPr>
        </p:nvGraphicFramePr>
        <p:xfrm>
          <a:off x="914400" y="9020180"/>
          <a:ext cx="12121979" cy="3629020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3526336508"/>
                    </a:ext>
                  </a:extLst>
                </a:gridCol>
                <a:gridCol w="6705600">
                  <a:extLst>
                    <a:ext uri="{9D8B030D-6E8A-4147-A177-3AD203B41FA5}">
                      <a16:colId xmlns:a16="http://schemas.microsoft.com/office/drawing/2014/main" val="1398084810"/>
                    </a:ext>
                  </a:extLst>
                </a:gridCol>
                <a:gridCol w="3206579">
                  <a:extLst>
                    <a:ext uri="{9D8B030D-6E8A-4147-A177-3AD203B41FA5}">
                      <a16:colId xmlns:a16="http://schemas.microsoft.com/office/drawing/2014/main" val="3137115603"/>
                    </a:ext>
                  </a:extLst>
                </a:gridCol>
              </a:tblGrid>
              <a:tr h="232121">
                <a:tc>
                  <a:txBody>
                    <a:bodyPr/>
                    <a:lstStyle/>
                    <a:p>
                      <a:r>
                        <a:rPr lang="ko-KR" alt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필드명</a:t>
                      </a:r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타입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설명</a:t>
                      </a: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40341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notification_id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</a:t>
                      </a:r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알림 고유 </a:t>
                      </a:r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592245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user_id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</a:t>
                      </a:r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FK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사용자 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 (User </a:t>
                      </a:r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참조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66990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kern="1200" dirty="0" err="1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enum</a:t>
                      </a:r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 ('</a:t>
                      </a:r>
                      <a:r>
                        <a:rPr lang="ko-KR" altLang="en-US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채팅</a:t>
                      </a:r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', '</a:t>
                      </a:r>
                      <a:r>
                        <a:rPr lang="ko-KR" altLang="en-US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친구신청</a:t>
                      </a:r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', '</a:t>
                      </a:r>
                      <a:r>
                        <a:rPr lang="ko-KR" altLang="en-US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매치</a:t>
                      </a:r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', '</a:t>
                      </a:r>
                      <a:r>
                        <a:rPr lang="ko-KR" altLang="en-US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후기</a:t>
                      </a:r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', '</a:t>
                      </a:r>
                      <a:r>
                        <a:rPr lang="ko-KR" altLang="en-US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댓글</a:t>
                      </a:r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', '</a:t>
                      </a:r>
                      <a:r>
                        <a:rPr lang="ko-KR" altLang="en-US" sz="2400" kern="1200" dirty="0" err="1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대댓글</a:t>
                      </a:r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')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알림 타입</a:t>
                      </a:r>
                      <a:endParaRPr lang="en-US" altLang="ko-KR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942499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reference_id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bigint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참조 </a:t>
                      </a:r>
                      <a:r>
                        <a:rPr lang="en-US" altLang="ko-KR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 </a:t>
                      </a:r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148473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varchar (255)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알림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611652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is_read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tinyint</a:t>
                      </a:r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읽음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204019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created_at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생성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434229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D078C2A1-3493-E303-83C0-2A311CD5C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325056"/>
              </p:ext>
            </p:extLst>
          </p:nvPr>
        </p:nvGraphicFramePr>
        <p:xfrm>
          <a:off x="14971489" y="9020180"/>
          <a:ext cx="8498111" cy="3629020"/>
        </p:xfrm>
        <a:graphic>
          <a:graphicData uri="http://schemas.openxmlformats.org/drawingml/2006/table">
            <a:tbl>
              <a:tblPr/>
              <a:tblGrid>
                <a:gridCol w="3043310">
                  <a:extLst>
                    <a:ext uri="{9D8B030D-6E8A-4147-A177-3AD203B41FA5}">
                      <a16:colId xmlns:a16="http://schemas.microsoft.com/office/drawing/2014/main" val="3526336508"/>
                    </a:ext>
                  </a:extLst>
                </a:gridCol>
                <a:gridCol w="5454801">
                  <a:extLst>
                    <a:ext uri="{9D8B030D-6E8A-4147-A177-3AD203B41FA5}">
                      <a16:colId xmlns:a16="http://schemas.microsoft.com/office/drawing/2014/main" val="1398084810"/>
                    </a:ext>
                  </a:extLst>
                </a:gridCol>
              </a:tblGrid>
              <a:tr h="232121">
                <a:tc>
                  <a:txBody>
                    <a:bodyPr/>
                    <a:lstStyle/>
                    <a:p>
                      <a:r>
                        <a:rPr lang="ko-KR" alt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필드명</a:t>
                      </a:r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62861" marR="62861" marT="31430" marB="31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40341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notification_id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128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592245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user_id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66990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친구신청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942499"/>
                  </a:ext>
                </a:extLst>
              </a:tr>
              <a:tr h="3083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reference_id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148473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kimm5622 </a:t>
                      </a:r>
                      <a:r>
                        <a:rPr lang="ko-KR" altLang="en-US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님이 친구 요청을 보냈습니다</a:t>
                      </a:r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611652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is_read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319581"/>
                  </a:ext>
                </a:extLst>
              </a:tr>
              <a:tr h="232121">
                <a:tc>
                  <a:txBody>
                    <a:bodyPr/>
                    <a:lstStyle/>
                    <a:p>
                      <a:r>
                        <a:rPr lang="en-US" sz="2400" dirty="0" err="1"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created_at</a:t>
                      </a:r>
                      <a:endParaRPr lang="en-US" sz="2400" dirty="0"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  <a:cs typeface="+mn-cs"/>
                        </a:rPr>
                        <a:t>2025-11-28 11:33:08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434229"/>
                  </a:ext>
                </a:extLst>
              </a:tr>
            </a:tbl>
          </a:graphicData>
        </a:graphic>
      </p:graphicFrame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B46ECBEB-E8A6-38B3-EC26-EC520FDCA2DE}"/>
              </a:ext>
            </a:extLst>
          </p:cNvPr>
          <p:cNvSpPr/>
          <p:nvPr/>
        </p:nvSpPr>
        <p:spPr>
          <a:xfrm rot="16200000">
            <a:off x="13582650" y="10434048"/>
            <a:ext cx="838200" cy="1104899"/>
          </a:xfrm>
          <a:prstGeom prst="downArrow">
            <a:avLst/>
          </a:prstGeom>
          <a:gradFill>
            <a:gsLst>
              <a:gs pos="100000">
                <a:srgbClr val="294717"/>
              </a:gs>
              <a:gs pos="58000">
                <a:srgbClr val="294717"/>
              </a:gs>
              <a:gs pos="0">
                <a:schemeClr val="accent3">
                  <a:lumMod val="60000"/>
                  <a:lumOff val="40000"/>
                </a:schemeClr>
              </a:gs>
              <a:gs pos="20000">
                <a:schemeClr val="accent3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EC482C-2893-5658-1027-BF6CA5D57622}"/>
              </a:ext>
            </a:extLst>
          </p:cNvPr>
          <p:cNvSpPr txBox="1"/>
          <p:nvPr/>
        </p:nvSpPr>
        <p:spPr>
          <a:xfrm>
            <a:off x="918583" y="8433798"/>
            <a:ext cx="1237956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• Notification Table</a:t>
            </a:r>
            <a:endParaRPr lang="ko-KR" altLang="en-US" sz="2500" dirty="0"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C33845-5E3E-3DA3-EF9E-FBC57E7DAEF1}"/>
              </a:ext>
            </a:extLst>
          </p:cNvPr>
          <p:cNvSpPr txBox="1"/>
          <p:nvPr/>
        </p:nvSpPr>
        <p:spPr>
          <a:xfrm>
            <a:off x="14958646" y="8433798"/>
            <a:ext cx="1237956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• </a:t>
            </a:r>
            <a:r>
              <a:rPr lang="ko-KR" altLang="en-US" sz="25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샘플 데이터</a:t>
            </a:r>
          </a:p>
        </p:txBody>
      </p:sp>
      <p:pic>
        <p:nvPicPr>
          <p:cNvPr id="13" name="Picture 5">
            <a:extLst>
              <a:ext uri="{FF2B5EF4-FFF2-40B4-BE49-F238E27FC236}">
                <a16:creationId xmlns:a16="http://schemas.microsoft.com/office/drawing/2014/main" id="{F66345B2-FF0F-062D-70CE-6CF854E300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3073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29" name="TextBox 16">
            <a:extLst>
              <a:ext uri="{FF2B5EF4-FFF2-40B4-BE49-F238E27FC236}">
                <a16:creationId xmlns:a16="http://schemas.microsoft.com/office/drawing/2014/main" id="{34FF058A-38ED-74ED-D67F-8388871A6DC9}"/>
              </a:ext>
            </a:extLst>
          </p:cNvPr>
          <p:cNvSpPr txBox="1"/>
          <p:nvPr/>
        </p:nvSpPr>
        <p:spPr>
          <a:xfrm>
            <a:off x="914402" y="942101"/>
            <a:ext cx="83057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설계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 도메인 설계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36" name="Picture 5">
            <a:extLst>
              <a:ext uri="{FF2B5EF4-FFF2-40B4-BE49-F238E27FC236}">
                <a16:creationId xmlns:a16="http://schemas.microsoft.com/office/drawing/2014/main" id="{40E41A3A-BE2B-19E1-1D6B-4B3A82D8E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sp>
        <p:nvSpPr>
          <p:cNvPr id="26" name="TextBox 22">
            <a:extLst>
              <a:ext uri="{FF2B5EF4-FFF2-40B4-BE49-F238E27FC236}">
                <a16:creationId xmlns:a16="http://schemas.microsoft.com/office/drawing/2014/main" id="{4A410FDF-8C58-C4A1-ED03-575FAD0DB72E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b="0" i="0" u="none" strike="noStrike" dirty="0">
                <a:solidFill>
                  <a:srgbClr val="787878"/>
                </a:solidFill>
                <a:latin typeface="Poppins Regular"/>
              </a:rPr>
              <a:t>28</a:t>
            </a:r>
          </a:p>
        </p:txBody>
      </p:sp>
      <p:pic>
        <p:nvPicPr>
          <p:cNvPr id="6" name="그림 5" descr="스크린샷, 텍스트, 라인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1B74E72-7D63-DE89-280F-124419274D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430" y="3752420"/>
            <a:ext cx="16371141" cy="836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001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29" name="TextBox 16">
            <a:extLst>
              <a:ext uri="{FF2B5EF4-FFF2-40B4-BE49-F238E27FC236}">
                <a16:creationId xmlns:a16="http://schemas.microsoft.com/office/drawing/2014/main" id="{34FF058A-38ED-74ED-D67F-8388871A6DC9}"/>
              </a:ext>
            </a:extLst>
          </p:cNvPr>
          <p:cNvSpPr txBox="1"/>
          <p:nvPr/>
        </p:nvSpPr>
        <p:spPr>
          <a:xfrm>
            <a:off x="914402" y="942101"/>
            <a:ext cx="82295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설계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 </a:t>
            </a:r>
            <a:r>
              <a:rPr lang="en-US" altLang="ko-KR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API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명세서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36" name="Picture 5">
            <a:extLst>
              <a:ext uri="{FF2B5EF4-FFF2-40B4-BE49-F238E27FC236}">
                <a16:creationId xmlns:a16="http://schemas.microsoft.com/office/drawing/2014/main" id="{40E41A3A-BE2B-19E1-1D6B-4B3A82D8E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sp>
        <p:nvSpPr>
          <p:cNvPr id="26" name="TextBox 22">
            <a:extLst>
              <a:ext uri="{FF2B5EF4-FFF2-40B4-BE49-F238E27FC236}">
                <a16:creationId xmlns:a16="http://schemas.microsoft.com/office/drawing/2014/main" id="{4A410FDF-8C58-C4A1-ED03-575FAD0DB72E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dirty="0">
                <a:solidFill>
                  <a:srgbClr val="787878"/>
                </a:solidFill>
                <a:latin typeface="Poppins Regular"/>
              </a:rPr>
              <a:t>29</a:t>
            </a:r>
            <a:endParaRPr lang="en" sz="2592" b="0" i="0" u="none" strike="noStrike" dirty="0">
              <a:solidFill>
                <a:srgbClr val="787878"/>
              </a:solidFill>
              <a:latin typeface="Poppins Regular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848241D-A0DD-CD73-7CB3-4FA3F5DC4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050657"/>
              </p:ext>
            </p:extLst>
          </p:nvPr>
        </p:nvGraphicFramePr>
        <p:xfrm>
          <a:off x="976805" y="2452247"/>
          <a:ext cx="22403895" cy="101723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1208">
                  <a:extLst>
                    <a:ext uri="{9D8B030D-6E8A-4147-A177-3AD203B41FA5}">
                      <a16:colId xmlns:a16="http://schemas.microsoft.com/office/drawing/2014/main" val="870356678"/>
                    </a:ext>
                  </a:extLst>
                </a:gridCol>
                <a:gridCol w="2179387">
                  <a:extLst>
                    <a:ext uri="{9D8B030D-6E8A-4147-A177-3AD203B41FA5}">
                      <a16:colId xmlns:a16="http://schemas.microsoft.com/office/drawing/2014/main" val="1494013186"/>
                    </a:ext>
                  </a:extLst>
                </a:gridCol>
                <a:gridCol w="4409137">
                  <a:extLst>
                    <a:ext uri="{9D8B030D-6E8A-4147-A177-3AD203B41FA5}">
                      <a16:colId xmlns:a16="http://schemas.microsoft.com/office/drawing/2014/main" val="382389498"/>
                    </a:ext>
                  </a:extLst>
                </a:gridCol>
                <a:gridCol w="3294262">
                  <a:extLst>
                    <a:ext uri="{9D8B030D-6E8A-4147-A177-3AD203B41FA5}">
                      <a16:colId xmlns:a16="http://schemas.microsoft.com/office/drawing/2014/main" val="1464222385"/>
                    </a:ext>
                  </a:extLst>
                </a:gridCol>
                <a:gridCol w="9809901">
                  <a:extLst>
                    <a:ext uri="{9D8B030D-6E8A-4147-A177-3AD203B41FA5}">
                      <a16:colId xmlns:a16="http://schemas.microsoft.com/office/drawing/2014/main" val="1454245333"/>
                    </a:ext>
                  </a:extLst>
                </a:gridCol>
              </a:tblGrid>
              <a:tr h="520575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 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명세서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286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891462"/>
                  </a:ext>
                </a:extLst>
              </a:tr>
              <a:tr h="5205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페이지 명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286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Http Method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286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router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286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요구사항명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286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요구사항 내용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286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306643"/>
                  </a:ext>
                </a:extLst>
              </a:tr>
              <a:tr h="450227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로그인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286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286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/login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로그인 페이지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로그인 페이지로 </a:t>
                      </a:r>
                      <a:r>
                        <a:rPr lang="ko-KR" alt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리다이렉트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80602"/>
                  </a:ext>
                </a:extLst>
              </a:tr>
              <a:tr h="4502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286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/user/login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로그인 요청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로그인 요청 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( </a:t>
                      </a:r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body - username, password ) 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874421"/>
                  </a:ext>
                </a:extLst>
              </a:tr>
              <a:tr h="4502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286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/api/user/logout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로그아웃 요청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로그아웃 처리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331264"/>
                  </a:ext>
                </a:extLst>
              </a:tr>
              <a:tr h="4502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286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/user/refresh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토큰 갱신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Refresh Token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으로 </a:t>
                      </a:r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Access Token 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재발급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251486"/>
                  </a:ext>
                </a:extLst>
              </a:tr>
              <a:tr h="4502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286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/kakaologin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카카오 로그인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카카오로그인 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OAuth 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페이지 리다이렉트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225015"/>
                  </a:ext>
                </a:extLst>
              </a:tr>
              <a:tr h="4502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286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/user/ouser2/google/callback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구글 로그인 </a:t>
                      </a:r>
                      <a:r>
                        <a:rPr lang="ko-KR" alt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콜백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구글 인증 후 콜백 처리 및 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JWT 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발급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921505"/>
                  </a:ext>
                </a:extLst>
              </a:tr>
              <a:tr h="4502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286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/googlelogin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구글 로그인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구글 로그인 </a:t>
                      </a:r>
                      <a:r>
                        <a:rPr lang="en-US" altLang="ko-KR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OAuth 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페이지 </a:t>
                      </a:r>
                      <a:r>
                        <a:rPr lang="ko-KR" alt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리다이렉트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055582"/>
                  </a:ext>
                </a:extLst>
              </a:tr>
              <a:tr h="4502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286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/user/ouser2/</a:t>
                      </a:r>
                      <a:r>
                        <a:rPr 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kakao</a:t>
                      </a:r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/callback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카카오 로그인 </a:t>
                      </a:r>
                      <a:r>
                        <a:rPr lang="ko-KR" alt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콜백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카카오 인증 후 콜백 처리 및 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JWT 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발급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123435"/>
                  </a:ext>
                </a:extLst>
              </a:tr>
              <a:tr h="450227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회원가입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286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286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/register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회원가입 페이지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회원가입 페이지로 리다이렉트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727561"/>
                  </a:ext>
                </a:extLst>
              </a:tr>
              <a:tr h="4502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286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/user/signup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회원가입 요청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회원가입 요청 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(</a:t>
                      </a:r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body - username, password, email, nickname, address, level)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967745"/>
                  </a:ext>
                </a:extLst>
              </a:tr>
              <a:tr h="4502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286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/users/check-email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이메일 중복 확인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이메일 중복 여부 확인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165038"/>
                  </a:ext>
                </a:extLst>
              </a:tr>
              <a:tr h="4502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286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/user/check-username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아이디 중복 확인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아이디 중복 여부 확인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174542"/>
                  </a:ext>
                </a:extLst>
              </a:tr>
              <a:tr h="4502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286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/api/user/check-nickname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닉네임 중복 확인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닉네임 중복 여부 확인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330265"/>
                  </a:ext>
                </a:extLst>
              </a:tr>
              <a:tr h="450227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아이디 찾기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286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286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/find-id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아이디 찾기 페이지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아이디 찾기 페이지로 </a:t>
                      </a:r>
                      <a:r>
                        <a:rPr lang="ko-KR" alt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리다이렉트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759752"/>
                  </a:ext>
                </a:extLst>
              </a:tr>
              <a:tr h="4502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286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/api/user/find-username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인증번호 전송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이메일로 </a:t>
                      </a:r>
                      <a:r>
                        <a:rPr lang="en-US" altLang="ko-KR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6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자리 인증번호 전송 </a:t>
                      </a:r>
                      <a:r>
                        <a:rPr lang="en-US" altLang="ko-KR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(body - email)</a:t>
                      </a:r>
                      <a:endParaRPr lang="en-US" altLang="ko-KR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164127"/>
                  </a:ext>
                </a:extLst>
              </a:tr>
              <a:tr h="4502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286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/user/verify-username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인증번호 검증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인증번호 검증 후 </a:t>
                      </a:r>
                      <a:r>
                        <a:rPr lang="ko-KR" alt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마스킹된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아이디 반환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5717"/>
                  </a:ext>
                </a:extLst>
              </a:tr>
              <a:tr h="450227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비밀번호 찾기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286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286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/forgot-password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비밀번호 찾기 페이지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아이디 찾기 페이지로 </a:t>
                      </a:r>
                      <a:r>
                        <a:rPr lang="ko-KR" alt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리다이렉트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628972"/>
                  </a:ext>
                </a:extLst>
              </a:tr>
              <a:tr h="4502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286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/user/reset-password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인증번호 전송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이메일로 </a:t>
                      </a:r>
                      <a:r>
                        <a:rPr lang="en-US" altLang="ko-KR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6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자리 인증번호 전송 </a:t>
                      </a:r>
                      <a:r>
                        <a:rPr lang="en-US" altLang="ko-KR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(body - email)</a:t>
                      </a:r>
                      <a:endParaRPr lang="en-US" altLang="ko-KR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803572"/>
                  </a:ext>
                </a:extLst>
              </a:tr>
              <a:tr h="4502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286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/user/verify-password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인증번호 검증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인증번호 검증 후 </a:t>
                      </a:r>
                      <a:r>
                        <a:rPr lang="ko-KR" alt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마스킹된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아이디 반환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869320"/>
                  </a:ext>
                </a:extLst>
              </a:tr>
              <a:tr h="5768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286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/users/reset-password/confirm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비밀번호 재설정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새 비밀번호로 변경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286" marT="42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306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92621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29" name="TextBox 16">
            <a:extLst>
              <a:ext uri="{FF2B5EF4-FFF2-40B4-BE49-F238E27FC236}">
                <a16:creationId xmlns:a16="http://schemas.microsoft.com/office/drawing/2014/main" id="{34FF058A-38ED-74ED-D67F-8388871A6DC9}"/>
              </a:ext>
            </a:extLst>
          </p:cNvPr>
          <p:cNvSpPr txBox="1"/>
          <p:nvPr/>
        </p:nvSpPr>
        <p:spPr>
          <a:xfrm>
            <a:off x="914402" y="942101"/>
            <a:ext cx="82295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설계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 </a:t>
            </a:r>
            <a:r>
              <a:rPr lang="en-US" altLang="ko-KR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API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명세서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36" name="Picture 5">
            <a:extLst>
              <a:ext uri="{FF2B5EF4-FFF2-40B4-BE49-F238E27FC236}">
                <a16:creationId xmlns:a16="http://schemas.microsoft.com/office/drawing/2014/main" id="{40E41A3A-BE2B-19E1-1D6B-4B3A82D8E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sp>
        <p:nvSpPr>
          <p:cNvPr id="26" name="TextBox 22">
            <a:extLst>
              <a:ext uri="{FF2B5EF4-FFF2-40B4-BE49-F238E27FC236}">
                <a16:creationId xmlns:a16="http://schemas.microsoft.com/office/drawing/2014/main" id="{4A410FDF-8C58-C4A1-ED03-575FAD0DB72E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dirty="0">
                <a:solidFill>
                  <a:srgbClr val="787878"/>
                </a:solidFill>
                <a:latin typeface="Poppins Regular"/>
              </a:rPr>
              <a:t>30</a:t>
            </a:r>
            <a:endParaRPr lang="en" sz="2592" b="0" i="0" u="none" strike="noStrike" dirty="0">
              <a:solidFill>
                <a:srgbClr val="787878"/>
              </a:solidFill>
              <a:latin typeface="Poppins Regular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CD40A06-3AED-6938-7517-4723ED0EE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260126"/>
              </p:ext>
            </p:extLst>
          </p:nvPr>
        </p:nvGraphicFramePr>
        <p:xfrm>
          <a:off x="914402" y="2452247"/>
          <a:ext cx="22466298" cy="105028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62198">
                  <a:extLst>
                    <a:ext uri="{9D8B030D-6E8A-4147-A177-3AD203B41FA5}">
                      <a16:colId xmlns:a16="http://schemas.microsoft.com/office/drawing/2014/main" val="1983434986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759874759"/>
                    </a:ext>
                  </a:extLst>
                </a:gridCol>
                <a:gridCol w="4658741">
                  <a:extLst>
                    <a:ext uri="{9D8B030D-6E8A-4147-A177-3AD203B41FA5}">
                      <a16:colId xmlns:a16="http://schemas.microsoft.com/office/drawing/2014/main" val="2096175296"/>
                    </a:ext>
                  </a:extLst>
                </a:gridCol>
                <a:gridCol w="3923788">
                  <a:extLst>
                    <a:ext uri="{9D8B030D-6E8A-4147-A177-3AD203B41FA5}">
                      <a16:colId xmlns:a16="http://schemas.microsoft.com/office/drawing/2014/main" val="2970781424"/>
                    </a:ext>
                  </a:extLst>
                </a:gridCol>
                <a:gridCol w="8854571">
                  <a:extLst>
                    <a:ext uri="{9D8B030D-6E8A-4147-A177-3AD203B41FA5}">
                      <a16:colId xmlns:a16="http://schemas.microsoft.com/office/drawing/2014/main" val="1310954344"/>
                    </a:ext>
                  </a:extLst>
                </a:gridCol>
              </a:tblGrid>
              <a:tr h="408170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 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명세서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402097"/>
                  </a:ext>
                </a:extLst>
              </a:tr>
              <a:tr h="40817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페이지 명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Http Method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router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요구사항명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요구사항 내용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437929"/>
                  </a:ext>
                </a:extLst>
              </a:tr>
              <a:tr h="353014">
                <a:tc rowSpan="13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메인페이지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/schedule/upcoming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7</a:t>
                      </a:r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일 이내 일정 조회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접속 기준 </a:t>
                      </a:r>
                      <a:r>
                        <a:rPr lang="en-US" altLang="ko-KR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7</a:t>
                      </a:r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일 이내의 개인</a:t>
                      </a:r>
                      <a:r>
                        <a:rPr lang="en-US" altLang="ko-KR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경기 일정 리스트 조회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195125"/>
                  </a:ext>
                </a:extLst>
              </a:tr>
              <a:tr h="3530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/community/posts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최근 게시글 목록 조회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메인에서 보여줄 최신 게시글 목록 조회 </a:t>
                      </a:r>
                      <a:r>
                        <a:rPr lang="en-US" altLang="ko-KR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(category=</a:t>
                      </a:r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전체</a:t>
                      </a:r>
                      <a:r>
                        <a:rPr lang="en-US" altLang="ko-KR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, page=1, size=n </a:t>
                      </a:r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등으로 호출</a:t>
                      </a:r>
                      <a:r>
                        <a:rPr lang="en-US" altLang="ko-KR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063145"/>
                  </a:ext>
                </a:extLst>
              </a:tr>
              <a:tr h="3530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/notifications/unread/count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읽지 않은 알림 개수 조회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헤더</a:t>
                      </a:r>
                      <a:r>
                        <a:rPr lang="en-US" altLang="ko-KR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메인 배지 표시용</a:t>
                      </a:r>
                      <a:r>
                        <a:rPr lang="en-US" altLang="ko-KR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, </a:t>
                      </a:r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사용자의 안 읽은 알림 개수 조회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881652"/>
                  </a:ext>
                </a:extLst>
              </a:tr>
              <a:tr h="3530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/users/me (</a:t>
                      </a:r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선택</a:t>
                      </a:r>
                      <a:r>
                        <a:rPr lang="en-US" altLang="ko-KR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로그인 사용자 기본정보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헤더</a:t>
                      </a:r>
                      <a:r>
                        <a:rPr lang="en-US" altLang="ko-KR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ko-KR" altLang="en-US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메인에</a:t>
                      </a:r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닉네임</a:t>
                      </a:r>
                      <a:r>
                        <a:rPr lang="en-US" altLang="ko-KR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·</a:t>
                      </a:r>
                      <a:r>
                        <a:rPr lang="en-US" altLang="ko-KR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userId</a:t>
                      </a:r>
                      <a:r>
                        <a:rPr lang="en-US" altLang="ko-KR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</a:t>
                      </a:r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표시용 현재 로그인 사용자 조회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261219"/>
                  </a:ext>
                </a:extLst>
              </a:tr>
              <a:tr h="3530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화면 이동용</a:t>
                      </a:r>
                      <a:endParaRPr lang="ko-KR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001305"/>
                  </a:ext>
                </a:extLst>
              </a:tr>
              <a:tr h="3530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메인 페이지로 이동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로고 클릭 시 메인 페이지로 이동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090808"/>
                  </a:ext>
                </a:extLst>
              </a:tr>
              <a:tr h="3530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mypage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마이페이지 이동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"</a:t>
                      </a:r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마이페이지</a:t>
                      </a:r>
                      <a:r>
                        <a:rPr lang="en-US" altLang="ko-KR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" </a:t>
                      </a:r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메뉴 </a:t>
                      </a:r>
                      <a:r>
                        <a:rPr lang="ko-KR" altLang="en-US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클릭릭</a:t>
                      </a:r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시 이동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338971"/>
                  </a:ext>
                </a:extLst>
              </a:tr>
              <a:tr h="3530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/notifications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알림 목록 페이지 이동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헤더 알림 아이콘 클릭 시 이동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3785"/>
                  </a:ext>
                </a:extLst>
              </a:tr>
              <a:tr h="3530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/profile/edit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프로필 수정 페이지 이동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"</a:t>
                      </a:r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프로필 수정</a:t>
                      </a:r>
                      <a:r>
                        <a:rPr lang="en-US" altLang="ko-KR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" </a:t>
                      </a:r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메뉴 클릭 시 이동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892337"/>
                  </a:ext>
                </a:extLst>
              </a:tr>
              <a:tr h="3530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/community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게시판 목록 페이지 이동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“커뮤니티”</a:t>
                      </a:r>
                      <a:r>
                        <a:rPr lang="en-US" altLang="ko-KR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/“</a:t>
                      </a:r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게시판” 메뉴 클릭 시 이동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449337"/>
                  </a:ext>
                </a:extLst>
              </a:tr>
              <a:tr h="3530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/chat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채팅방 페이지로 이동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"</a:t>
                      </a:r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실시간채팅</a:t>
                      </a:r>
                      <a:r>
                        <a:rPr lang="en-US" altLang="ko-KR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" </a:t>
                      </a:r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메뉴 클릭 시 이동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888573"/>
                  </a:ext>
                </a:extLst>
              </a:tr>
              <a:tr h="1283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/fields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구장검색 패이지로 이동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"</a:t>
                      </a:r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구장검색</a:t>
                      </a:r>
                      <a:r>
                        <a:rPr lang="en-US" altLang="ko-KR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" </a:t>
                      </a:r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메뉴 클릭 시 이동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957538"/>
                  </a:ext>
                </a:extLst>
              </a:tr>
              <a:tr h="3530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schedule?stadium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경기일정 페이지로 이동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"</a:t>
                      </a:r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경기 일정</a:t>
                      </a:r>
                      <a:r>
                        <a:rPr lang="en-US" altLang="ko-KR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" </a:t>
                      </a:r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메뉴 클릭 시 이동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635663"/>
                  </a:ext>
                </a:extLst>
              </a:tr>
              <a:tr h="353014">
                <a:tc rowSpan="14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구장 검색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/fields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구장 지도</a:t>
                      </a:r>
                      <a:r>
                        <a:rPr lang="en-US" altLang="ko-KR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검색 </a:t>
                      </a:r>
                      <a:r>
                        <a:rPr lang="en-US" altLang="ko-KR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View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Kakao API</a:t>
                      </a:r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를 사용하여 구장 지도 표시 및 검색 기능을 제공하는 </a:t>
                      </a:r>
                      <a:r>
                        <a:rPr lang="en-US" altLang="ko-KR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View </a:t>
                      </a:r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페이지 반환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757741"/>
                  </a:ext>
                </a:extLst>
              </a:tr>
              <a:tr h="3530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/stadiums/search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구장 검색 및 </a:t>
                      </a:r>
                      <a:r>
                        <a:rPr lang="en-US" altLang="ko-KR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DB </a:t>
                      </a:r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저장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키워드 기반으로 구장 정보를 검색하고</a:t>
                      </a:r>
                      <a:r>
                        <a:rPr lang="en-US" altLang="ko-KR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, </a:t>
                      </a:r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필요시 </a:t>
                      </a:r>
                      <a:r>
                        <a:rPr lang="en-US" altLang="ko-KR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DB</a:t>
                      </a:r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에 저장 후 목록</a:t>
                      </a:r>
                      <a:r>
                        <a:rPr lang="en-US" altLang="ko-KR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(</a:t>
                      </a:r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마커 데이터</a:t>
                      </a:r>
                      <a:r>
                        <a:rPr lang="en-US" altLang="ko-KR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 </a:t>
                      </a:r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반환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123768"/>
                  </a:ext>
                </a:extLst>
              </a:tr>
              <a:tr h="3530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/stadiums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저장된 구장 목록 조회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지도에 표시할 </a:t>
                      </a:r>
                      <a:r>
                        <a:rPr lang="en-US" altLang="ko-KR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DB</a:t>
                      </a:r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에 저장된 모든 구장의 요약 정보 목록 반환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277562"/>
                  </a:ext>
                </a:extLst>
              </a:tr>
              <a:tr h="3530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/stadium/detail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구장 상세 </a:t>
                      </a:r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View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지도 마커 클릭 시 구장 정보 팝업을 표시할 </a:t>
                      </a:r>
                      <a:r>
                        <a:rPr lang="en-US" altLang="ko-KR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View </a:t>
                      </a:r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페이지 반환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411407"/>
                  </a:ext>
                </a:extLst>
              </a:tr>
              <a:tr h="3530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matchrooms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경기 생성 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팝업에서 입력한 경기 정보 등록</a:t>
                      </a:r>
                      <a:r>
                        <a:rPr lang="en-US" altLang="ko-KR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, </a:t>
                      </a:r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지도에 마커 실시간 반영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356055"/>
                  </a:ext>
                </a:extLst>
              </a:tr>
              <a:tr h="4522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matchrooms</a:t>
                      </a:r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/stadium/{</a:t>
                      </a:r>
                      <a:r>
                        <a:rPr lang="en-US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stadiumId</a:t>
                      </a:r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}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구장별 경기 목록 조회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해당 구장에서 생성된 모든 </a:t>
                      </a:r>
                      <a:r>
                        <a:rPr lang="ko-KR" altLang="en-US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매칭방</a:t>
                      </a:r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목록을 조회하여 지도에 실시간 마커로 표시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643612"/>
                  </a:ext>
                </a:extLst>
              </a:tr>
              <a:tr h="3530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matchrooms</a:t>
                      </a:r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/{</a:t>
                      </a:r>
                      <a:r>
                        <a:rPr lang="en-US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roomId</a:t>
                      </a:r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}/join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경기 참가 신청</a:t>
                      </a:r>
                      <a:r>
                        <a:rPr lang="en-US" altLang="ko-KR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등록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지정된 경기에 사용자가 참가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709065"/>
                  </a:ext>
                </a:extLst>
              </a:tr>
              <a:tr h="3530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matchrooms</a:t>
                      </a:r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/{</a:t>
                      </a:r>
                      <a:r>
                        <a:rPr lang="en-US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roomId</a:t>
                      </a:r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}/cancel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참가 취소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지정된 경기에서 참가 신청 취소</a:t>
                      </a:r>
                      <a:r>
                        <a:rPr lang="en-US" altLang="ko-KR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철회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137834"/>
                  </a:ext>
                </a:extLst>
              </a:tr>
              <a:tr h="4522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matchrooms</a:t>
                      </a:r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/{</a:t>
                      </a:r>
                      <a:r>
                        <a:rPr lang="en-US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roomId</a:t>
                      </a:r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}/approve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참가 승인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호스트가 참가 신청한 사용자 승인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094120"/>
                  </a:ext>
                </a:extLst>
              </a:tr>
              <a:tr h="3530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ws</a:t>
                      </a:r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/match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매칭방</a:t>
                      </a:r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연동</a:t>
                      </a:r>
                      <a:r>
                        <a:rPr lang="en-US" altLang="ko-KR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인원 관리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참가 인원 충족 시 자동 </a:t>
                      </a:r>
                      <a:r>
                        <a:rPr lang="ko-KR" altLang="en-US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매칭방</a:t>
                      </a:r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생성</a:t>
                      </a:r>
                      <a:r>
                        <a:rPr lang="en-US" altLang="ko-KR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, </a:t>
                      </a:r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실시간 경기 상태</a:t>
                      </a:r>
                      <a:r>
                        <a:rPr lang="en-US" altLang="ko-KR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인원 동기화</a:t>
                      </a:r>
                      <a:r>
                        <a:rPr lang="en-US" altLang="ko-KR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.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808904"/>
                  </a:ext>
                </a:extLst>
              </a:tr>
              <a:tr h="3530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ws</a:t>
                      </a:r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/match/chat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매칭방</a:t>
                      </a:r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채팅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그룹 채팅 실시간 송수신 및 일정 공유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600252"/>
                  </a:ext>
                </a:extLst>
              </a:tr>
              <a:tr h="3530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POST/GET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/reviews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후기 작성 및 조회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경기 종료 후 후기 작성</a:t>
                      </a:r>
                      <a:r>
                        <a:rPr lang="en-US" altLang="ko-KR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, </a:t>
                      </a:r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구장 검색 시 관련 후기 연결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282507"/>
                  </a:ext>
                </a:extLst>
              </a:tr>
              <a:tr h="3530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/reviews/write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후기 작성 페이지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후기를 작성할 수 있는 뷰 페이지 제공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9190"/>
                  </a:ext>
                </a:extLst>
              </a:tr>
              <a:tr h="3530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734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ws</a:t>
                      </a:r>
                      <a:r>
                        <a:rPr 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/match/redirect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채팅방</a:t>
                      </a:r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</a:t>
                      </a:r>
                      <a:r>
                        <a:rPr lang="ko-KR" altLang="en-US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리다이렉트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매칭 완료 시 경기 </a:t>
                      </a:r>
                      <a:r>
                        <a:rPr lang="ko-KR" altLang="en-US" sz="18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채팅방</a:t>
                      </a:r>
                      <a:r>
                        <a:rPr lang="ko-KR" altLang="en-US" sz="18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이동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734" marT="47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290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3201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29" name="TextBox 16">
            <a:extLst>
              <a:ext uri="{FF2B5EF4-FFF2-40B4-BE49-F238E27FC236}">
                <a16:creationId xmlns:a16="http://schemas.microsoft.com/office/drawing/2014/main" id="{34FF058A-38ED-74ED-D67F-8388871A6DC9}"/>
              </a:ext>
            </a:extLst>
          </p:cNvPr>
          <p:cNvSpPr txBox="1"/>
          <p:nvPr/>
        </p:nvSpPr>
        <p:spPr>
          <a:xfrm>
            <a:off x="914402" y="942101"/>
            <a:ext cx="82295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설계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 </a:t>
            </a:r>
            <a:r>
              <a:rPr lang="en-US" altLang="ko-KR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API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명세서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36" name="Picture 5">
            <a:extLst>
              <a:ext uri="{FF2B5EF4-FFF2-40B4-BE49-F238E27FC236}">
                <a16:creationId xmlns:a16="http://schemas.microsoft.com/office/drawing/2014/main" id="{40E41A3A-BE2B-19E1-1D6B-4B3A82D8E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sp>
        <p:nvSpPr>
          <p:cNvPr id="26" name="TextBox 22">
            <a:extLst>
              <a:ext uri="{FF2B5EF4-FFF2-40B4-BE49-F238E27FC236}">
                <a16:creationId xmlns:a16="http://schemas.microsoft.com/office/drawing/2014/main" id="{4A410FDF-8C58-C4A1-ED03-575FAD0DB72E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dirty="0">
                <a:solidFill>
                  <a:srgbClr val="787878"/>
                </a:solidFill>
                <a:latin typeface="Poppins Regular"/>
              </a:rPr>
              <a:t>31</a:t>
            </a:r>
            <a:endParaRPr lang="en" sz="2592" b="0" i="0" u="none" strike="noStrike" dirty="0">
              <a:solidFill>
                <a:srgbClr val="787878"/>
              </a:solidFill>
              <a:latin typeface="Poppins Regular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138A9A0-7F98-7B88-5853-1D416E7978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796946"/>
              </p:ext>
            </p:extLst>
          </p:nvPr>
        </p:nvGraphicFramePr>
        <p:xfrm>
          <a:off x="914402" y="2452248"/>
          <a:ext cx="22466299" cy="102985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4998">
                  <a:extLst>
                    <a:ext uri="{9D8B030D-6E8A-4147-A177-3AD203B41FA5}">
                      <a16:colId xmlns:a16="http://schemas.microsoft.com/office/drawing/2014/main" val="294521928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607296024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859692983"/>
                    </a:ext>
                  </a:extLst>
                </a:gridCol>
                <a:gridCol w="4086733">
                  <a:extLst>
                    <a:ext uri="{9D8B030D-6E8A-4147-A177-3AD203B41FA5}">
                      <a16:colId xmlns:a16="http://schemas.microsoft.com/office/drawing/2014/main" val="3429782540"/>
                    </a:ext>
                  </a:extLst>
                </a:gridCol>
                <a:gridCol w="8854568">
                  <a:extLst>
                    <a:ext uri="{9D8B030D-6E8A-4147-A177-3AD203B41FA5}">
                      <a16:colId xmlns:a16="http://schemas.microsoft.com/office/drawing/2014/main" val="2054829365"/>
                    </a:ext>
                  </a:extLst>
                </a:gridCol>
              </a:tblGrid>
              <a:tr h="431537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 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명세서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5096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920155"/>
                  </a:ext>
                </a:extLst>
              </a:tr>
              <a:tr h="43153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페이지 명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5096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Http Method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5096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router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5096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요구사항명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5096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요구사항 내용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5096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092327"/>
                  </a:ext>
                </a:extLst>
              </a:tr>
              <a:tr h="373220">
                <a:tc rowSpan="18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채팅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알림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5096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5096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chatroom?type</a:t>
                      </a:r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=" "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채팅방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종류별 페이지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탭을 통해서 채팅방 종류를 나누는 형태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170352"/>
                  </a:ext>
                </a:extLst>
              </a:tr>
              <a:tr h="3732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5096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/chatroom/{id}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특정 대화방 대화 내역들 가져오기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특정 채팅방으로 대화내역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56052"/>
                  </a:ext>
                </a:extLst>
              </a:tr>
              <a:tr h="3732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5096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/chatroom/unread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전체 채팅방 미확인 메세지 합계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각 채팅방의 미확인 메세지의 총 개수를 합쳐서 가져옴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859022"/>
                  </a:ext>
                </a:extLst>
              </a:tr>
              <a:tr h="3732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5096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/chatroom/group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그룹채팅방 생성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채팅방 생성 버튼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(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채팅방 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type, 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방 이름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, 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인원수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, 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초대 멤버 데이터 포함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240211"/>
                  </a:ext>
                </a:extLst>
              </a:tr>
              <a:tr h="3732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5096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/chatroom/onetoone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1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대</a:t>
                      </a:r>
                      <a:r>
                        <a:rPr lang="en-US" altLang="ko-KR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1 </a:t>
                      </a:r>
                      <a:r>
                        <a:rPr lang="ko-KR" alt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채팅방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생성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1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대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1 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채팅방 생성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172585"/>
                  </a:ext>
                </a:extLst>
              </a:tr>
              <a:tr h="3732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5096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/api/notifications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사용자의 알림 조회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특정 사용자의 알림 메세지를 조회함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.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967672"/>
                  </a:ext>
                </a:extLst>
              </a:tr>
              <a:tr h="3732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5096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/api/notifications/unread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읽지않은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알림 조회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사용자가 읽지 않은 알림을 구분한다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152671"/>
                  </a:ext>
                </a:extLst>
              </a:tr>
              <a:tr h="3732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5096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/notifications/unread/count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읽지않은 알림 개수를 조회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사용자가 읽지 않은 알림의 개수를 알려줌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513709"/>
                  </a:ext>
                </a:extLst>
              </a:tr>
              <a:tr h="3732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5096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/api/notifications/read-all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읽지않은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알림 모두 조회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사용자가 읽지 않은 알림을 모두 조회함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.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000169"/>
                  </a:ext>
                </a:extLst>
              </a:tr>
              <a:tr h="3732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PUT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5096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/api/notifications/{id}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특정 알림 읽음 처리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사용자가 특정 알림 읽음 처리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029007"/>
                  </a:ext>
                </a:extLst>
              </a:tr>
              <a:tr h="3732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DELETE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5096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/api/notifications/{id}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특정 알림 삭제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사용자가 특정 삭제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859913"/>
                  </a:ext>
                </a:extLst>
              </a:tr>
              <a:tr h="3732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5096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/chatroom/{</a:t>
                      </a:r>
                      <a:r>
                        <a:rPr 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roomId</a:t>
                      </a:r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}/unread-count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특정 채팅방에서 미확인 </a:t>
                      </a:r>
                      <a:r>
                        <a:rPr lang="ko-KR" alt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메세지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개수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특정 채팅방에서 읽지 않은 메세지의 개수를 가져옴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765775"/>
                  </a:ext>
                </a:extLst>
              </a:tr>
              <a:tr h="3732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5096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/chatroom/{roomId}/mark-read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특정 채팅방에서 미확인 메세지 확인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특정 채팅방에서 읽지 않은 메세지를 확인하여 읽지않은 잔여 메세지의 수를 없앰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.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463748"/>
                  </a:ext>
                </a:extLst>
              </a:tr>
              <a:tr h="3732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5096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/chatroom/{id}/messages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채팅방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내역 조회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각 채팅방에서 대화를 했던 내용 모두 가져옴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726406"/>
                  </a:ext>
                </a:extLst>
              </a:tr>
              <a:tr h="3732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5096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/chatroom/{id}/participants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채팅방에 존재하는 인원 조회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현재 채팅방에 존재하는 인원 리스트를 보여줌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160109"/>
                  </a:ext>
                </a:extLst>
              </a:tr>
              <a:tr h="3732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MESSAGE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5096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/chatroom/{roomId}/send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채팅 전송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채팅창에 친 채팅을 채팅 목록 나오는 형태에 표시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175037"/>
                  </a:ext>
                </a:extLst>
              </a:tr>
              <a:tr h="3732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5096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/chatroom/{id}/invite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채팅방에 사용자 초대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채팅방에서 사용자를 초대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237795"/>
                  </a:ext>
                </a:extLst>
              </a:tr>
              <a:tr h="3732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DELETE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5096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/chatroom/{id}/leave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채팅방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떠나기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채팅방에서 나가기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9112841"/>
                  </a:ext>
                </a:extLst>
              </a:tr>
              <a:tr h="373220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알림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5096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5096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/api/notifications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알림 전체 목록 조회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로그인 사용자의 모든 알림</a:t>
                      </a:r>
                      <a:r>
                        <a:rPr lang="en-US" altLang="ko-KR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(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읽음</a:t>
                      </a:r>
                      <a:r>
                        <a:rPr lang="en-US" altLang="ko-KR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안 읽음 포함</a:t>
                      </a:r>
                      <a:r>
                        <a:rPr lang="en-US" altLang="ko-KR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 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리스트 조회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9398941"/>
                  </a:ext>
                </a:extLst>
              </a:tr>
              <a:tr h="3732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5096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/api/notifications/unread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읽지 않은 알림 목록 조회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로그인 사용자의 읽지 않은 알림만 조회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930397"/>
                  </a:ext>
                </a:extLst>
              </a:tr>
              <a:tr h="3732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5096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/api/notifications/unread/count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읽지 않은 알림 개수 조회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로그인 사용자의 읽지 않은 알림 개수 반환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35042"/>
                  </a:ext>
                </a:extLst>
              </a:tr>
              <a:tr h="3732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PUT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5096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/api/notifications/read-all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전체 알림 읽음 처리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로그인 사용자의 모든 알림을 읽음 상태로 변경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170696"/>
                  </a:ext>
                </a:extLst>
              </a:tr>
              <a:tr h="3732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PUT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5096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/api/notifications/{id}/read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특정 알림 읽음 처리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에 해당하는 알림 한 건을 읽음 처리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4232704"/>
                  </a:ext>
                </a:extLst>
              </a:tr>
              <a:tr h="3732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DELETE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5096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/api/notifications/{id}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알림 삭제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에 해당하는 알림 삭제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693447"/>
                  </a:ext>
                </a:extLst>
              </a:tr>
              <a:tr h="4781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5096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/api/reviews/pending-stadiums?userId=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미작성 경기 후기 목록 조회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userId</a:t>
                      </a:r>
                      <a:r>
                        <a:rPr lang="en-US" altLang="ko-KR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기준 아직 후기 작성하지 않은 경기장 </a:t>
                      </a:r>
                      <a:r>
                        <a:rPr lang="en-US" altLang="ko-KR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ID 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목록 조회</a:t>
                      </a:r>
                      <a:endParaRPr lang="en-US" altLang="ko-KR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180000" marR="5096" marT="509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9138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39317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29" name="TextBox 16">
            <a:extLst>
              <a:ext uri="{FF2B5EF4-FFF2-40B4-BE49-F238E27FC236}">
                <a16:creationId xmlns:a16="http://schemas.microsoft.com/office/drawing/2014/main" id="{34FF058A-38ED-74ED-D67F-8388871A6DC9}"/>
              </a:ext>
            </a:extLst>
          </p:cNvPr>
          <p:cNvSpPr txBox="1"/>
          <p:nvPr/>
        </p:nvSpPr>
        <p:spPr>
          <a:xfrm>
            <a:off x="914402" y="942101"/>
            <a:ext cx="82295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설계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 </a:t>
            </a:r>
            <a:r>
              <a:rPr lang="en-US" altLang="ko-KR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API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명세서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36" name="Picture 5">
            <a:extLst>
              <a:ext uri="{FF2B5EF4-FFF2-40B4-BE49-F238E27FC236}">
                <a16:creationId xmlns:a16="http://schemas.microsoft.com/office/drawing/2014/main" id="{40E41A3A-BE2B-19E1-1D6B-4B3A82D8E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sp>
        <p:nvSpPr>
          <p:cNvPr id="26" name="TextBox 22">
            <a:extLst>
              <a:ext uri="{FF2B5EF4-FFF2-40B4-BE49-F238E27FC236}">
                <a16:creationId xmlns:a16="http://schemas.microsoft.com/office/drawing/2014/main" id="{4A410FDF-8C58-C4A1-ED03-575FAD0DB72E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dirty="0">
                <a:solidFill>
                  <a:srgbClr val="787878"/>
                </a:solidFill>
                <a:latin typeface="Poppins Regular"/>
              </a:rPr>
              <a:t>32</a:t>
            </a:r>
            <a:endParaRPr lang="en" sz="2592" b="0" i="0" u="none" strike="noStrike" dirty="0">
              <a:solidFill>
                <a:srgbClr val="787878"/>
              </a:solidFill>
              <a:latin typeface="Poppins Regular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73B97DE-393F-799C-3876-620CFFFCE9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900482"/>
              </p:ext>
            </p:extLst>
          </p:nvPr>
        </p:nvGraphicFramePr>
        <p:xfrm>
          <a:off x="990601" y="2452246"/>
          <a:ext cx="22402798" cy="103739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66998">
                  <a:extLst>
                    <a:ext uri="{9D8B030D-6E8A-4147-A177-3AD203B41FA5}">
                      <a16:colId xmlns:a16="http://schemas.microsoft.com/office/drawing/2014/main" val="1221295429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4133992570"/>
                    </a:ext>
                  </a:extLst>
                </a:gridCol>
                <a:gridCol w="6477000">
                  <a:extLst>
                    <a:ext uri="{9D8B030D-6E8A-4147-A177-3AD203B41FA5}">
                      <a16:colId xmlns:a16="http://schemas.microsoft.com/office/drawing/2014/main" val="152649279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3791166441"/>
                    </a:ext>
                  </a:extLst>
                </a:gridCol>
                <a:gridCol w="7924800">
                  <a:extLst>
                    <a:ext uri="{9D8B030D-6E8A-4147-A177-3AD203B41FA5}">
                      <a16:colId xmlns:a16="http://schemas.microsoft.com/office/drawing/2014/main" val="3596256253"/>
                    </a:ext>
                  </a:extLst>
                </a:gridCol>
              </a:tblGrid>
              <a:tr h="370499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 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명세서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473800"/>
                  </a:ext>
                </a:extLst>
              </a:tr>
              <a:tr h="37049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페이지 명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Http Method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router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요구사항명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요구사항 내용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5096"/>
                  </a:ext>
                </a:extLst>
              </a:tr>
              <a:tr h="370499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커뮤니티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/community/posts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게시글 목록 조회</a:t>
                      </a:r>
                      <a:endParaRPr lang="en-US" altLang="ko-KR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카테고리 </a:t>
                      </a:r>
                      <a:r>
                        <a:rPr lang="en-US" altLang="ko-KR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+ 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검색조건별 게시글 목록과 전체 건수를 </a:t>
                      </a:r>
                      <a:r>
                        <a:rPr lang="ko-KR" alt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페이징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조회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710143"/>
                  </a:ext>
                </a:extLst>
              </a:tr>
              <a:tr h="370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/community/posts/{</a:t>
                      </a:r>
                      <a:r>
                        <a:rPr 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postId</a:t>
                      </a:r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}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게시글 상세 조회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postId</a:t>
                      </a:r>
                      <a:r>
                        <a:rPr lang="en-US" altLang="ko-KR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기준으로 단일 게시글 상세 정보 조회</a:t>
                      </a:r>
                      <a:endParaRPr lang="en-US" altLang="ko-KR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459497"/>
                  </a:ext>
                </a:extLst>
              </a:tr>
              <a:tr h="370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/community/posts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게시글 작성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카테고리</a:t>
                      </a:r>
                      <a:r>
                        <a:rPr lang="en-US" altLang="ko-KR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, 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제목</a:t>
                      </a:r>
                      <a:r>
                        <a:rPr lang="en-US" altLang="ko-KR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, 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내용</a:t>
                      </a:r>
                      <a:r>
                        <a:rPr lang="en-US" altLang="ko-KR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, (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선택</a:t>
                      </a:r>
                      <a:r>
                        <a:rPr lang="en-US" altLang="ko-KR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 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이미지 포함한 새 게시글 등록</a:t>
                      </a:r>
                      <a:endParaRPr lang="en-US" altLang="ko-KR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608313"/>
                  </a:ext>
                </a:extLst>
              </a:tr>
              <a:tr h="370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PUT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/api/community/posts/{postId}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게시글 수정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postId 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기준 게시글 제목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내용 수정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752522"/>
                  </a:ext>
                </a:extLst>
              </a:tr>
              <a:tr h="370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DELETE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/community/posts/{</a:t>
                      </a:r>
                      <a:r>
                        <a:rPr 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postId</a:t>
                      </a:r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}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게시글 삭제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postId 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기준 게시글 삭제 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(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작성자만 가능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42311"/>
                  </a:ext>
                </a:extLst>
              </a:tr>
              <a:tr h="370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/community/posts/{</a:t>
                      </a:r>
                      <a:r>
                        <a:rPr 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postId</a:t>
                      </a:r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}/comments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댓글 등록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게시글에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댓글 또는 </a:t>
                      </a:r>
                      <a:r>
                        <a:rPr lang="ko-KR" alt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대댓글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작성 </a:t>
                      </a:r>
                      <a:endParaRPr lang="en-US" altLang="ko-KR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47916"/>
                  </a:ext>
                </a:extLst>
              </a:tr>
              <a:tr h="370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PUT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/api/community/comments/{commentId}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댓글 수정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commentId 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기준 댓글 내용 수정 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(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작성자만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818397"/>
                  </a:ext>
                </a:extLst>
              </a:tr>
              <a:tr h="370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DELETE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/community/comments/{</a:t>
                      </a:r>
                      <a:r>
                        <a:rPr 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commentId</a:t>
                      </a:r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}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댓글 삭제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commentId 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기준 댓글 삭제 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(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작성자만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559882"/>
                  </a:ext>
                </a:extLst>
              </a:tr>
              <a:tr h="370499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마이페이지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mypage</a:t>
                      </a:r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/me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내 정보 조회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로그인한 사용자 프로필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기본정보 조회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574990"/>
                  </a:ext>
                </a:extLst>
              </a:tr>
              <a:tr h="370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mypage</a:t>
                      </a:r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/confirm-password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비밀번호 확인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개인정보 수정 전 비밀번호 일치 여부 확인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3612938"/>
                  </a:ext>
                </a:extLst>
              </a:tr>
              <a:tr h="370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PUT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mypage</a:t>
                      </a:r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/update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개인정보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(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프로필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 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수정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닉네임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이메일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포지션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레벨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주소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프로필 이미지 수정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780147"/>
                  </a:ext>
                </a:extLst>
              </a:tr>
              <a:tr h="370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PUT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/api/mypage/password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비밀번호 변경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현재 비밀번호 검증 후 새 비밀번호로 변경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3230927"/>
                  </a:ext>
                </a:extLst>
              </a:tr>
              <a:tr h="370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DELETE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mypage</a:t>
                      </a:r>
                      <a:r>
                        <a:rPr 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/delete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회원탈퇴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로그인한 사용자 계정 삭제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137755"/>
                  </a:ext>
                </a:extLst>
              </a:tr>
              <a:tr h="370499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마이페이지 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- </a:t>
                      </a:r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Schedule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/api/schedule/month?year=&amp;month=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특정 달 전체 일정 조회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해당 연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월의 개인 일정 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+ 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경기 일정 목록 조회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734038"/>
                  </a:ext>
                </a:extLst>
              </a:tr>
              <a:tr h="370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/api/schedule/day?date=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특정 날짜 일정 조회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해당 날짜의 개인 일정 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+ 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경기 일정 조회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991653"/>
                  </a:ext>
                </a:extLst>
              </a:tr>
              <a:tr h="370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/api/schedule/personal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개인 일정 추가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선택한 날짜에 개인 일정 등록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072160"/>
                  </a:ext>
                </a:extLst>
              </a:tr>
              <a:tr h="370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PUT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/api/schedule/personal/{scheduleId}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개인 일정 수정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scheduleId 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기준 개인 일정 내용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시간 수정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878518"/>
                  </a:ext>
                </a:extLst>
              </a:tr>
              <a:tr h="370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DELETE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/api/schedule/personal/{scheduleId}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개인 일정 삭제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scheduleId 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기준 개인 일정 삭제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955854"/>
                  </a:ext>
                </a:extLst>
              </a:tr>
              <a:tr h="370499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마이페이지 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- </a:t>
                      </a:r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Friend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/api/friends?keyword=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친구 목록 조회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(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선택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 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닉네임 키워드로 내 친구 목록 조회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662535"/>
                  </a:ext>
                </a:extLst>
              </a:tr>
              <a:tr h="370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DELETE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/api/friends/{targetUserId}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친구 삭제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targetUserId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와의 친구 관계 삭제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438315"/>
                  </a:ext>
                </a:extLst>
              </a:tr>
              <a:tr h="370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/api/friends/requests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받은 친구 요청 목록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나에게 들어온 친구 요청 리스트 조회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272223"/>
                  </a:ext>
                </a:extLst>
              </a:tr>
              <a:tr h="370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/api/friends/requests/{requesterUserId}/accept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친구 요청 수락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requesterUserId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가 보낸 친구 요청 수락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705264"/>
                  </a:ext>
                </a:extLst>
              </a:tr>
              <a:tr h="370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/api/friends/requests/{requesterUserId}/reject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친구 요청 거절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requesterUserId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가 보낸 친구 요청 거절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947457"/>
                  </a:ext>
                </a:extLst>
              </a:tr>
              <a:tr h="370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/api/friends/search?keyword=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친구 검색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(</a:t>
                      </a:r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모달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)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아이디</a:t>
                      </a:r>
                      <a:r>
                        <a:rPr lang="en-US" altLang="ko-KR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닉네임으로 친구 추가 대상 검색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614251"/>
                  </a:ext>
                </a:extLst>
              </a:tr>
              <a:tr h="370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/api/friends/requests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친구 요청 보내기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body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의 </a:t>
                      </a:r>
                      <a:r>
                        <a:rPr lang="en-US" altLang="ko-KR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targetUserId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에게 친구 요청 전송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677384"/>
                  </a:ext>
                </a:extLst>
              </a:tr>
              <a:tr h="37049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마이페이지 </a:t>
                      </a:r>
                      <a:r>
                        <a:rPr lang="en-US" altLang="ko-KR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- </a:t>
                      </a:r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Stats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4586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/api/stats/matching-rate/me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내 매칭률 조회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로그인 사용자의 올 한 해 </a:t>
                      </a:r>
                      <a:r>
                        <a:rPr lang="ko-KR" altLang="en-US" sz="2000" u="none" strike="noStrike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매칭률</a:t>
                      </a:r>
                      <a:r>
                        <a:rPr lang="en-US" altLang="ko-KR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, 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승인 횟수</a:t>
                      </a:r>
                      <a:r>
                        <a:rPr lang="en-US" altLang="ko-KR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, </a:t>
                      </a:r>
                      <a:r>
                        <a:rPr lang="ko-KR" altLang="en-US" sz="2000" u="none" strike="noStrike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신청 횟수 조회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216000" marR="4586" marT="45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469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43678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38" name="TextBox 16">
            <a:extLst>
              <a:ext uri="{FF2B5EF4-FFF2-40B4-BE49-F238E27FC236}">
                <a16:creationId xmlns:a16="http://schemas.microsoft.com/office/drawing/2014/main" id="{9672DFC6-C4F0-3A3D-31FD-142579415B9F}"/>
              </a:ext>
            </a:extLst>
          </p:cNvPr>
          <p:cNvSpPr txBox="1"/>
          <p:nvPr/>
        </p:nvSpPr>
        <p:spPr>
          <a:xfrm>
            <a:off x="914402" y="942101"/>
            <a:ext cx="11042650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설계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 </a:t>
            </a:r>
            <a:r>
              <a:rPr lang="en-US" altLang="ko-KR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API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명세서 </a:t>
            </a:r>
            <a:r>
              <a:rPr lang="en-US" altLang="ko-KR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(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주요</a:t>
            </a:r>
            <a:r>
              <a:rPr lang="en-US" altLang="ko-KR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기능별</a:t>
            </a:r>
            <a:r>
              <a:rPr lang="en-US" altLang="ko-KR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)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471B6AE5-212F-D8A6-6187-A6BD4895AAE6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0FE9C7F-7665-4877-D3B2-A52763FCEDED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151A72CA-9795-A598-CA2B-96D459698B91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43" name="TextBox 5">
                <a:extLst>
                  <a:ext uri="{FF2B5EF4-FFF2-40B4-BE49-F238E27FC236}">
                    <a16:creationId xmlns:a16="http://schemas.microsoft.com/office/drawing/2014/main" id="{65971821-6362-0B99-ADD4-CC3C6DAF35C8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44" name="그림 43">
                <a:extLst>
                  <a:ext uri="{FF2B5EF4-FFF2-40B4-BE49-F238E27FC236}">
                    <a16:creationId xmlns:a16="http://schemas.microsoft.com/office/drawing/2014/main" id="{B46B3264-F7C5-21CE-BB79-440195A0EC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42" name="Picture 5">
              <a:extLst>
                <a:ext uri="{FF2B5EF4-FFF2-40B4-BE49-F238E27FC236}">
                  <a16:creationId xmlns:a16="http://schemas.microsoft.com/office/drawing/2014/main" id="{C097BFA5-0280-36E1-C714-704938D1DD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45" name="Picture 5">
            <a:extLst>
              <a:ext uri="{FF2B5EF4-FFF2-40B4-BE49-F238E27FC236}">
                <a16:creationId xmlns:a16="http://schemas.microsoft.com/office/drawing/2014/main" id="{699F2C17-D739-6D8F-969F-6B1586D37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sp>
        <p:nvSpPr>
          <p:cNvPr id="46" name="TextBox 22">
            <a:extLst>
              <a:ext uri="{FF2B5EF4-FFF2-40B4-BE49-F238E27FC236}">
                <a16:creationId xmlns:a16="http://schemas.microsoft.com/office/drawing/2014/main" id="{E86493FC-45E9-9B69-1A09-457A8520D7A6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b="0" i="0" u="none" strike="noStrike" dirty="0">
                <a:solidFill>
                  <a:srgbClr val="787878"/>
                </a:solidFill>
                <a:latin typeface="Poppins Regular"/>
              </a:rPr>
              <a:t>33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163" y="3962400"/>
            <a:ext cx="11042650" cy="3489809"/>
          </a:xfrm>
          <a:prstGeom prst="rect">
            <a:avLst/>
          </a:prstGeom>
        </p:spPr>
      </p:pic>
      <p:pic>
        <p:nvPicPr>
          <p:cNvPr id="48" name="Picture 15">
            <a:extLst>
              <a:ext uri="{FF2B5EF4-FFF2-40B4-BE49-F238E27FC236}">
                <a16:creationId xmlns:a16="http://schemas.microsoft.com/office/drawing/2014/main" id="{F6252047-1F0F-EC38-EACB-D2108F7EF5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22188" y="3962400"/>
            <a:ext cx="11042650" cy="3847276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200" y="3012441"/>
            <a:ext cx="749300" cy="7239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219200" y="3114041"/>
            <a:ext cx="469900" cy="5334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en" sz="297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1</a:t>
            </a:r>
          </a:p>
        </p:txBody>
      </p:sp>
      <p:pic>
        <p:nvPicPr>
          <p:cNvPr id="51" name="Picture 15">
            <a:extLst>
              <a:ext uri="{FF2B5EF4-FFF2-40B4-BE49-F238E27FC236}">
                <a16:creationId xmlns:a16="http://schemas.microsoft.com/office/drawing/2014/main" id="{4BD3C564-5C39-0AB1-F989-A4CB02F61A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886" y="9144000"/>
            <a:ext cx="11042650" cy="3847276"/>
          </a:xfrm>
          <a:prstGeom prst="rect">
            <a:avLst/>
          </a:prstGeom>
        </p:spPr>
      </p:pic>
      <p:pic>
        <p:nvPicPr>
          <p:cNvPr id="52" name="Picture 15">
            <a:extLst>
              <a:ext uri="{FF2B5EF4-FFF2-40B4-BE49-F238E27FC236}">
                <a16:creationId xmlns:a16="http://schemas.microsoft.com/office/drawing/2014/main" id="{F7055679-69FA-AF32-D5E1-F3F9F7B149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3911" y="9144000"/>
            <a:ext cx="11042650" cy="2843266"/>
          </a:xfrm>
          <a:prstGeom prst="rect">
            <a:avLst/>
          </a:prstGeom>
        </p:spPr>
      </p:pic>
      <p:pic>
        <p:nvPicPr>
          <p:cNvPr id="53" name="Picture 18">
            <a:extLst>
              <a:ext uri="{FF2B5EF4-FFF2-40B4-BE49-F238E27FC236}">
                <a16:creationId xmlns:a16="http://schemas.microsoft.com/office/drawing/2014/main" id="{4C1DF3F2-1ED2-0E2E-B3F7-7CCC5DC92F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85700" y="3012441"/>
            <a:ext cx="749300" cy="723900"/>
          </a:xfrm>
          <a:prstGeom prst="rect">
            <a:avLst/>
          </a:prstGeom>
        </p:spPr>
      </p:pic>
      <p:sp>
        <p:nvSpPr>
          <p:cNvPr id="54" name="TextBox 19">
            <a:extLst>
              <a:ext uri="{FF2B5EF4-FFF2-40B4-BE49-F238E27FC236}">
                <a16:creationId xmlns:a16="http://schemas.microsoft.com/office/drawing/2014/main" id="{E6FA9DC7-0505-6A52-9E67-0D9B31972F09}"/>
              </a:ext>
            </a:extLst>
          </p:cNvPr>
          <p:cNvSpPr txBox="1"/>
          <p:nvPr/>
        </p:nvSpPr>
        <p:spPr>
          <a:xfrm>
            <a:off x="12712700" y="3114041"/>
            <a:ext cx="469900" cy="5334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en" sz="2970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2</a:t>
            </a:r>
            <a:endParaRPr lang="en" sz="2970" b="0" i="0" u="none" strike="noStrike" dirty="0">
              <a:solidFill>
                <a:srgbClr val="464749"/>
              </a:solidFill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pic>
        <p:nvPicPr>
          <p:cNvPr id="55" name="Picture 18">
            <a:extLst>
              <a:ext uri="{FF2B5EF4-FFF2-40B4-BE49-F238E27FC236}">
                <a16:creationId xmlns:a16="http://schemas.microsoft.com/office/drawing/2014/main" id="{B2838577-9FDE-7437-5ACE-EF11F4E66F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61900" y="8153400"/>
            <a:ext cx="749300" cy="723900"/>
          </a:xfrm>
          <a:prstGeom prst="rect">
            <a:avLst/>
          </a:prstGeom>
        </p:spPr>
      </p:pic>
      <p:sp>
        <p:nvSpPr>
          <p:cNvPr id="56" name="TextBox 19">
            <a:extLst>
              <a:ext uri="{FF2B5EF4-FFF2-40B4-BE49-F238E27FC236}">
                <a16:creationId xmlns:a16="http://schemas.microsoft.com/office/drawing/2014/main" id="{C70E8183-3960-3AD0-785F-7B269E7E938A}"/>
              </a:ext>
            </a:extLst>
          </p:cNvPr>
          <p:cNvSpPr txBox="1"/>
          <p:nvPr/>
        </p:nvSpPr>
        <p:spPr>
          <a:xfrm>
            <a:off x="12788900" y="8255000"/>
            <a:ext cx="469900" cy="5334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en" sz="297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4</a:t>
            </a:r>
          </a:p>
        </p:txBody>
      </p:sp>
      <p:pic>
        <p:nvPicPr>
          <p:cNvPr id="57" name="Picture 18">
            <a:extLst>
              <a:ext uri="{FF2B5EF4-FFF2-40B4-BE49-F238E27FC236}">
                <a16:creationId xmlns:a16="http://schemas.microsoft.com/office/drawing/2014/main" id="{74D0E1D4-F97E-5250-4E58-D5F2DAB87E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8153400"/>
            <a:ext cx="749300" cy="723900"/>
          </a:xfrm>
          <a:prstGeom prst="rect">
            <a:avLst/>
          </a:prstGeom>
        </p:spPr>
      </p:pic>
      <p:sp>
        <p:nvSpPr>
          <p:cNvPr id="58" name="TextBox 19">
            <a:extLst>
              <a:ext uri="{FF2B5EF4-FFF2-40B4-BE49-F238E27FC236}">
                <a16:creationId xmlns:a16="http://schemas.microsoft.com/office/drawing/2014/main" id="{205A1BF0-0B9C-A7BD-2FFB-C6CC1B793E85}"/>
              </a:ext>
            </a:extLst>
          </p:cNvPr>
          <p:cNvSpPr txBox="1"/>
          <p:nvPr/>
        </p:nvSpPr>
        <p:spPr>
          <a:xfrm>
            <a:off x="1270000" y="8255000"/>
            <a:ext cx="469900" cy="5334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en" sz="2970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3</a:t>
            </a:r>
            <a:endParaRPr lang="en" sz="2970" b="0" i="0" u="none" strike="noStrike" dirty="0">
              <a:solidFill>
                <a:srgbClr val="464749"/>
              </a:solidFill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AEFB38B-70A8-B781-C383-AE753C2AEE86}"/>
              </a:ext>
            </a:extLst>
          </p:cNvPr>
          <p:cNvSpPr txBox="1"/>
          <p:nvPr/>
        </p:nvSpPr>
        <p:spPr>
          <a:xfrm>
            <a:off x="1968500" y="3012441"/>
            <a:ext cx="2146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 err="1">
                <a:solidFill>
                  <a:srgbClr val="3E923A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풋살</a:t>
            </a:r>
            <a:r>
              <a:rPr lang="ko-KR" altLang="en-US" sz="4000" dirty="0">
                <a:solidFill>
                  <a:srgbClr val="3E923A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 매칭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B1E776D-19AF-5A59-1D45-B807FF328312}"/>
              </a:ext>
            </a:extLst>
          </p:cNvPr>
          <p:cNvSpPr txBox="1"/>
          <p:nvPr/>
        </p:nvSpPr>
        <p:spPr>
          <a:xfrm>
            <a:off x="13462000" y="3051953"/>
            <a:ext cx="25700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3E923A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실시간 채팅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5218853-C8E0-8CBA-FC82-F0137570DC67}"/>
              </a:ext>
            </a:extLst>
          </p:cNvPr>
          <p:cNvSpPr txBox="1"/>
          <p:nvPr/>
        </p:nvSpPr>
        <p:spPr>
          <a:xfrm>
            <a:off x="1967889" y="8169414"/>
            <a:ext cx="2019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solidFill>
                  <a:srgbClr val="3E923A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커뮤니티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9925CF9-8F0D-B168-935E-0AF52655192C}"/>
              </a:ext>
            </a:extLst>
          </p:cNvPr>
          <p:cNvSpPr txBox="1"/>
          <p:nvPr/>
        </p:nvSpPr>
        <p:spPr>
          <a:xfrm>
            <a:off x="13411200" y="8169414"/>
            <a:ext cx="2255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>
                <a:solidFill>
                  <a:srgbClr val="3E923A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일정 관리</a:t>
            </a:r>
            <a:endParaRPr lang="ko-KR" altLang="en-US" sz="4000" dirty="0">
              <a:solidFill>
                <a:srgbClr val="3E923A"/>
              </a:solidFill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4927C6AD-B207-D491-2A58-CDF89E1B87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436545"/>
              </p:ext>
            </p:extLst>
          </p:nvPr>
        </p:nvGraphicFramePr>
        <p:xfrm>
          <a:off x="1110957" y="9257166"/>
          <a:ext cx="10654323" cy="3590154"/>
        </p:xfrm>
        <a:graphic>
          <a:graphicData uri="http://schemas.openxmlformats.org/drawingml/2006/table">
            <a:tbl>
              <a:tblPr/>
              <a:tblGrid>
                <a:gridCol w="1653891">
                  <a:extLst>
                    <a:ext uri="{9D8B030D-6E8A-4147-A177-3AD203B41FA5}">
                      <a16:colId xmlns:a16="http://schemas.microsoft.com/office/drawing/2014/main" val="2100682658"/>
                    </a:ext>
                  </a:extLst>
                </a:gridCol>
                <a:gridCol w="6953120">
                  <a:extLst>
                    <a:ext uri="{9D8B030D-6E8A-4147-A177-3AD203B41FA5}">
                      <a16:colId xmlns:a16="http://schemas.microsoft.com/office/drawing/2014/main" val="1324234857"/>
                    </a:ext>
                  </a:extLst>
                </a:gridCol>
                <a:gridCol w="2047312">
                  <a:extLst>
                    <a:ext uri="{9D8B030D-6E8A-4147-A177-3AD203B41FA5}">
                      <a16:colId xmlns:a16="http://schemas.microsoft.com/office/drawing/2014/main" val="3870160361"/>
                    </a:ext>
                  </a:extLst>
                </a:gridCol>
              </a:tblGrid>
              <a:tr h="598359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/community/posts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게시글 작성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009179"/>
                  </a:ext>
                </a:extLst>
              </a:tr>
              <a:tr h="598359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PUT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/community/posts/{</a:t>
                      </a:r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postId</a:t>
                      </a:r>
                      <a:r>
                        <a:rPr 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}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게시글 수정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793002"/>
                  </a:ext>
                </a:extLst>
              </a:tr>
              <a:tr h="598359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DELETE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/community/posts/{</a:t>
                      </a:r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postId</a:t>
                      </a:r>
                      <a:r>
                        <a:rPr 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}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게시글 삭제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57798"/>
                  </a:ext>
                </a:extLst>
              </a:tr>
              <a:tr h="598359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/community/posts/{</a:t>
                      </a:r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postId</a:t>
                      </a:r>
                      <a:r>
                        <a:rPr 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}/comments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댓글 등록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310996"/>
                  </a:ext>
                </a:extLst>
              </a:tr>
              <a:tr h="598359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PUT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/community/comments/{</a:t>
                      </a:r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commentId</a:t>
                      </a:r>
                      <a:r>
                        <a:rPr 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}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댓글 수정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345497"/>
                  </a:ext>
                </a:extLst>
              </a:tr>
              <a:tr h="598359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DELETE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/community/comments/{</a:t>
                      </a:r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commentId</a:t>
                      </a:r>
                      <a:r>
                        <a:rPr 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}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댓글 삭제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5644781"/>
                  </a:ext>
                </a:extLst>
              </a:tr>
            </a:tbl>
          </a:graphicData>
        </a:graphic>
      </p:graphicFrame>
      <p:graphicFrame>
        <p:nvGraphicFramePr>
          <p:cNvPr id="64" name="표 63">
            <a:extLst>
              <a:ext uri="{FF2B5EF4-FFF2-40B4-BE49-F238E27FC236}">
                <a16:creationId xmlns:a16="http://schemas.microsoft.com/office/drawing/2014/main" id="{B7C7CE9E-166B-992A-0D85-9E97E8E46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861964"/>
              </p:ext>
            </p:extLst>
          </p:nvPr>
        </p:nvGraphicFramePr>
        <p:xfrm>
          <a:off x="12614564" y="9262588"/>
          <a:ext cx="10654323" cy="2557077"/>
        </p:xfrm>
        <a:graphic>
          <a:graphicData uri="http://schemas.openxmlformats.org/drawingml/2006/table">
            <a:tbl>
              <a:tblPr/>
              <a:tblGrid>
                <a:gridCol w="1653891">
                  <a:extLst>
                    <a:ext uri="{9D8B030D-6E8A-4147-A177-3AD203B41FA5}">
                      <a16:colId xmlns:a16="http://schemas.microsoft.com/office/drawing/2014/main" val="2100682658"/>
                    </a:ext>
                  </a:extLst>
                </a:gridCol>
                <a:gridCol w="5848345">
                  <a:extLst>
                    <a:ext uri="{9D8B030D-6E8A-4147-A177-3AD203B41FA5}">
                      <a16:colId xmlns:a16="http://schemas.microsoft.com/office/drawing/2014/main" val="1324234857"/>
                    </a:ext>
                  </a:extLst>
                </a:gridCol>
                <a:gridCol w="3152087">
                  <a:extLst>
                    <a:ext uri="{9D8B030D-6E8A-4147-A177-3AD203B41FA5}">
                      <a16:colId xmlns:a16="http://schemas.microsoft.com/office/drawing/2014/main" val="3870160361"/>
                    </a:ext>
                  </a:extLst>
                </a:gridCol>
              </a:tblGrid>
              <a:tr h="598359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/schedule/personal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개인 일정 추가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009179"/>
                  </a:ext>
                </a:extLst>
              </a:tr>
              <a:tr h="598359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PUT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/schedule/personal/{</a:t>
                      </a:r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scheduleId</a:t>
                      </a:r>
                      <a:r>
                        <a:rPr 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}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개인 일정 수정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793002"/>
                  </a:ext>
                </a:extLst>
              </a:tr>
              <a:tr h="598359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DELETE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/schedule/personal/{</a:t>
                      </a:r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scheduleId</a:t>
                      </a:r>
                      <a:r>
                        <a:rPr 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}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개인 일정 삭제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57798"/>
                  </a:ext>
                </a:extLst>
              </a:tr>
              <a:tr h="598359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/schedule/</a:t>
                      </a:r>
                      <a:r>
                        <a:rPr lang="en-US" sz="2400" dirty="0" err="1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month?year</a:t>
                      </a:r>
                      <a:r>
                        <a:rPr 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=&amp;month=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특정 달 개인</a:t>
                      </a:r>
                      <a:r>
                        <a:rPr lang="en-US" altLang="ko-KR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+</a:t>
                      </a:r>
                      <a:r>
                        <a:rPr lang="ko-KR" altLang="en-US" sz="2400" dirty="0"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경기 일정 조회</a:t>
                      </a:r>
                    </a:p>
                  </a:txBody>
                  <a:tcPr marL="22860" marR="22860" marT="15240" marB="15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310996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3416A4D-E252-5CDD-9BF9-718CC4BB8E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543431"/>
              </p:ext>
            </p:extLst>
          </p:nvPr>
        </p:nvGraphicFramePr>
        <p:xfrm>
          <a:off x="1092200" y="4103419"/>
          <a:ext cx="10654323" cy="3273357"/>
        </p:xfrm>
        <a:graphic>
          <a:graphicData uri="http://schemas.openxmlformats.org/drawingml/2006/table">
            <a:tbl>
              <a:tblPr/>
              <a:tblGrid>
                <a:gridCol w="1653891">
                  <a:extLst>
                    <a:ext uri="{9D8B030D-6E8A-4147-A177-3AD203B41FA5}">
                      <a16:colId xmlns:a16="http://schemas.microsoft.com/office/drawing/2014/main" val="2100682658"/>
                    </a:ext>
                  </a:extLst>
                </a:gridCol>
                <a:gridCol w="6953120">
                  <a:extLst>
                    <a:ext uri="{9D8B030D-6E8A-4147-A177-3AD203B41FA5}">
                      <a16:colId xmlns:a16="http://schemas.microsoft.com/office/drawing/2014/main" val="1324234857"/>
                    </a:ext>
                  </a:extLst>
                </a:gridCol>
                <a:gridCol w="2047312">
                  <a:extLst>
                    <a:ext uri="{9D8B030D-6E8A-4147-A177-3AD203B41FA5}">
                      <a16:colId xmlns:a16="http://schemas.microsoft.com/office/drawing/2014/main" val="3870160361"/>
                    </a:ext>
                  </a:extLst>
                </a:gridCol>
              </a:tblGrid>
              <a:tr h="5983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matchrooms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나눔휴먼OTF Regular" panose="020B0600000101010101" pitchFamily="34" charset="-127"/>
                        <a:ea typeface="나눔휴먼OTF Regular" panose="020B0600000101010101" pitchFamily="34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경기 생성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009179"/>
                  </a:ext>
                </a:extLst>
              </a:tr>
              <a:tr h="5983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matchrooms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/stadium/{</a:t>
                      </a:r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stadiumId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}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구장별 경기 목록 조회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793002"/>
                  </a:ext>
                </a:extLst>
              </a:tr>
              <a:tr h="5983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matchrooms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/{</a:t>
                      </a:r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roomId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}/join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경기 참가 신청</a:t>
                      </a:r>
                      <a:r>
                        <a:rPr lang="en-US" altLang="ko-KR" sz="2400" b="0" i="0" u="none" strike="noStrike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ko-KR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등록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57798"/>
                  </a:ext>
                </a:extLst>
              </a:tr>
              <a:tr h="5983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matchrooms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/{</a:t>
                      </a:r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roomId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}/cancel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참가 취소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310996"/>
                  </a:ext>
                </a:extLst>
              </a:tr>
              <a:tr h="5983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api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</a:t>
                      </a:r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matchrooms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/{</a:t>
                      </a:r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roomId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}/approve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참가 승인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345497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7BF48A1-06D6-90AA-9E09-45745FD64D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2171"/>
              </p:ext>
            </p:extLst>
          </p:nvPr>
        </p:nvGraphicFramePr>
        <p:xfrm>
          <a:off x="12585700" y="4090961"/>
          <a:ext cx="10654323" cy="3590154"/>
        </p:xfrm>
        <a:graphic>
          <a:graphicData uri="http://schemas.openxmlformats.org/drawingml/2006/table">
            <a:tbl>
              <a:tblPr/>
              <a:tblGrid>
                <a:gridCol w="1653891">
                  <a:extLst>
                    <a:ext uri="{9D8B030D-6E8A-4147-A177-3AD203B41FA5}">
                      <a16:colId xmlns:a16="http://schemas.microsoft.com/office/drawing/2014/main" val="2100682658"/>
                    </a:ext>
                  </a:extLst>
                </a:gridCol>
                <a:gridCol w="6258209">
                  <a:extLst>
                    <a:ext uri="{9D8B030D-6E8A-4147-A177-3AD203B41FA5}">
                      <a16:colId xmlns:a16="http://schemas.microsoft.com/office/drawing/2014/main" val="1324234857"/>
                    </a:ext>
                  </a:extLst>
                </a:gridCol>
                <a:gridCol w="2742223">
                  <a:extLst>
                    <a:ext uri="{9D8B030D-6E8A-4147-A177-3AD203B41FA5}">
                      <a16:colId xmlns:a16="http://schemas.microsoft.com/office/drawing/2014/main" val="3870160361"/>
                    </a:ext>
                  </a:extLst>
                </a:gridCol>
              </a:tblGrid>
              <a:tr h="5983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/chatroom/group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그룹채팅방 생성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009179"/>
                  </a:ext>
                </a:extLst>
              </a:tr>
              <a:tr h="5983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/chatroom/onetoone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1</a:t>
                      </a:r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대</a:t>
                      </a:r>
                      <a:r>
                        <a:rPr lang="en-US" altLang="ko-K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1 </a:t>
                      </a:r>
                      <a:r>
                        <a:rPr lang="ko-KR" alt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채팅방</a:t>
                      </a:r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생성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793002"/>
                  </a:ext>
                </a:extLst>
              </a:tr>
              <a:tr h="5983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MESSAGE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/chatroom/{roomId}/send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채팅 전송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57798"/>
                  </a:ext>
                </a:extLst>
              </a:tr>
              <a:tr h="5983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POST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/chatroom/{id}/invite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채팅방에 사용자 초대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310996"/>
                  </a:ext>
                </a:extLst>
              </a:tr>
              <a:tr h="5983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DELETE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/chatroom/{id}/leave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채팅방</a:t>
                      </a:r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 떠나기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345497"/>
                  </a:ext>
                </a:extLst>
              </a:tr>
              <a:tr h="5983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GET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/api/notifications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휴먼OTF Regular" panose="020B0600000101010101" pitchFamily="34" charset="-127"/>
                          <a:ea typeface="나눔휴먼OTF Regular" panose="020B0600000101010101" pitchFamily="34" charset="-127"/>
                        </a:rPr>
                        <a:t>사용자의 알림 조회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56447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3" name="TextBox 3"/>
          <p:cNvSpPr txBox="1"/>
          <p:nvPr/>
        </p:nvSpPr>
        <p:spPr>
          <a:xfrm>
            <a:off x="0" y="5067300"/>
            <a:ext cx="17322800" cy="2171700"/>
          </a:xfrm>
          <a:prstGeom prst="rect">
            <a:avLst/>
          </a:prstGeom>
        </p:spPr>
        <p:txBody>
          <a:bodyPr lIns="0" tIns="544464" rIns="0" bIns="0" rtlCol="0" anchor="t"/>
          <a:lstStyle/>
          <a:p>
            <a:pPr lvl="0" algn="ctr">
              <a:lnSpc>
                <a:spcPct val="83000"/>
              </a:lnSpc>
            </a:pPr>
            <a:r>
              <a:rPr lang="en" sz="10000" spc="-214" dirty="0">
                <a:solidFill>
                  <a:srgbClr val="464749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Part</a:t>
            </a:r>
            <a:r>
              <a:rPr lang="en" sz="10000" b="0" i="0" u="none" strike="noStrike" spc="-214" dirty="0">
                <a:solidFill>
                  <a:srgbClr val="464749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 3.  </a:t>
            </a:r>
            <a:r>
              <a:rPr lang="ko-KR" altLang="en-US" sz="13000" b="0" i="0" u="none" strike="noStrike" spc="-214" dirty="0">
                <a:solidFill>
                  <a:srgbClr val="3E923A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</a:t>
            </a:r>
            <a:r>
              <a:rPr lang="ko-KR" altLang="en-US" sz="13000" spc="-214" dirty="0">
                <a:solidFill>
                  <a:srgbClr val="3E923A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시연</a:t>
            </a:r>
            <a:endParaRPr lang="en" sz="13000" b="0" i="0" u="none" strike="noStrike" spc="-214" dirty="0">
              <a:solidFill>
                <a:srgbClr val="3E923A"/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dirty="0">
                <a:solidFill>
                  <a:srgbClr val="464749"/>
                </a:solidFill>
                <a:latin typeface="Poppins Regular"/>
              </a:rPr>
              <a:t>34</a:t>
            </a:r>
            <a:endParaRPr lang="en" sz="2592" b="0" i="0" u="none" strike="noStrike" dirty="0">
              <a:solidFill>
                <a:srgbClr val="464749"/>
              </a:solidFill>
              <a:latin typeface="Poppins Regular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11BAE27-1FEF-DF13-F80A-DADB20C04CC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70000" contrast="-70000"/>
            <a:alphaModFix amt="35000"/>
          </a:blip>
          <a:stretch>
            <a:fillRect/>
          </a:stretch>
        </p:blipFill>
        <p:spPr>
          <a:xfrm>
            <a:off x="17301210" y="6517005"/>
            <a:ext cx="8686800" cy="8686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28FE46F8-4D93-671C-09EB-1E0D9A15D8B3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1C3B5EC4-C275-5E79-B7B1-F1F1F0C79495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21" name="TextBox 5">
                <a:extLst>
                  <a:ext uri="{FF2B5EF4-FFF2-40B4-BE49-F238E27FC236}">
                    <a16:creationId xmlns:a16="http://schemas.microsoft.com/office/drawing/2014/main" id="{A0799DAA-C5F3-175D-43A7-0ED0BFD1C22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22" name="그림 21">
                <a:extLst>
                  <a:ext uri="{FF2B5EF4-FFF2-40B4-BE49-F238E27FC236}">
                    <a16:creationId xmlns:a16="http://schemas.microsoft.com/office/drawing/2014/main" id="{65BA08E3-F6F9-A169-E315-0E8D801462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20" name="Picture 5">
              <a:extLst>
                <a:ext uri="{FF2B5EF4-FFF2-40B4-BE49-F238E27FC236}">
                  <a16:creationId xmlns:a16="http://schemas.microsoft.com/office/drawing/2014/main" id="{3E61F457-11F5-D7B2-76A8-E6CD4C9FC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23" name="Picture 5">
            <a:extLst>
              <a:ext uri="{FF2B5EF4-FFF2-40B4-BE49-F238E27FC236}">
                <a16:creationId xmlns:a16="http://schemas.microsoft.com/office/drawing/2014/main" id="{4559A545-1CCC-AF85-8E04-D1462A5585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030200"/>
            <a:ext cx="23040000" cy="2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6025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29" name="TextBox 16">
            <a:extLst>
              <a:ext uri="{FF2B5EF4-FFF2-40B4-BE49-F238E27FC236}">
                <a16:creationId xmlns:a16="http://schemas.microsoft.com/office/drawing/2014/main" id="{34FF058A-38ED-74ED-D67F-8388871A6DC9}"/>
              </a:ext>
            </a:extLst>
          </p:cNvPr>
          <p:cNvSpPr txBox="1"/>
          <p:nvPr/>
        </p:nvSpPr>
        <p:spPr>
          <a:xfrm>
            <a:off x="914402" y="942101"/>
            <a:ext cx="58673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시연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36" name="Picture 5">
            <a:extLst>
              <a:ext uri="{FF2B5EF4-FFF2-40B4-BE49-F238E27FC236}">
                <a16:creationId xmlns:a16="http://schemas.microsoft.com/office/drawing/2014/main" id="{40E41A3A-BE2B-19E1-1D6B-4B3A82D8E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sp>
        <p:nvSpPr>
          <p:cNvPr id="26" name="TextBox 22">
            <a:extLst>
              <a:ext uri="{FF2B5EF4-FFF2-40B4-BE49-F238E27FC236}">
                <a16:creationId xmlns:a16="http://schemas.microsoft.com/office/drawing/2014/main" id="{4A410FDF-8C58-C4A1-ED03-575FAD0DB72E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b="0" i="0" u="none" strike="noStrike" dirty="0">
                <a:solidFill>
                  <a:srgbClr val="787878"/>
                </a:solidFill>
                <a:latin typeface="Poppins Regular"/>
              </a:rPr>
              <a:t>35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27D643B-98A0-B0E2-00BE-F18AEA1D3C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7463" y="2544227"/>
            <a:ext cx="19269075" cy="1033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7977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16">
            <a:extLst>
              <a:ext uri="{FF2B5EF4-FFF2-40B4-BE49-F238E27FC236}">
                <a16:creationId xmlns:a16="http://schemas.microsoft.com/office/drawing/2014/main" id="{34FF058A-38ED-74ED-D67F-8388871A6DC9}"/>
              </a:ext>
            </a:extLst>
          </p:cNvPr>
          <p:cNvSpPr txBox="1"/>
          <p:nvPr/>
        </p:nvSpPr>
        <p:spPr>
          <a:xfrm>
            <a:off x="914402" y="942101"/>
            <a:ext cx="99821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시연 </a:t>
            </a:r>
            <a:r>
              <a:rPr lang="ko-KR" altLang="en-US" sz="4000" b="1" spc="-156" dirty="0" err="1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메인페이지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 </a:t>
            </a:r>
            <a:r>
              <a:rPr lang="en-US" altLang="ko-KR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/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로그인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sp>
        <p:nvSpPr>
          <p:cNvPr id="2" name="TextBox 22">
            <a:extLst>
              <a:ext uri="{FF2B5EF4-FFF2-40B4-BE49-F238E27FC236}">
                <a16:creationId xmlns:a16="http://schemas.microsoft.com/office/drawing/2014/main" id="{00B4557B-6AE1-20D9-8BCB-27E1C14190F3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dirty="0">
                <a:solidFill>
                  <a:srgbClr val="787878"/>
                </a:solidFill>
                <a:latin typeface="Poppins Regular"/>
              </a:rPr>
              <a:t>36</a:t>
            </a:r>
            <a:endParaRPr lang="en" sz="2592" b="0" i="0" u="none" strike="noStrike" dirty="0">
              <a:solidFill>
                <a:srgbClr val="787878"/>
              </a:solidFill>
              <a:latin typeface="Poppins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5122530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16">
            <a:extLst>
              <a:ext uri="{FF2B5EF4-FFF2-40B4-BE49-F238E27FC236}">
                <a16:creationId xmlns:a16="http://schemas.microsoft.com/office/drawing/2014/main" id="{34FF058A-38ED-74ED-D67F-8388871A6DC9}"/>
              </a:ext>
            </a:extLst>
          </p:cNvPr>
          <p:cNvSpPr txBox="1"/>
          <p:nvPr/>
        </p:nvSpPr>
        <p:spPr>
          <a:xfrm>
            <a:off x="914402" y="942101"/>
            <a:ext cx="82295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시연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마이페이지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BD611DD4-A9B5-664F-D763-882CD7C83457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b="0" i="0" u="none" strike="noStrike" dirty="0">
                <a:solidFill>
                  <a:srgbClr val="787878"/>
                </a:solidFill>
                <a:latin typeface="Poppins Regular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22158131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16">
            <a:extLst>
              <a:ext uri="{FF2B5EF4-FFF2-40B4-BE49-F238E27FC236}">
                <a16:creationId xmlns:a16="http://schemas.microsoft.com/office/drawing/2014/main" id="{34FF058A-38ED-74ED-D67F-8388871A6DC9}"/>
              </a:ext>
            </a:extLst>
          </p:cNvPr>
          <p:cNvSpPr txBox="1"/>
          <p:nvPr/>
        </p:nvSpPr>
        <p:spPr>
          <a:xfrm>
            <a:off x="914402" y="942101"/>
            <a:ext cx="68579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시연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구장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C5290BD9-8B30-79B4-66B6-B61FD6F4371D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b="0" i="0" u="none" strike="noStrike" dirty="0">
                <a:solidFill>
                  <a:srgbClr val="787878"/>
                </a:solidFill>
                <a:latin typeface="Poppins Regular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34243561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16">
            <a:extLst>
              <a:ext uri="{FF2B5EF4-FFF2-40B4-BE49-F238E27FC236}">
                <a16:creationId xmlns:a16="http://schemas.microsoft.com/office/drawing/2014/main" id="{34FF058A-38ED-74ED-D67F-8388871A6DC9}"/>
              </a:ext>
            </a:extLst>
          </p:cNvPr>
          <p:cNvSpPr txBox="1"/>
          <p:nvPr/>
        </p:nvSpPr>
        <p:spPr>
          <a:xfrm>
            <a:off x="914402" y="942101"/>
            <a:ext cx="79247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</a:t>
            </a:r>
            <a:r>
              <a:rPr lang="ko-KR" altLang="en-US" sz="8000" b="1" spc="-156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시연 </a:t>
            </a:r>
            <a:r>
              <a:rPr lang="ko-KR" altLang="en-US" sz="4000" b="1" spc="-156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커뮤니티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5E0AFE2A-7152-7DCB-5DF2-93B794A148C3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b="0" i="0" u="none" strike="noStrike" dirty="0">
                <a:solidFill>
                  <a:srgbClr val="787878"/>
                </a:solidFill>
                <a:latin typeface="Poppins Regular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31711226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16">
            <a:extLst>
              <a:ext uri="{FF2B5EF4-FFF2-40B4-BE49-F238E27FC236}">
                <a16:creationId xmlns:a16="http://schemas.microsoft.com/office/drawing/2014/main" id="{34FF058A-38ED-74ED-D67F-8388871A6DC9}"/>
              </a:ext>
            </a:extLst>
          </p:cNvPr>
          <p:cNvSpPr txBox="1"/>
          <p:nvPr/>
        </p:nvSpPr>
        <p:spPr>
          <a:xfrm>
            <a:off x="914402" y="942101"/>
            <a:ext cx="69341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시연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채팅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1CEB6086-396C-CB6A-3B21-82DD7FA74478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dirty="0">
                <a:solidFill>
                  <a:srgbClr val="787878"/>
                </a:solidFill>
                <a:latin typeface="Poppins Regular"/>
              </a:rPr>
              <a:t>40</a:t>
            </a:r>
            <a:endParaRPr lang="en" sz="2592" b="0" i="0" u="none" strike="noStrike" dirty="0">
              <a:solidFill>
                <a:srgbClr val="787878"/>
              </a:solidFill>
              <a:latin typeface="Poppins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8319822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6">
            <a:extLst>
              <a:ext uri="{FF2B5EF4-FFF2-40B4-BE49-F238E27FC236}">
                <a16:creationId xmlns:a16="http://schemas.microsoft.com/office/drawing/2014/main" id="{D00E95A1-084E-A9CA-544C-2D0DE488FE1F}"/>
              </a:ext>
            </a:extLst>
          </p:cNvPr>
          <p:cNvSpPr txBox="1"/>
          <p:nvPr/>
        </p:nvSpPr>
        <p:spPr>
          <a:xfrm>
            <a:off x="914402" y="942101"/>
            <a:ext cx="69341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시연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알림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379E26ED-D805-5450-2DB4-AF98AEBF68D9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dirty="0">
                <a:solidFill>
                  <a:srgbClr val="787878"/>
                </a:solidFill>
                <a:latin typeface="Poppins Regular"/>
              </a:rPr>
              <a:t>41</a:t>
            </a:r>
            <a:endParaRPr lang="en" sz="2592" b="0" i="0" u="none" strike="noStrike" dirty="0">
              <a:solidFill>
                <a:srgbClr val="787878"/>
              </a:solidFill>
              <a:latin typeface="Poppins Regular"/>
            </a:endParaRPr>
          </a:p>
        </p:txBody>
      </p:sp>
    </p:spTree>
    <p:extLst>
      <p:ext uri="{BB962C8B-B14F-4D97-AF65-F5344CB8AC3E}">
        <p14:creationId xmlns:p14="http://schemas.microsoft.com/office/powerpoint/2010/main" val="7149994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3" name="TextBox 3"/>
          <p:cNvSpPr txBox="1"/>
          <p:nvPr/>
        </p:nvSpPr>
        <p:spPr>
          <a:xfrm>
            <a:off x="0" y="5067300"/>
            <a:ext cx="17322800" cy="2171700"/>
          </a:xfrm>
          <a:prstGeom prst="rect">
            <a:avLst/>
          </a:prstGeom>
        </p:spPr>
        <p:txBody>
          <a:bodyPr lIns="0" tIns="544464" rIns="0" bIns="0" rtlCol="0" anchor="t"/>
          <a:lstStyle/>
          <a:p>
            <a:pPr lvl="0" algn="ctr">
              <a:lnSpc>
                <a:spcPct val="83000"/>
              </a:lnSpc>
            </a:pPr>
            <a:r>
              <a:rPr lang="en" sz="10000" spc="-214" dirty="0">
                <a:solidFill>
                  <a:srgbClr val="464749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Part</a:t>
            </a:r>
            <a:r>
              <a:rPr lang="en" sz="10000" b="0" i="0" u="none" strike="noStrike" spc="-214" dirty="0">
                <a:solidFill>
                  <a:srgbClr val="464749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 4.  </a:t>
            </a:r>
            <a:r>
              <a:rPr lang="ko-KR" altLang="en-US" sz="13000" b="0" i="0" u="none" strike="noStrike" spc="-214" dirty="0">
                <a:solidFill>
                  <a:srgbClr val="3E923A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개발</a:t>
            </a:r>
            <a:endParaRPr lang="en" sz="13000" b="0" i="0" u="none" strike="noStrike" spc="-214" dirty="0">
              <a:solidFill>
                <a:srgbClr val="3E923A"/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b="0" i="0" u="none" strike="noStrike" dirty="0">
                <a:solidFill>
                  <a:srgbClr val="464749"/>
                </a:solidFill>
                <a:latin typeface="Poppins Regular"/>
              </a:rPr>
              <a:t>42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11BAE27-1FEF-DF13-F80A-DADB20C04CC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70000" contrast="-70000"/>
            <a:alphaModFix amt="35000"/>
          </a:blip>
          <a:stretch>
            <a:fillRect/>
          </a:stretch>
        </p:blipFill>
        <p:spPr>
          <a:xfrm>
            <a:off x="17301210" y="6517005"/>
            <a:ext cx="8686800" cy="8686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28FE46F8-4D93-671C-09EB-1E0D9A15D8B3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1C3B5EC4-C275-5E79-B7B1-F1F1F0C79495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21" name="TextBox 5">
                <a:extLst>
                  <a:ext uri="{FF2B5EF4-FFF2-40B4-BE49-F238E27FC236}">
                    <a16:creationId xmlns:a16="http://schemas.microsoft.com/office/drawing/2014/main" id="{A0799DAA-C5F3-175D-43A7-0ED0BFD1C22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22" name="그림 21">
                <a:extLst>
                  <a:ext uri="{FF2B5EF4-FFF2-40B4-BE49-F238E27FC236}">
                    <a16:creationId xmlns:a16="http://schemas.microsoft.com/office/drawing/2014/main" id="{65BA08E3-F6F9-A169-E315-0E8D801462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20" name="Picture 5">
              <a:extLst>
                <a:ext uri="{FF2B5EF4-FFF2-40B4-BE49-F238E27FC236}">
                  <a16:creationId xmlns:a16="http://schemas.microsoft.com/office/drawing/2014/main" id="{3E61F457-11F5-D7B2-76A8-E6CD4C9FC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23" name="Picture 5">
            <a:extLst>
              <a:ext uri="{FF2B5EF4-FFF2-40B4-BE49-F238E27FC236}">
                <a16:creationId xmlns:a16="http://schemas.microsoft.com/office/drawing/2014/main" id="{4559A545-1CCC-AF85-8E04-D1462A5585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030200"/>
            <a:ext cx="23040000" cy="26167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95BED732-E26D-1E77-00D9-58E7B0496E89}"/>
              </a:ext>
            </a:extLst>
          </p:cNvPr>
          <p:cNvSpPr txBox="1"/>
          <p:nvPr/>
        </p:nvSpPr>
        <p:spPr>
          <a:xfrm>
            <a:off x="6248400" y="7538402"/>
            <a:ext cx="5562600" cy="8890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ts val="4800"/>
              </a:lnSpc>
              <a:defRPr/>
            </a:pPr>
            <a:r>
              <a:rPr lang="ko-KR" altLang="en-US" sz="2800" b="0" i="0" u="none" strike="noStrike" dirty="0">
                <a:solidFill>
                  <a:srgbClr val="294717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개발 이슈 및 대응 방안 </a:t>
            </a:r>
            <a:r>
              <a:rPr lang="en-US" altLang="ko-KR" sz="2800" b="0" i="0" u="none" strike="noStrike" dirty="0">
                <a:solidFill>
                  <a:srgbClr val="294717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/ </a:t>
            </a:r>
            <a:r>
              <a:rPr lang="ko-KR" altLang="en-US" sz="2800" b="0" i="0" u="none" strike="noStrike" dirty="0">
                <a:solidFill>
                  <a:srgbClr val="294717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트러블 슈팅</a:t>
            </a:r>
          </a:p>
        </p:txBody>
      </p:sp>
    </p:spTree>
    <p:extLst>
      <p:ext uri="{BB962C8B-B14F-4D97-AF65-F5344CB8AC3E}">
        <p14:creationId xmlns:p14="http://schemas.microsoft.com/office/powerpoint/2010/main" val="26457957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29" name="TextBox 16">
            <a:extLst>
              <a:ext uri="{FF2B5EF4-FFF2-40B4-BE49-F238E27FC236}">
                <a16:creationId xmlns:a16="http://schemas.microsoft.com/office/drawing/2014/main" id="{34FF058A-38ED-74ED-D67F-8388871A6DC9}"/>
              </a:ext>
            </a:extLst>
          </p:cNvPr>
          <p:cNvSpPr txBox="1"/>
          <p:nvPr/>
        </p:nvSpPr>
        <p:spPr>
          <a:xfrm>
            <a:off x="914402" y="942101"/>
            <a:ext cx="86867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</a:t>
            </a:r>
            <a:r>
              <a:rPr lang="ko-KR" altLang="en-US" sz="8000" b="1" spc="-156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개발 </a:t>
            </a:r>
            <a:r>
              <a:rPr lang="ko-KR" altLang="en-US" sz="4000" b="1" spc="-156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트러블 슈팅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36" name="Picture 5">
            <a:extLst>
              <a:ext uri="{FF2B5EF4-FFF2-40B4-BE49-F238E27FC236}">
                <a16:creationId xmlns:a16="http://schemas.microsoft.com/office/drawing/2014/main" id="{40E41A3A-BE2B-19E1-1D6B-4B3A82D8E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sp>
        <p:nvSpPr>
          <p:cNvPr id="26" name="TextBox 22">
            <a:extLst>
              <a:ext uri="{FF2B5EF4-FFF2-40B4-BE49-F238E27FC236}">
                <a16:creationId xmlns:a16="http://schemas.microsoft.com/office/drawing/2014/main" id="{4A410FDF-8C58-C4A1-ED03-575FAD0DB72E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b="0" i="0" u="none" strike="noStrike" dirty="0">
                <a:solidFill>
                  <a:srgbClr val="787878"/>
                </a:solidFill>
                <a:latin typeface="Poppins Regular"/>
              </a:rPr>
              <a:t>43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AF66CCFA-9664-A329-DEEA-9A19869DC658}"/>
              </a:ext>
            </a:extLst>
          </p:cNvPr>
          <p:cNvSpPr/>
          <p:nvPr/>
        </p:nvSpPr>
        <p:spPr>
          <a:xfrm>
            <a:off x="2590800" y="7270385"/>
            <a:ext cx="19202400" cy="250165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눈물 방울 4">
            <a:extLst>
              <a:ext uri="{FF2B5EF4-FFF2-40B4-BE49-F238E27FC236}">
                <a16:creationId xmlns:a16="http://schemas.microsoft.com/office/drawing/2014/main" id="{5881FBDD-FED9-234F-EEDE-E574265D0CBD}"/>
              </a:ext>
            </a:extLst>
          </p:cNvPr>
          <p:cNvSpPr/>
          <p:nvPr/>
        </p:nvSpPr>
        <p:spPr>
          <a:xfrm>
            <a:off x="7112250" y="7042730"/>
            <a:ext cx="720000" cy="720000"/>
          </a:xfrm>
          <a:prstGeom prst="teardrop">
            <a:avLst/>
          </a:prstGeom>
          <a:solidFill>
            <a:schemeClr val="accent3"/>
          </a:solidFill>
          <a:ln w="635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눈물 방울 5">
            <a:extLst>
              <a:ext uri="{FF2B5EF4-FFF2-40B4-BE49-F238E27FC236}">
                <a16:creationId xmlns:a16="http://schemas.microsoft.com/office/drawing/2014/main" id="{5E350BED-D5EE-66FD-D262-E19098BEAFAB}"/>
              </a:ext>
            </a:extLst>
          </p:cNvPr>
          <p:cNvSpPr/>
          <p:nvPr/>
        </p:nvSpPr>
        <p:spPr>
          <a:xfrm rot="5400000">
            <a:off x="2460877" y="7042730"/>
            <a:ext cx="720000" cy="720000"/>
          </a:xfrm>
          <a:prstGeom prst="teardrop">
            <a:avLst/>
          </a:prstGeom>
          <a:solidFill>
            <a:schemeClr val="accent3"/>
          </a:solidFill>
          <a:ln w="635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눈물 방울 7">
            <a:extLst>
              <a:ext uri="{FF2B5EF4-FFF2-40B4-BE49-F238E27FC236}">
                <a16:creationId xmlns:a16="http://schemas.microsoft.com/office/drawing/2014/main" id="{9DA09B08-D4BB-E93C-2CC2-A02F37C026C4}"/>
              </a:ext>
            </a:extLst>
          </p:cNvPr>
          <p:cNvSpPr/>
          <p:nvPr/>
        </p:nvSpPr>
        <p:spPr>
          <a:xfrm rot="5400000">
            <a:off x="11763623" y="7042730"/>
            <a:ext cx="720000" cy="720000"/>
          </a:xfrm>
          <a:prstGeom prst="teardrop">
            <a:avLst/>
          </a:prstGeom>
          <a:solidFill>
            <a:schemeClr val="accent3"/>
          </a:solidFill>
          <a:ln w="635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눈물 방울 8">
            <a:extLst>
              <a:ext uri="{FF2B5EF4-FFF2-40B4-BE49-F238E27FC236}">
                <a16:creationId xmlns:a16="http://schemas.microsoft.com/office/drawing/2014/main" id="{049D1CB8-ADDD-93CE-B328-D6A46B43940D}"/>
              </a:ext>
            </a:extLst>
          </p:cNvPr>
          <p:cNvSpPr/>
          <p:nvPr/>
        </p:nvSpPr>
        <p:spPr>
          <a:xfrm rot="5400000">
            <a:off x="21066369" y="7042730"/>
            <a:ext cx="720000" cy="720000"/>
          </a:xfrm>
          <a:prstGeom prst="teardrop">
            <a:avLst/>
          </a:prstGeom>
          <a:solidFill>
            <a:schemeClr val="accent3"/>
          </a:solidFill>
          <a:ln w="635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눈물 방울 9">
            <a:extLst>
              <a:ext uri="{FF2B5EF4-FFF2-40B4-BE49-F238E27FC236}">
                <a16:creationId xmlns:a16="http://schemas.microsoft.com/office/drawing/2014/main" id="{E728AC85-FF2B-F62F-1497-14818B08E1AF}"/>
              </a:ext>
            </a:extLst>
          </p:cNvPr>
          <p:cNvSpPr/>
          <p:nvPr/>
        </p:nvSpPr>
        <p:spPr>
          <a:xfrm>
            <a:off x="16414996" y="7042730"/>
            <a:ext cx="720000" cy="720000"/>
          </a:xfrm>
          <a:prstGeom prst="teardrop">
            <a:avLst/>
          </a:prstGeom>
          <a:solidFill>
            <a:schemeClr val="accent3"/>
          </a:solidFill>
          <a:ln w="635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3780CA-4335-7A0E-C732-0CE60FD420B4}"/>
              </a:ext>
            </a:extLst>
          </p:cNvPr>
          <p:cNvSpPr txBox="1"/>
          <p:nvPr/>
        </p:nvSpPr>
        <p:spPr>
          <a:xfrm>
            <a:off x="1693004" y="6125354"/>
            <a:ext cx="22557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dirty="0">
                <a:latin typeface="나눔스퀘어 네오 variable Heavy" panose="00000500000000000000" pitchFamily="2" charset="-127"/>
                <a:ea typeface="나눔스퀘어 네오 variable Heavy" panose="00000500000000000000" pitchFamily="2" charset="-127"/>
              </a:rPr>
              <a:t>문제 확인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9C715E-45ED-AD2E-9BAB-2A8968855A38}"/>
              </a:ext>
            </a:extLst>
          </p:cNvPr>
          <p:cNvSpPr txBox="1"/>
          <p:nvPr/>
        </p:nvSpPr>
        <p:spPr>
          <a:xfrm>
            <a:off x="6344377" y="7991377"/>
            <a:ext cx="22557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dirty="0">
                <a:latin typeface="나눔스퀘어 네오 variable Heavy" panose="00000500000000000000" pitchFamily="2" charset="-127"/>
                <a:ea typeface="나눔스퀘어 네오 variable Heavy" panose="00000500000000000000" pitchFamily="2" charset="-127"/>
              </a:rPr>
              <a:t>문제 공유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E36CD6-77F5-9564-2FF8-D46843DEA704}"/>
              </a:ext>
            </a:extLst>
          </p:cNvPr>
          <p:cNvSpPr txBox="1"/>
          <p:nvPr/>
        </p:nvSpPr>
        <p:spPr>
          <a:xfrm>
            <a:off x="11064127" y="6125354"/>
            <a:ext cx="22557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dirty="0">
                <a:latin typeface="나눔스퀘어 네오 variable Heavy" panose="00000500000000000000" pitchFamily="2" charset="-127"/>
                <a:ea typeface="나눔스퀘어 네오 variable Heavy" panose="00000500000000000000" pitchFamily="2" charset="-127"/>
              </a:rPr>
              <a:t>위치 파악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F226A9-864D-B021-6EB5-599AFCD75399}"/>
              </a:ext>
            </a:extLst>
          </p:cNvPr>
          <p:cNvSpPr txBox="1"/>
          <p:nvPr/>
        </p:nvSpPr>
        <p:spPr>
          <a:xfrm>
            <a:off x="15647123" y="7991377"/>
            <a:ext cx="22557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dirty="0">
                <a:latin typeface="나눔스퀘어 네오 variable Heavy" panose="00000500000000000000" pitchFamily="2" charset="-127"/>
                <a:ea typeface="나눔스퀘어 네오 variable Heavy" panose="00000500000000000000" pitchFamily="2" charset="-127"/>
              </a:rPr>
              <a:t>문제 해결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8195D8-BA7D-2574-A816-A998E4C37A8A}"/>
              </a:ext>
            </a:extLst>
          </p:cNvPr>
          <p:cNvSpPr txBox="1"/>
          <p:nvPr/>
        </p:nvSpPr>
        <p:spPr>
          <a:xfrm>
            <a:off x="20298496" y="6150114"/>
            <a:ext cx="22557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dirty="0">
                <a:latin typeface="나눔스퀘어 네오 variable Heavy" panose="00000500000000000000" pitchFamily="2" charset="-127"/>
                <a:ea typeface="나눔스퀘어 네오 variable Heavy" panose="00000500000000000000" pitchFamily="2" charset="-127"/>
              </a:rPr>
              <a:t>해결 확인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E09F30F6-9A7D-1B52-E196-CAE55DDDCDE6}"/>
              </a:ext>
            </a:extLst>
          </p:cNvPr>
          <p:cNvSpPr/>
          <p:nvPr/>
        </p:nvSpPr>
        <p:spPr>
          <a:xfrm>
            <a:off x="1714512" y="7991597"/>
            <a:ext cx="2160000" cy="21600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8BDB3E9C-1EA3-819C-B1BC-980217D671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4512" y="8153400"/>
            <a:ext cx="1620000" cy="1620000"/>
          </a:xfrm>
          <a:prstGeom prst="rect">
            <a:avLst/>
          </a:prstGeom>
        </p:spPr>
      </p:pic>
      <p:sp>
        <p:nvSpPr>
          <p:cNvPr id="22" name="타원 21">
            <a:extLst>
              <a:ext uri="{FF2B5EF4-FFF2-40B4-BE49-F238E27FC236}">
                <a16:creationId xmlns:a16="http://schemas.microsoft.com/office/drawing/2014/main" id="{7D451279-E8B2-1A5C-8BC8-C340E15A4856}"/>
              </a:ext>
            </a:extLst>
          </p:cNvPr>
          <p:cNvSpPr/>
          <p:nvPr/>
        </p:nvSpPr>
        <p:spPr>
          <a:xfrm>
            <a:off x="6363940" y="4698000"/>
            <a:ext cx="2160000" cy="21600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984DD46F-DA94-2EF1-E504-E74C43B77963}"/>
              </a:ext>
            </a:extLst>
          </p:cNvPr>
          <p:cNvSpPr/>
          <p:nvPr/>
        </p:nvSpPr>
        <p:spPr>
          <a:xfrm>
            <a:off x="11112000" y="7972220"/>
            <a:ext cx="2160000" cy="21600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FB012887-9992-B9A0-5AC6-64599E718CDB}"/>
              </a:ext>
            </a:extLst>
          </p:cNvPr>
          <p:cNvSpPr/>
          <p:nvPr/>
        </p:nvSpPr>
        <p:spPr>
          <a:xfrm>
            <a:off x="15694996" y="4677895"/>
            <a:ext cx="2160000" cy="21600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B4A3A363-6965-BDD8-17E1-C188702B2608}"/>
              </a:ext>
            </a:extLst>
          </p:cNvPr>
          <p:cNvSpPr/>
          <p:nvPr/>
        </p:nvSpPr>
        <p:spPr>
          <a:xfrm>
            <a:off x="20363101" y="7991597"/>
            <a:ext cx="2160000" cy="216000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4069C611-E769-B35F-BA60-19E60EE0F6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0708" y="4999892"/>
            <a:ext cx="1512000" cy="1512000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F4D01FB7-8D97-0DD5-91E0-8834441D96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0" y="8305800"/>
            <a:ext cx="1440000" cy="1440000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C0AA8FDF-33C0-22EB-5EC6-154D10B776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42400" y="4846154"/>
            <a:ext cx="1836000" cy="1836000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B8C3BD22-E112-D73A-3FAC-44B12C61279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626754" y="8262554"/>
            <a:ext cx="1620000" cy="1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4095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29" name="TextBox 16">
            <a:extLst>
              <a:ext uri="{FF2B5EF4-FFF2-40B4-BE49-F238E27FC236}">
                <a16:creationId xmlns:a16="http://schemas.microsoft.com/office/drawing/2014/main" id="{34FF058A-38ED-74ED-D67F-8388871A6DC9}"/>
              </a:ext>
            </a:extLst>
          </p:cNvPr>
          <p:cNvSpPr txBox="1"/>
          <p:nvPr/>
        </p:nvSpPr>
        <p:spPr>
          <a:xfrm>
            <a:off x="914402" y="942101"/>
            <a:ext cx="145541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개발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트러블 슈팅 </a:t>
            </a:r>
            <a:r>
              <a:rPr lang="en-US" altLang="ko-KR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– </a:t>
            </a:r>
            <a:r>
              <a:rPr lang="ko-KR" altLang="en-US" sz="4000" b="1" spc="-156" dirty="0" err="1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메뉴바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 닉네임 오류 이슈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36" name="Picture 5">
            <a:extLst>
              <a:ext uri="{FF2B5EF4-FFF2-40B4-BE49-F238E27FC236}">
                <a16:creationId xmlns:a16="http://schemas.microsoft.com/office/drawing/2014/main" id="{40E41A3A-BE2B-19E1-1D6B-4B3A82D8E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sp>
        <p:nvSpPr>
          <p:cNvPr id="26" name="TextBox 22">
            <a:extLst>
              <a:ext uri="{FF2B5EF4-FFF2-40B4-BE49-F238E27FC236}">
                <a16:creationId xmlns:a16="http://schemas.microsoft.com/office/drawing/2014/main" id="{4A410FDF-8C58-C4A1-ED03-575FAD0DB72E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dirty="0">
                <a:solidFill>
                  <a:srgbClr val="787878"/>
                </a:solidFill>
                <a:latin typeface="Poppins Regular"/>
              </a:rPr>
              <a:t>44</a:t>
            </a:r>
            <a:endParaRPr lang="en" sz="2592" b="0" i="0" u="none" strike="noStrike" dirty="0">
              <a:solidFill>
                <a:srgbClr val="787878"/>
              </a:solidFill>
              <a:latin typeface="Poppins Regular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3FE432EA-9C22-9D3C-6F98-1296AD1302FA}"/>
              </a:ext>
            </a:extLst>
          </p:cNvPr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1193800" y="3051987"/>
            <a:ext cx="3240000" cy="4320000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F44D3A38-1E3F-24C6-93BA-1824CDE0AB4D}"/>
              </a:ext>
            </a:extLst>
          </p:cNvPr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1193800" y="8453899"/>
            <a:ext cx="3240000" cy="4320000"/>
          </a:xfrm>
          <a:prstGeom prst="rect">
            <a:avLst/>
          </a:prstGeom>
        </p:spPr>
      </p:pic>
      <p:sp>
        <p:nvSpPr>
          <p:cNvPr id="43" name="화살표: 아래쪽 42">
            <a:extLst>
              <a:ext uri="{FF2B5EF4-FFF2-40B4-BE49-F238E27FC236}">
                <a16:creationId xmlns:a16="http://schemas.microsoft.com/office/drawing/2014/main" id="{228D1CDF-1862-4C18-7B96-C66B0CCF72A4}"/>
              </a:ext>
            </a:extLst>
          </p:cNvPr>
          <p:cNvSpPr/>
          <p:nvPr/>
        </p:nvSpPr>
        <p:spPr>
          <a:xfrm>
            <a:off x="2571750" y="7546573"/>
            <a:ext cx="476250" cy="746053"/>
          </a:xfrm>
          <a:prstGeom prst="downArrow">
            <a:avLst/>
          </a:prstGeom>
          <a:gradFill>
            <a:gsLst>
              <a:gs pos="100000">
                <a:srgbClr val="294717"/>
              </a:gs>
              <a:gs pos="58000">
                <a:srgbClr val="294717"/>
              </a:gs>
              <a:gs pos="0">
                <a:schemeClr val="accent3">
                  <a:lumMod val="60000"/>
                  <a:lumOff val="40000"/>
                </a:schemeClr>
              </a:gs>
              <a:gs pos="20000">
                <a:schemeClr val="accent3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CBB28341-F7A5-7BE7-3CCA-6123A4C663AE}"/>
              </a:ext>
            </a:extLst>
          </p:cNvPr>
          <p:cNvGrpSpPr/>
          <p:nvPr/>
        </p:nvGrpSpPr>
        <p:grpSpPr>
          <a:xfrm>
            <a:off x="5359400" y="2966599"/>
            <a:ext cx="18021300" cy="1600200"/>
            <a:chOff x="5359400" y="2966599"/>
            <a:chExt cx="18021300" cy="16002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318191DA-EEFA-2432-18AA-5EB8408AE4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001000" y="2966599"/>
              <a:ext cx="15379700" cy="1600200"/>
            </a:xfrm>
            <a:prstGeom prst="rect">
              <a:avLst/>
            </a:prstGeom>
          </p:spPr>
        </p:pic>
        <p:pic>
          <p:nvPicPr>
            <p:cNvPr id="50" name="Picture 3">
              <a:extLst>
                <a:ext uri="{FF2B5EF4-FFF2-40B4-BE49-F238E27FC236}">
                  <a16:creationId xmlns:a16="http://schemas.microsoft.com/office/drawing/2014/main" id="{758335EC-CBCC-08F6-3D08-C97095C89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59400" y="2966599"/>
              <a:ext cx="2489200" cy="1600200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037BD7F-33C2-98A1-0828-FB111CC69FD7}"/>
                </a:ext>
              </a:extLst>
            </p:cNvPr>
            <p:cNvSpPr txBox="1"/>
            <p:nvPr/>
          </p:nvSpPr>
          <p:spPr>
            <a:xfrm>
              <a:off x="5680807" y="3459109"/>
              <a:ext cx="1846385" cy="604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3330" dirty="0">
                  <a:latin typeface="나눔휴먼OTF Regular" panose="020B0600000101010101" pitchFamily="34" charset="-127"/>
                  <a:ea typeface="나눔휴먼OTF Regular" panose="020B0600000101010101" pitchFamily="34" charset="-127"/>
                </a:rPr>
                <a:t>문제 확인 </a:t>
              </a:r>
              <a:endParaRPr lang="ko-KR" altLang="en-US" sz="333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0E6D984-A884-26E8-9AEF-FD91F08087DD}"/>
                </a:ext>
              </a:extLst>
            </p:cNvPr>
            <p:cNvSpPr txBox="1"/>
            <p:nvPr/>
          </p:nvSpPr>
          <p:spPr>
            <a:xfrm>
              <a:off x="8383507" y="3459109"/>
              <a:ext cx="11489593" cy="604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페이지마다 사용자 메뉴바에 서로 다른 닉네임이 표시되는 문제 발생</a:t>
              </a: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A4FAADB8-79EC-5B77-8F98-9D2BADE83330}"/>
              </a:ext>
            </a:extLst>
          </p:cNvPr>
          <p:cNvGrpSpPr/>
          <p:nvPr/>
        </p:nvGrpSpPr>
        <p:grpSpPr>
          <a:xfrm>
            <a:off x="5359400" y="4804888"/>
            <a:ext cx="18021300" cy="1600200"/>
            <a:chOff x="5359400" y="4871870"/>
            <a:chExt cx="18021300" cy="1600200"/>
          </a:xfrm>
        </p:grpSpPr>
        <p:pic>
          <p:nvPicPr>
            <p:cNvPr id="58" name="Picture 3">
              <a:extLst>
                <a:ext uri="{FF2B5EF4-FFF2-40B4-BE49-F238E27FC236}">
                  <a16:creationId xmlns:a16="http://schemas.microsoft.com/office/drawing/2014/main" id="{440DB396-B12E-D2EF-8DD9-87FD4E36B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001000" y="4871870"/>
              <a:ext cx="15379700" cy="1600200"/>
            </a:xfrm>
            <a:prstGeom prst="rect">
              <a:avLst/>
            </a:prstGeom>
          </p:spPr>
        </p:pic>
        <p:pic>
          <p:nvPicPr>
            <p:cNvPr id="59" name="Picture 3">
              <a:extLst>
                <a:ext uri="{FF2B5EF4-FFF2-40B4-BE49-F238E27FC236}">
                  <a16:creationId xmlns:a16="http://schemas.microsoft.com/office/drawing/2014/main" id="{C15F4158-E9D7-54AC-5DE4-3EDCE4080F2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59400" y="4871870"/>
              <a:ext cx="2489200" cy="1600200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84AFCAB-B893-1D6C-BCCE-DA2323DDC40D}"/>
                </a:ext>
              </a:extLst>
            </p:cNvPr>
            <p:cNvSpPr txBox="1"/>
            <p:nvPr/>
          </p:nvSpPr>
          <p:spPr>
            <a:xfrm>
              <a:off x="5680807" y="5349459"/>
              <a:ext cx="1846385" cy="604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3330" dirty="0">
                  <a:latin typeface="나눔휴먼OTF Regular" panose="020B0600000101010101" pitchFamily="34" charset="-127"/>
                  <a:ea typeface="나눔휴먼OTF Regular" panose="020B0600000101010101" pitchFamily="34" charset="-127"/>
                </a:rPr>
                <a:t>문제 공유</a:t>
              </a:r>
              <a:endParaRPr lang="ko-KR" altLang="en-US" sz="333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2AD61E8-35B3-0983-9719-453FF479DA0B}"/>
                </a:ext>
              </a:extLst>
            </p:cNvPr>
            <p:cNvSpPr txBox="1"/>
            <p:nvPr/>
          </p:nvSpPr>
          <p:spPr>
            <a:xfrm>
              <a:off x="8383507" y="5349459"/>
              <a:ext cx="11489593" cy="604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현상 캡처 및 오류 내용을 </a:t>
              </a:r>
              <a:r>
                <a:rPr lang="ko-KR" altLang="en-US" sz="3300" dirty="0" err="1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프론트엔드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 팀과 공유</a:t>
              </a: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1AD63994-CECB-E6F1-FB6A-0FC51A7511B1}"/>
              </a:ext>
            </a:extLst>
          </p:cNvPr>
          <p:cNvGrpSpPr/>
          <p:nvPr/>
        </p:nvGrpSpPr>
        <p:grpSpPr>
          <a:xfrm>
            <a:off x="5359400" y="6643177"/>
            <a:ext cx="19398804" cy="1600200"/>
            <a:chOff x="5359400" y="6777141"/>
            <a:chExt cx="19398804" cy="1600200"/>
          </a:xfrm>
        </p:grpSpPr>
        <p:pic>
          <p:nvPicPr>
            <p:cNvPr id="64" name="Picture 3">
              <a:extLst>
                <a:ext uri="{FF2B5EF4-FFF2-40B4-BE49-F238E27FC236}">
                  <a16:creationId xmlns:a16="http://schemas.microsoft.com/office/drawing/2014/main" id="{F38272B2-B521-DDF3-CAEE-DBA9477C8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001000" y="6777141"/>
              <a:ext cx="15379700" cy="1600200"/>
            </a:xfrm>
            <a:prstGeom prst="rect">
              <a:avLst/>
            </a:prstGeom>
          </p:spPr>
        </p:pic>
        <p:pic>
          <p:nvPicPr>
            <p:cNvPr id="65" name="Picture 3">
              <a:extLst>
                <a:ext uri="{FF2B5EF4-FFF2-40B4-BE49-F238E27FC236}">
                  <a16:creationId xmlns:a16="http://schemas.microsoft.com/office/drawing/2014/main" id="{67EB6F64-EE0F-36C9-FDAA-F982AAF9D53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59400" y="6777141"/>
              <a:ext cx="2489200" cy="1600200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5E38805-25CC-BD15-1FB4-AC5285F73CA1}"/>
                </a:ext>
              </a:extLst>
            </p:cNvPr>
            <p:cNvSpPr txBox="1"/>
            <p:nvPr/>
          </p:nvSpPr>
          <p:spPr>
            <a:xfrm>
              <a:off x="5680807" y="7268211"/>
              <a:ext cx="1846385" cy="604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3330" dirty="0">
                  <a:latin typeface="나눔휴먼OTF Regular" panose="020B0600000101010101" pitchFamily="34" charset="-127"/>
                  <a:ea typeface="나눔휴먼OTF Regular" panose="020B0600000101010101" pitchFamily="34" charset="-127"/>
                </a:rPr>
                <a:t>위치 파악</a:t>
              </a:r>
              <a:endParaRPr lang="ko-KR" altLang="en-US" sz="3330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7BAE0F0-7A86-0957-9793-CBEA1436538B}"/>
                </a:ext>
              </a:extLst>
            </p:cNvPr>
            <p:cNvSpPr txBox="1"/>
            <p:nvPr/>
          </p:nvSpPr>
          <p:spPr>
            <a:xfrm>
              <a:off x="8383507" y="7005691"/>
              <a:ext cx="16374697" cy="11172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각 페이지에서 헤더 컴포넌트로 닉네임이 전달되는 과정을 확인하던 중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,</a:t>
              </a:r>
              <a:b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</a:b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헤더가 각 페이지별로 중복 구현되어 있고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,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불러오는 닉네임 로직도 서로 다르다는 점 발견</a:t>
              </a: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37957879-68FD-9974-602A-3CAD44A2594B}"/>
              </a:ext>
            </a:extLst>
          </p:cNvPr>
          <p:cNvGrpSpPr/>
          <p:nvPr/>
        </p:nvGrpSpPr>
        <p:grpSpPr>
          <a:xfrm>
            <a:off x="5359400" y="8481466"/>
            <a:ext cx="18021300" cy="2634243"/>
            <a:chOff x="5359400" y="8682411"/>
            <a:chExt cx="18021300" cy="2634243"/>
          </a:xfrm>
        </p:grpSpPr>
        <p:pic>
          <p:nvPicPr>
            <p:cNvPr id="60" name="Picture 3">
              <a:extLst>
                <a:ext uri="{FF2B5EF4-FFF2-40B4-BE49-F238E27FC236}">
                  <a16:creationId xmlns:a16="http://schemas.microsoft.com/office/drawing/2014/main" id="{A7872DF8-2B75-40F1-23D0-1C5279A87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001000" y="8682411"/>
              <a:ext cx="15379700" cy="2634243"/>
            </a:xfrm>
            <a:prstGeom prst="rect">
              <a:avLst/>
            </a:prstGeom>
          </p:spPr>
        </p:pic>
        <p:pic>
          <p:nvPicPr>
            <p:cNvPr id="61" name="Picture 3">
              <a:extLst>
                <a:ext uri="{FF2B5EF4-FFF2-40B4-BE49-F238E27FC236}">
                  <a16:creationId xmlns:a16="http://schemas.microsoft.com/office/drawing/2014/main" id="{9FAFCA7B-B637-6C10-B752-A77F5A7EE16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59400" y="8682411"/>
              <a:ext cx="2489200" cy="2634243"/>
            </a:xfrm>
            <a:prstGeom prst="rect">
              <a:avLst/>
            </a:prstGeom>
          </p:spPr>
        </p:pic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01F8568-DE0B-BEC5-8027-DEC97EC17B39}"/>
                </a:ext>
              </a:extLst>
            </p:cNvPr>
            <p:cNvSpPr txBox="1"/>
            <p:nvPr/>
          </p:nvSpPr>
          <p:spPr>
            <a:xfrm>
              <a:off x="5680807" y="9682219"/>
              <a:ext cx="1846385" cy="604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3330" dirty="0">
                  <a:latin typeface="나눔휴먼OTF Regular" panose="020B0600000101010101" pitchFamily="34" charset="-127"/>
                  <a:ea typeface="나눔휴먼OTF Regular" panose="020B0600000101010101" pitchFamily="34" charset="-127"/>
                </a:rPr>
                <a:t>문제 해결 </a:t>
              </a:r>
              <a:endParaRPr lang="ko-KR" altLang="en-US" sz="3330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389654A-E028-893F-D715-75ED70E37BFB}"/>
                </a:ext>
              </a:extLst>
            </p:cNvPr>
            <p:cNvSpPr txBox="1"/>
            <p:nvPr/>
          </p:nvSpPr>
          <p:spPr>
            <a:xfrm>
              <a:off x="8383507" y="8922115"/>
              <a:ext cx="13937497" cy="21421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헤더를 공통 컴포넌트로 분리</a:t>
              </a:r>
            </a:p>
            <a:p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모든 페이지에서 동일한 헤더 파일을 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import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하여 사용하도록 구조 재정비</a:t>
              </a:r>
            </a:p>
            <a:p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 로그인 시 </a:t>
              </a:r>
              <a:r>
                <a:rPr lang="en-US" altLang="ko-KR" sz="3300" dirty="0" err="1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localStorage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에 저장된 닉네임을 공통 헤더에서만 가져오도록 단일화</a:t>
              </a:r>
              <a:b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</a:b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→ 닉네임 불일치 문제 해결</a:t>
              </a:r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B2746F60-7B61-4AEB-AC53-044A42424FE2}"/>
              </a:ext>
            </a:extLst>
          </p:cNvPr>
          <p:cNvGrpSpPr/>
          <p:nvPr/>
        </p:nvGrpSpPr>
        <p:grpSpPr>
          <a:xfrm>
            <a:off x="5359400" y="11353800"/>
            <a:ext cx="18021300" cy="1600200"/>
            <a:chOff x="5359400" y="11353800"/>
            <a:chExt cx="18021300" cy="1600200"/>
          </a:xfrm>
        </p:grpSpPr>
        <p:pic>
          <p:nvPicPr>
            <p:cNvPr id="62" name="Picture 3">
              <a:extLst>
                <a:ext uri="{FF2B5EF4-FFF2-40B4-BE49-F238E27FC236}">
                  <a16:creationId xmlns:a16="http://schemas.microsoft.com/office/drawing/2014/main" id="{DD2D0B27-EEB4-FF57-EABF-C5D1B860892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001000" y="11353800"/>
              <a:ext cx="15379700" cy="1600200"/>
            </a:xfrm>
            <a:prstGeom prst="rect">
              <a:avLst/>
            </a:prstGeom>
          </p:spPr>
        </p:pic>
        <p:pic>
          <p:nvPicPr>
            <p:cNvPr id="63" name="Picture 3">
              <a:extLst>
                <a:ext uri="{FF2B5EF4-FFF2-40B4-BE49-F238E27FC236}">
                  <a16:creationId xmlns:a16="http://schemas.microsoft.com/office/drawing/2014/main" id="{A169BCC9-509F-37F8-BD87-BC8722F28C5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59400" y="11353800"/>
              <a:ext cx="2489200" cy="1600200"/>
            </a:xfrm>
            <a:prstGeom prst="rect">
              <a:avLst/>
            </a:prstGeom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54EC221-96BC-A7B7-A4BE-B310E9E0805E}"/>
                </a:ext>
              </a:extLst>
            </p:cNvPr>
            <p:cNvSpPr txBox="1"/>
            <p:nvPr/>
          </p:nvSpPr>
          <p:spPr>
            <a:xfrm>
              <a:off x="5680807" y="11849287"/>
              <a:ext cx="1846385" cy="604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3330" dirty="0">
                  <a:latin typeface="나눔휴먼OTF Regular" panose="020B0600000101010101" pitchFamily="34" charset="-127"/>
                  <a:ea typeface="나눔휴먼OTF Regular" panose="020B0600000101010101" pitchFamily="34" charset="-127"/>
                </a:rPr>
                <a:t>해결 확인 </a:t>
              </a:r>
              <a:endParaRPr lang="ko-KR" altLang="en-US" sz="333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3569240-76DD-C137-24BC-A0B18885A359}"/>
                </a:ext>
              </a:extLst>
            </p:cNvPr>
            <p:cNvSpPr txBox="1"/>
            <p:nvPr/>
          </p:nvSpPr>
          <p:spPr>
            <a:xfrm>
              <a:off x="8383507" y="11603862"/>
              <a:ext cx="14698297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페이지별 메뉴바에서 </a:t>
              </a:r>
              <a:r>
                <a:rPr lang="ko-KR" altLang="en-US" sz="3300" b="1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동일한 사용자 닉네임이 정상적으로 표시되는지 테스트 완료</a:t>
              </a:r>
              <a:b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</a:b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결과적으로 모든 페이지에서 동일한 닉네임이 노출됨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85192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29" name="TextBox 16">
            <a:extLst>
              <a:ext uri="{FF2B5EF4-FFF2-40B4-BE49-F238E27FC236}">
                <a16:creationId xmlns:a16="http://schemas.microsoft.com/office/drawing/2014/main" id="{34FF058A-38ED-74ED-D67F-8388871A6DC9}"/>
              </a:ext>
            </a:extLst>
          </p:cNvPr>
          <p:cNvSpPr txBox="1"/>
          <p:nvPr/>
        </p:nvSpPr>
        <p:spPr>
          <a:xfrm>
            <a:off x="914402" y="942101"/>
            <a:ext cx="145541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개발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트러블 슈팅 </a:t>
            </a:r>
            <a:r>
              <a:rPr lang="en-US" altLang="ko-KR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– Git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민감정보 노출 이슈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36" name="Picture 5">
            <a:extLst>
              <a:ext uri="{FF2B5EF4-FFF2-40B4-BE49-F238E27FC236}">
                <a16:creationId xmlns:a16="http://schemas.microsoft.com/office/drawing/2014/main" id="{40E41A3A-BE2B-19E1-1D6B-4B3A82D8E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sp>
        <p:nvSpPr>
          <p:cNvPr id="26" name="TextBox 22">
            <a:extLst>
              <a:ext uri="{FF2B5EF4-FFF2-40B4-BE49-F238E27FC236}">
                <a16:creationId xmlns:a16="http://schemas.microsoft.com/office/drawing/2014/main" id="{4A410FDF-8C58-C4A1-ED03-575FAD0DB72E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dirty="0">
                <a:solidFill>
                  <a:srgbClr val="787878"/>
                </a:solidFill>
                <a:latin typeface="Poppins Regular"/>
              </a:rPr>
              <a:t>45</a:t>
            </a:r>
            <a:endParaRPr lang="en" sz="2592" b="0" i="0" u="none" strike="noStrike" dirty="0">
              <a:solidFill>
                <a:srgbClr val="787878"/>
              </a:solidFill>
              <a:latin typeface="Poppins Regular"/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CBB28341-F7A5-7BE7-3CCA-6123A4C663AE}"/>
              </a:ext>
            </a:extLst>
          </p:cNvPr>
          <p:cNvGrpSpPr/>
          <p:nvPr/>
        </p:nvGrpSpPr>
        <p:grpSpPr>
          <a:xfrm>
            <a:off x="5747196" y="2819400"/>
            <a:ext cx="18021300" cy="1600200"/>
            <a:chOff x="5359400" y="2966599"/>
            <a:chExt cx="18021300" cy="1600200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318191DA-EEFA-2432-18AA-5EB8408AE44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1000" y="2966599"/>
              <a:ext cx="15379700" cy="1600200"/>
            </a:xfrm>
            <a:prstGeom prst="rect">
              <a:avLst/>
            </a:prstGeom>
          </p:spPr>
        </p:pic>
        <p:pic>
          <p:nvPicPr>
            <p:cNvPr id="50" name="Picture 3">
              <a:extLst>
                <a:ext uri="{FF2B5EF4-FFF2-40B4-BE49-F238E27FC236}">
                  <a16:creationId xmlns:a16="http://schemas.microsoft.com/office/drawing/2014/main" id="{758335EC-CBCC-08F6-3D08-C97095C89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59400" y="2966599"/>
              <a:ext cx="2489200" cy="1600200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037BD7F-33C2-98A1-0828-FB111CC69FD7}"/>
                </a:ext>
              </a:extLst>
            </p:cNvPr>
            <p:cNvSpPr txBox="1"/>
            <p:nvPr/>
          </p:nvSpPr>
          <p:spPr>
            <a:xfrm>
              <a:off x="5680807" y="3459109"/>
              <a:ext cx="1846385" cy="604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3330" dirty="0">
                  <a:latin typeface="나눔휴먼OTF Regular" panose="020B0600000101010101" pitchFamily="34" charset="-127"/>
                  <a:ea typeface="나눔휴먼OTF Regular" panose="020B0600000101010101" pitchFamily="34" charset="-127"/>
                </a:rPr>
                <a:t>문제 확인 </a:t>
              </a:r>
              <a:endParaRPr lang="ko-KR" altLang="en-US" sz="333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0E6D984-A884-26E8-9AEF-FD91F08087DD}"/>
                </a:ext>
              </a:extLst>
            </p:cNvPr>
            <p:cNvSpPr txBox="1"/>
            <p:nvPr/>
          </p:nvSpPr>
          <p:spPr>
            <a:xfrm>
              <a:off x="8383507" y="3169920"/>
              <a:ext cx="14698297" cy="11867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GitHub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에 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push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하는 과정에서 </a:t>
              </a:r>
              <a:r>
                <a:rPr lang="en-US" altLang="ko-KR" sz="3300" dirty="0" err="1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application.properties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등 설정파일에 포함된 </a:t>
              </a:r>
              <a:endPara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endParaRPr>
            </a:p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DB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비밀번호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, AWS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키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, JWT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비밀키 등 민감 정보가 </a:t>
              </a:r>
              <a:r>
                <a:rPr lang="ko-KR" altLang="en-US" sz="3300" dirty="0" err="1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업로드되는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 문제 발생</a:t>
              </a: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A4FAADB8-79EC-5B77-8F98-9D2BADE83330}"/>
              </a:ext>
            </a:extLst>
          </p:cNvPr>
          <p:cNvGrpSpPr/>
          <p:nvPr/>
        </p:nvGrpSpPr>
        <p:grpSpPr>
          <a:xfrm>
            <a:off x="5747196" y="4718649"/>
            <a:ext cx="18021300" cy="1600200"/>
            <a:chOff x="5359400" y="4932830"/>
            <a:chExt cx="18021300" cy="1600200"/>
          </a:xfrm>
        </p:grpSpPr>
        <p:pic>
          <p:nvPicPr>
            <p:cNvPr id="58" name="Picture 3">
              <a:extLst>
                <a:ext uri="{FF2B5EF4-FFF2-40B4-BE49-F238E27FC236}">
                  <a16:creationId xmlns:a16="http://schemas.microsoft.com/office/drawing/2014/main" id="{440DB396-B12E-D2EF-8DD9-87FD4E36B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1000" y="4932830"/>
              <a:ext cx="15379700" cy="1600200"/>
            </a:xfrm>
            <a:prstGeom prst="rect">
              <a:avLst/>
            </a:prstGeom>
          </p:spPr>
        </p:pic>
        <p:pic>
          <p:nvPicPr>
            <p:cNvPr id="59" name="Picture 3">
              <a:extLst>
                <a:ext uri="{FF2B5EF4-FFF2-40B4-BE49-F238E27FC236}">
                  <a16:creationId xmlns:a16="http://schemas.microsoft.com/office/drawing/2014/main" id="{C15F4158-E9D7-54AC-5DE4-3EDCE4080F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59400" y="4932830"/>
              <a:ext cx="2489200" cy="1600200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84AFCAB-B893-1D6C-BCCE-DA2323DDC40D}"/>
                </a:ext>
              </a:extLst>
            </p:cNvPr>
            <p:cNvSpPr txBox="1"/>
            <p:nvPr/>
          </p:nvSpPr>
          <p:spPr>
            <a:xfrm>
              <a:off x="5680807" y="5446702"/>
              <a:ext cx="1846385" cy="604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3330" dirty="0">
                  <a:latin typeface="나눔휴먼OTF Regular" panose="020B0600000101010101" pitchFamily="34" charset="-127"/>
                  <a:ea typeface="나눔휴먼OTF Regular" panose="020B0600000101010101" pitchFamily="34" charset="-127"/>
                </a:rPr>
                <a:t>문제 공유</a:t>
              </a:r>
              <a:endParaRPr lang="ko-KR" altLang="en-US" sz="333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2AD61E8-35B3-0983-9719-453FF479DA0B}"/>
                </a:ext>
              </a:extLst>
            </p:cNvPr>
            <p:cNvSpPr txBox="1"/>
            <p:nvPr/>
          </p:nvSpPr>
          <p:spPr>
            <a:xfrm>
              <a:off x="8383507" y="5112276"/>
              <a:ext cx="11489593" cy="11867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4400"/>
                </a:lnSpc>
              </a:pP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해당 문제 캡처 및 에러 메시지를 팀원들과 공유</a:t>
              </a:r>
            </a:p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다른 팀원도 같은 파일을 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push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하고 있는지 공동으로 확인</a:t>
              </a: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1AD63994-CECB-E6F1-FB6A-0FC51A7511B1}"/>
              </a:ext>
            </a:extLst>
          </p:cNvPr>
          <p:cNvGrpSpPr/>
          <p:nvPr/>
        </p:nvGrpSpPr>
        <p:grpSpPr>
          <a:xfrm>
            <a:off x="5747196" y="6558401"/>
            <a:ext cx="19398804" cy="2081434"/>
            <a:chOff x="5359400" y="6777141"/>
            <a:chExt cx="19398804" cy="2081434"/>
          </a:xfrm>
        </p:grpSpPr>
        <p:pic>
          <p:nvPicPr>
            <p:cNvPr id="64" name="Picture 3">
              <a:extLst>
                <a:ext uri="{FF2B5EF4-FFF2-40B4-BE49-F238E27FC236}">
                  <a16:creationId xmlns:a16="http://schemas.microsoft.com/office/drawing/2014/main" id="{F38272B2-B521-DDF3-CAEE-DBA9477C8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1000" y="6777141"/>
              <a:ext cx="15379700" cy="2081434"/>
            </a:xfrm>
            <a:prstGeom prst="rect">
              <a:avLst/>
            </a:prstGeom>
          </p:spPr>
        </p:pic>
        <p:pic>
          <p:nvPicPr>
            <p:cNvPr id="65" name="Picture 3">
              <a:extLst>
                <a:ext uri="{FF2B5EF4-FFF2-40B4-BE49-F238E27FC236}">
                  <a16:creationId xmlns:a16="http://schemas.microsoft.com/office/drawing/2014/main" id="{67EB6F64-EE0F-36C9-FDAA-F982AAF9D5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59400" y="6777141"/>
              <a:ext cx="2489200" cy="2081434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5E38805-25CC-BD15-1FB4-AC5285F73CA1}"/>
                </a:ext>
              </a:extLst>
            </p:cNvPr>
            <p:cNvSpPr txBox="1"/>
            <p:nvPr/>
          </p:nvSpPr>
          <p:spPr>
            <a:xfrm>
              <a:off x="5680807" y="7513480"/>
              <a:ext cx="1846385" cy="604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3330" dirty="0">
                  <a:latin typeface="나눔휴먼OTF Regular" panose="020B0600000101010101" pitchFamily="34" charset="-127"/>
                  <a:ea typeface="나눔휴먼OTF Regular" panose="020B0600000101010101" pitchFamily="34" charset="-127"/>
                </a:rPr>
                <a:t>위치 파악</a:t>
              </a:r>
              <a:endParaRPr lang="ko-KR" altLang="en-US" sz="3330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7BAE0F0-7A86-0957-9793-CBEA1436538B}"/>
                </a:ext>
              </a:extLst>
            </p:cNvPr>
            <p:cNvSpPr txBox="1"/>
            <p:nvPr/>
          </p:nvSpPr>
          <p:spPr>
            <a:xfrm>
              <a:off x="8383507" y="7005691"/>
              <a:ext cx="16374697" cy="1750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설정 파일들이 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.</a:t>
              </a:r>
              <a:r>
                <a:rPr lang="en-US" altLang="ko-KR" sz="3300" dirty="0" err="1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gitignore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에 등록되어 있지 않아 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Git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이 파일을 추적 중인 상태였음</a:t>
              </a:r>
            </a:p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이미 이전 </a:t>
              </a:r>
              <a:r>
                <a:rPr lang="ko-KR" altLang="en-US" sz="3300" dirty="0" err="1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커밋들에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 민감정보가 포함되어 있어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,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단순 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ignore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추가로는 해결 불가</a:t>
              </a:r>
            </a:p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환경 설정 파일을 프로젝트 내에 그대로 두고 </a:t>
              </a:r>
              <a:r>
                <a:rPr lang="ko-KR" altLang="en-US" sz="3300" dirty="0" err="1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버전관리하는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 구조적 문제도 확인됨</a:t>
              </a: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37957879-68FD-9974-602A-3CAD44A2594B}"/>
              </a:ext>
            </a:extLst>
          </p:cNvPr>
          <p:cNvGrpSpPr/>
          <p:nvPr/>
        </p:nvGrpSpPr>
        <p:grpSpPr>
          <a:xfrm>
            <a:off x="5747196" y="8844401"/>
            <a:ext cx="18021300" cy="2147593"/>
            <a:chOff x="5359400" y="8682411"/>
            <a:chExt cx="18021300" cy="2147593"/>
          </a:xfrm>
        </p:grpSpPr>
        <p:pic>
          <p:nvPicPr>
            <p:cNvPr id="60" name="Picture 3">
              <a:extLst>
                <a:ext uri="{FF2B5EF4-FFF2-40B4-BE49-F238E27FC236}">
                  <a16:creationId xmlns:a16="http://schemas.microsoft.com/office/drawing/2014/main" id="{A7872DF8-2B75-40F1-23D0-1C5279A87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1000" y="8682411"/>
              <a:ext cx="15379700" cy="2147593"/>
            </a:xfrm>
            <a:prstGeom prst="rect">
              <a:avLst/>
            </a:prstGeom>
          </p:spPr>
        </p:pic>
        <p:pic>
          <p:nvPicPr>
            <p:cNvPr id="61" name="Picture 3">
              <a:extLst>
                <a:ext uri="{FF2B5EF4-FFF2-40B4-BE49-F238E27FC236}">
                  <a16:creationId xmlns:a16="http://schemas.microsoft.com/office/drawing/2014/main" id="{9FAFCA7B-B637-6C10-B752-A77F5A7EE16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59400" y="8682411"/>
              <a:ext cx="2489200" cy="2147593"/>
            </a:xfrm>
            <a:prstGeom prst="rect">
              <a:avLst/>
            </a:prstGeom>
          </p:spPr>
        </p:pic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01F8568-DE0B-BEC5-8027-DEC97EC17B39}"/>
                </a:ext>
              </a:extLst>
            </p:cNvPr>
            <p:cNvSpPr txBox="1"/>
            <p:nvPr/>
          </p:nvSpPr>
          <p:spPr>
            <a:xfrm>
              <a:off x="5680807" y="9497345"/>
              <a:ext cx="1846385" cy="604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3330" dirty="0">
                  <a:latin typeface="나눔휴먼OTF Regular" panose="020B0600000101010101" pitchFamily="34" charset="-127"/>
                  <a:ea typeface="나눔휴먼OTF Regular" panose="020B0600000101010101" pitchFamily="34" charset="-127"/>
                </a:rPr>
                <a:t>문제 해결 </a:t>
              </a:r>
              <a:endParaRPr lang="ko-KR" altLang="en-US" sz="3330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389654A-E028-893F-D715-75ED70E37BFB}"/>
                </a:ext>
              </a:extLst>
            </p:cNvPr>
            <p:cNvSpPr txBox="1"/>
            <p:nvPr/>
          </p:nvSpPr>
          <p:spPr>
            <a:xfrm>
              <a:off x="8383507" y="8891635"/>
              <a:ext cx="13937497" cy="1750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.</a:t>
              </a:r>
              <a:r>
                <a:rPr lang="en-US" altLang="ko-KR" sz="3300" dirty="0" err="1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gitignore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에 </a:t>
              </a:r>
              <a:r>
                <a:rPr lang="en-US" altLang="ko-KR" sz="3300" dirty="0" err="1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application.properties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등 민감정보 가능성이 있는 파일을 추가</a:t>
              </a:r>
            </a:p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이미 추적 중이던 기존 설정 파일을 캐시에서 제거</a:t>
              </a:r>
            </a:p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팀원 전체에게 환경파일 관리 규칙 공유하여 재발 방지</a:t>
              </a:r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B2746F60-7B61-4AEB-AC53-044A42424FE2}"/>
              </a:ext>
            </a:extLst>
          </p:cNvPr>
          <p:cNvGrpSpPr/>
          <p:nvPr/>
        </p:nvGrpSpPr>
        <p:grpSpPr>
          <a:xfrm>
            <a:off x="5747196" y="11206601"/>
            <a:ext cx="18021300" cy="1600200"/>
            <a:chOff x="5359400" y="11353800"/>
            <a:chExt cx="18021300" cy="1600200"/>
          </a:xfrm>
        </p:grpSpPr>
        <p:pic>
          <p:nvPicPr>
            <p:cNvPr id="62" name="Picture 3">
              <a:extLst>
                <a:ext uri="{FF2B5EF4-FFF2-40B4-BE49-F238E27FC236}">
                  <a16:creationId xmlns:a16="http://schemas.microsoft.com/office/drawing/2014/main" id="{DD2D0B27-EEB4-FF57-EABF-C5D1B860892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1000" y="11353800"/>
              <a:ext cx="15379700" cy="1600200"/>
            </a:xfrm>
            <a:prstGeom prst="rect">
              <a:avLst/>
            </a:prstGeom>
          </p:spPr>
        </p:pic>
        <p:pic>
          <p:nvPicPr>
            <p:cNvPr id="63" name="Picture 3">
              <a:extLst>
                <a:ext uri="{FF2B5EF4-FFF2-40B4-BE49-F238E27FC236}">
                  <a16:creationId xmlns:a16="http://schemas.microsoft.com/office/drawing/2014/main" id="{A169BCC9-509F-37F8-BD87-BC8722F28C5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59400" y="11353800"/>
              <a:ext cx="2489200" cy="1600200"/>
            </a:xfrm>
            <a:prstGeom prst="rect">
              <a:avLst/>
            </a:prstGeom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54EC221-96BC-A7B7-A4BE-B310E9E0805E}"/>
                </a:ext>
              </a:extLst>
            </p:cNvPr>
            <p:cNvSpPr txBox="1"/>
            <p:nvPr/>
          </p:nvSpPr>
          <p:spPr>
            <a:xfrm>
              <a:off x="5680807" y="11849287"/>
              <a:ext cx="1846385" cy="604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3330" dirty="0">
                  <a:latin typeface="나눔휴먼OTF Regular" panose="020B0600000101010101" pitchFamily="34" charset="-127"/>
                  <a:ea typeface="나눔휴먼OTF Regular" panose="020B0600000101010101" pitchFamily="34" charset="-127"/>
                </a:rPr>
                <a:t>해결 확인 </a:t>
              </a:r>
              <a:endParaRPr lang="ko-KR" altLang="en-US" sz="333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3569240-76DD-C137-24BC-A0B18885A359}"/>
                </a:ext>
              </a:extLst>
            </p:cNvPr>
            <p:cNvSpPr txBox="1"/>
            <p:nvPr/>
          </p:nvSpPr>
          <p:spPr>
            <a:xfrm>
              <a:off x="8383507" y="11603862"/>
              <a:ext cx="14698297" cy="11867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이후 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push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수행 시 보안 스캔 경고 없이 정상적으로 </a:t>
              </a:r>
              <a:r>
                <a:rPr lang="ko-KR" altLang="en-US" sz="3300" dirty="0" err="1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업로드되는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 것 확인</a:t>
              </a:r>
            </a:p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모든 팀원이 템플릿 파일 기반으로 로컬에서 환경을 구성해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,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보안 및 협업 환경 안정화</a:t>
              </a:r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FA1921F2-B71B-B100-2268-E460D5E9A9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305" y="3761501"/>
            <a:ext cx="4584695" cy="805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2049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36" name="Picture 5">
            <a:extLst>
              <a:ext uri="{FF2B5EF4-FFF2-40B4-BE49-F238E27FC236}">
                <a16:creationId xmlns:a16="http://schemas.microsoft.com/office/drawing/2014/main" id="{40E41A3A-BE2B-19E1-1D6B-4B3A82D8E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sp>
        <p:nvSpPr>
          <p:cNvPr id="26" name="TextBox 22">
            <a:extLst>
              <a:ext uri="{FF2B5EF4-FFF2-40B4-BE49-F238E27FC236}">
                <a16:creationId xmlns:a16="http://schemas.microsoft.com/office/drawing/2014/main" id="{4A410FDF-8C58-C4A1-ED03-575FAD0DB72E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dirty="0">
                <a:solidFill>
                  <a:srgbClr val="787878"/>
                </a:solidFill>
                <a:latin typeface="Poppins Regular"/>
              </a:rPr>
              <a:t>46</a:t>
            </a:r>
            <a:endParaRPr lang="en" sz="2592" b="0" i="0" u="none" strike="noStrike" dirty="0">
              <a:solidFill>
                <a:srgbClr val="787878"/>
              </a:solidFill>
              <a:latin typeface="Poppins Regular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6C95A66-2DE3-C391-848D-8857C50CA907}"/>
              </a:ext>
            </a:extLst>
          </p:cNvPr>
          <p:cNvGrpSpPr/>
          <p:nvPr/>
        </p:nvGrpSpPr>
        <p:grpSpPr>
          <a:xfrm>
            <a:off x="5359400" y="3657600"/>
            <a:ext cx="18352600" cy="4337693"/>
            <a:chOff x="5359400" y="2966598"/>
            <a:chExt cx="18352600" cy="3407598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318191DA-EEFA-2432-18AA-5EB8408AE44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1000" y="2966598"/>
              <a:ext cx="15711000" cy="2666387"/>
            </a:xfrm>
            <a:prstGeom prst="rect">
              <a:avLst/>
            </a:prstGeom>
          </p:spPr>
        </p:pic>
        <p:pic>
          <p:nvPicPr>
            <p:cNvPr id="50" name="Picture 3">
              <a:extLst>
                <a:ext uri="{FF2B5EF4-FFF2-40B4-BE49-F238E27FC236}">
                  <a16:creationId xmlns:a16="http://schemas.microsoft.com/office/drawing/2014/main" id="{758335EC-CBCC-08F6-3D08-C97095C89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59400" y="2966598"/>
              <a:ext cx="2489200" cy="2666387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037BD7F-33C2-98A1-0828-FB111CC69FD7}"/>
                </a:ext>
              </a:extLst>
            </p:cNvPr>
            <p:cNvSpPr txBox="1"/>
            <p:nvPr/>
          </p:nvSpPr>
          <p:spPr>
            <a:xfrm>
              <a:off x="5680807" y="4038600"/>
              <a:ext cx="1846385" cy="604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3330" dirty="0">
                  <a:latin typeface="나눔휴먼OTF Regular" panose="020B0600000101010101" pitchFamily="34" charset="-127"/>
                  <a:ea typeface="나눔휴먼OTF Regular" panose="020B0600000101010101" pitchFamily="34" charset="-127"/>
                </a:rPr>
                <a:t>문제 확인 </a:t>
              </a:r>
              <a:endParaRPr lang="ko-KR" altLang="en-US" sz="333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0E6D984-A884-26E8-9AEF-FD91F08087DD}"/>
                </a:ext>
              </a:extLst>
            </p:cNvPr>
            <p:cNvSpPr txBox="1"/>
            <p:nvPr/>
          </p:nvSpPr>
          <p:spPr>
            <a:xfrm>
              <a:off x="8383507" y="3225582"/>
              <a:ext cx="15328493" cy="31486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4400"/>
                </a:lnSpc>
              </a:pPr>
              <a:r>
                <a:rPr lang="ko-KR" altLang="en-US" sz="3300" dirty="0" err="1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브랜치마다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 동일 도메인임에도</a:t>
              </a:r>
            </a:p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A </a:t>
              </a:r>
              <a:r>
                <a:rPr lang="ko-KR" altLang="en-US" sz="3300" dirty="0" err="1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브랜치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: </a:t>
              </a:r>
              <a:r>
                <a:rPr lang="en-US" altLang="ko-KR" sz="3300" dirty="0" err="1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UserDao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, </a:t>
              </a:r>
              <a:r>
                <a:rPr lang="en-US" altLang="ko-KR" sz="3300" dirty="0" err="1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FriendDao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등 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DAO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기반 코드</a:t>
              </a:r>
            </a:p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B </a:t>
              </a:r>
              <a:r>
                <a:rPr lang="ko-KR" altLang="en-US" sz="3300" dirty="0" err="1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브랜치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: </a:t>
              </a:r>
              <a:r>
                <a:rPr lang="en-US" altLang="ko-KR" sz="3300" dirty="0" err="1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UserMapper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, </a:t>
              </a:r>
              <a:r>
                <a:rPr lang="en-US" altLang="ko-KR" sz="3300" dirty="0" err="1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FriendMapper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등 </a:t>
              </a:r>
              <a:r>
                <a:rPr lang="en-US" altLang="ko-KR" sz="3300" dirty="0" err="1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MyBatis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 Mapper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기반 코드를 사용하는 방식이 달라서 병합 후 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cannot find symbol '</a:t>
              </a:r>
              <a:r>
                <a:rPr lang="en-US" altLang="ko-KR" sz="3300" dirty="0" err="1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findByUserId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’ No qualifying bean of type '</a:t>
              </a:r>
              <a:r>
                <a:rPr lang="en-US" altLang="ko-KR" sz="3300" dirty="0" err="1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UserDao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’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같은 컴파일 오류 및 의존성 주입 오류 발생</a:t>
              </a:r>
            </a:p>
            <a:p>
              <a:pPr>
                <a:lnSpc>
                  <a:spcPts val="4400"/>
                </a:lnSpc>
              </a:pPr>
              <a:endPara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endParaRPr>
            </a:p>
            <a:p>
              <a:pPr>
                <a:lnSpc>
                  <a:spcPts val="4400"/>
                </a:lnSpc>
              </a:pPr>
              <a:endPara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502DD9E-04F1-76B0-1CB0-2422A5110AB8}"/>
              </a:ext>
            </a:extLst>
          </p:cNvPr>
          <p:cNvGrpSpPr/>
          <p:nvPr/>
        </p:nvGrpSpPr>
        <p:grpSpPr>
          <a:xfrm>
            <a:off x="5359400" y="7545108"/>
            <a:ext cx="18415000" cy="3059097"/>
            <a:chOff x="5359400" y="6633530"/>
            <a:chExt cx="18415000" cy="1938631"/>
          </a:xfrm>
        </p:grpSpPr>
        <p:pic>
          <p:nvPicPr>
            <p:cNvPr id="58" name="Picture 3">
              <a:extLst>
                <a:ext uri="{FF2B5EF4-FFF2-40B4-BE49-F238E27FC236}">
                  <a16:creationId xmlns:a16="http://schemas.microsoft.com/office/drawing/2014/main" id="{440DB396-B12E-D2EF-8DD9-87FD4E36B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1000" y="6633530"/>
              <a:ext cx="15711000" cy="1600200"/>
            </a:xfrm>
            <a:prstGeom prst="rect">
              <a:avLst/>
            </a:prstGeom>
          </p:spPr>
        </p:pic>
        <p:pic>
          <p:nvPicPr>
            <p:cNvPr id="59" name="Picture 3">
              <a:extLst>
                <a:ext uri="{FF2B5EF4-FFF2-40B4-BE49-F238E27FC236}">
                  <a16:creationId xmlns:a16="http://schemas.microsoft.com/office/drawing/2014/main" id="{C15F4158-E9D7-54AC-5DE4-3EDCE4080F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59400" y="6633530"/>
              <a:ext cx="2489200" cy="1600200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84AFCAB-B893-1D6C-BCCE-DA2323DDC40D}"/>
                </a:ext>
              </a:extLst>
            </p:cNvPr>
            <p:cNvSpPr txBox="1"/>
            <p:nvPr/>
          </p:nvSpPr>
          <p:spPr>
            <a:xfrm>
              <a:off x="5680807" y="7111119"/>
              <a:ext cx="1846385" cy="604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3330" dirty="0">
                  <a:latin typeface="나눔휴먼OTF Regular" panose="020B0600000101010101" pitchFamily="34" charset="-127"/>
                  <a:ea typeface="나눔휴먼OTF Regular" panose="020B0600000101010101" pitchFamily="34" charset="-127"/>
                </a:rPr>
                <a:t>문제 공유</a:t>
              </a:r>
              <a:endParaRPr lang="ko-KR" altLang="en-US" sz="333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2AD61E8-35B3-0983-9719-453FF479DA0B}"/>
                </a:ext>
              </a:extLst>
            </p:cNvPr>
            <p:cNvSpPr txBox="1"/>
            <p:nvPr/>
          </p:nvSpPr>
          <p:spPr>
            <a:xfrm>
              <a:off x="8410738" y="6781571"/>
              <a:ext cx="15363662" cy="17905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팀원들과 병합 오류 상황을 공유한 결과 같은 기능을 구현한 코드라도 접근 계층 구조가</a:t>
              </a:r>
              <a:endPara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endParaRPr>
            </a:p>
            <a:p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 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서로 다름</a:t>
              </a:r>
              <a:endPara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endParaRPr>
            </a:p>
            <a:p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Service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레이어에서 “어떤 걸 기준으로 맞추어야 하는지” 혼란 발생 </a:t>
              </a:r>
              <a:endPara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endParaRPr>
            </a:p>
            <a:p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  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→  단순 충돌 해결이 아닌 구조 통일의 필요성 확인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CFE558F-B276-61F4-11EC-AA09734C8B98}"/>
              </a:ext>
            </a:extLst>
          </p:cNvPr>
          <p:cNvGrpSpPr/>
          <p:nvPr/>
        </p:nvGrpSpPr>
        <p:grpSpPr>
          <a:xfrm>
            <a:off x="5359400" y="10546903"/>
            <a:ext cx="19398804" cy="1416497"/>
            <a:chOff x="5359400" y="8767129"/>
            <a:chExt cx="19398804" cy="3093903"/>
          </a:xfrm>
        </p:grpSpPr>
        <p:pic>
          <p:nvPicPr>
            <p:cNvPr id="64" name="Picture 3">
              <a:extLst>
                <a:ext uri="{FF2B5EF4-FFF2-40B4-BE49-F238E27FC236}">
                  <a16:creationId xmlns:a16="http://schemas.microsoft.com/office/drawing/2014/main" id="{F38272B2-B521-DDF3-CAEE-DBA9477C8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1000" y="8767129"/>
              <a:ext cx="15711000" cy="3093903"/>
            </a:xfrm>
            <a:prstGeom prst="rect">
              <a:avLst/>
            </a:prstGeom>
          </p:spPr>
        </p:pic>
        <p:pic>
          <p:nvPicPr>
            <p:cNvPr id="65" name="Picture 3">
              <a:extLst>
                <a:ext uri="{FF2B5EF4-FFF2-40B4-BE49-F238E27FC236}">
                  <a16:creationId xmlns:a16="http://schemas.microsoft.com/office/drawing/2014/main" id="{67EB6F64-EE0F-36C9-FDAA-F982AAF9D5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59400" y="8767129"/>
              <a:ext cx="2489200" cy="3093903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5E38805-25CC-BD15-1FB4-AC5285F73CA1}"/>
                </a:ext>
              </a:extLst>
            </p:cNvPr>
            <p:cNvSpPr txBox="1"/>
            <p:nvPr/>
          </p:nvSpPr>
          <p:spPr>
            <a:xfrm>
              <a:off x="5680807" y="9987019"/>
              <a:ext cx="1846385" cy="604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3330" dirty="0">
                  <a:latin typeface="나눔휴먼OTF Regular" panose="020B0600000101010101" pitchFamily="34" charset="-127"/>
                  <a:ea typeface="나눔휴먼OTF Regular" panose="020B0600000101010101" pitchFamily="34" charset="-127"/>
                </a:rPr>
                <a:t>위치 파악</a:t>
              </a:r>
              <a:endParaRPr lang="ko-KR" altLang="en-US" sz="3330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7BAE0F0-7A86-0957-9793-CBEA1436538B}"/>
                </a:ext>
              </a:extLst>
            </p:cNvPr>
            <p:cNvSpPr txBox="1"/>
            <p:nvPr/>
          </p:nvSpPr>
          <p:spPr>
            <a:xfrm>
              <a:off x="8383507" y="8996630"/>
              <a:ext cx="16374697" cy="17551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프로젝트 초기에 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DAO vs </a:t>
              </a:r>
              <a:r>
                <a:rPr lang="en-US" altLang="ko-KR" sz="3300" dirty="0" err="1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MyBatis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 Mapper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중 어떤 방식을 사용할지 팀 합의가 없었음</a:t>
              </a:r>
            </a:p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각자 익숙한 방식으로 구현하다 보니 동일 도메인의 코드 구조가 달라짐</a:t>
              </a:r>
            </a:p>
          </p:txBody>
        </p:sp>
      </p:grpSp>
      <p:sp>
        <p:nvSpPr>
          <p:cNvPr id="5" name="TextBox 16">
            <a:extLst>
              <a:ext uri="{FF2B5EF4-FFF2-40B4-BE49-F238E27FC236}">
                <a16:creationId xmlns:a16="http://schemas.microsoft.com/office/drawing/2014/main" id="{A456BA7D-B841-7EA0-C963-0681AC6C2213}"/>
              </a:ext>
            </a:extLst>
          </p:cNvPr>
          <p:cNvSpPr txBox="1"/>
          <p:nvPr/>
        </p:nvSpPr>
        <p:spPr>
          <a:xfrm>
            <a:off x="914402" y="942101"/>
            <a:ext cx="194309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개발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트러블 슈팅 </a:t>
            </a:r>
            <a:r>
              <a:rPr lang="en-US" altLang="ko-KR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- DAO / Mapper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혼용으로 인한 </a:t>
            </a:r>
            <a:r>
              <a:rPr lang="ko-KR" altLang="en-US" sz="4000" b="1" spc="-156" dirty="0" err="1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브랜치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 병합 충돌 이슈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E5FF487-9E39-3D95-1B01-E02A2202DBB0}"/>
              </a:ext>
            </a:extLst>
          </p:cNvPr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435935" y="4800600"/>
            <a:ext cx="4549261" cy="59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613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36" name="Picture 5">
            <a:extLst>
              <a:ext uri="{FF2B5EF4-FFF2-40B4-BE49-F238E27FC236}">
                <a16:creationId xmlns:a16="http://schemas.microsoft.com/office/drawing/2014/main" id="{40E41A3A-BE2B-19E1-1D6B-4B3A82D8E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sp>
        <p:nvSpPr>
          <p:cNvPr id="26" name="TextBox 22">
            <a:extLst>
              <a:ext uri="{FF2B5EF4-FFF2-40B4-BE49-F238E27FC236}">
                <a16:creationId xmlns:a16="http://schemas.microsoft.com/office/drawing/2014/main" id="{4A410FDF-8C58-C4A1-ED03-575FAD0DB72E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dirty="0">
                <a:solidFill>
                  <a:srgbClr val="787878"/>
                </a:solidFill>
                <a:latin typeface="Poppins Regular"/>
              </a:rPr>
              <a:t>47</a:t>
            </a:r>
            <a:endParaRPr lang="en" sz="2592" b="0" i="0" u="none" strike="noStrike" dirty="0">
              <a:solidFill>
                <a:srgbClr val="787878"/>
              </a:solidFill>
              <a:latin typeface="Poppins Regular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6825DFB-FB75-7B0D-39B5-5D988B033007}"/>
              </a:ext>
            </a:extLst>
          </p:cNvPr>
          <p:cNvGrpSpPr/>
          <p:nvPr/>
        </p:nvGrpSpPr>
        <p:grpSpPr>
          <a:xfrm>
            <a:off x="6260000" y="4800600"/>
            <a:ext cx="18352600" cy="2790936"/>
            <a:chOff x="5359400" y="4343400"/>
            <a:chExt cx="18352600" cy="3443763"/>
          </a:xfrm>
        </p:grpSpPr>
        <p:pic>
          <p:nvPicPr>
            <p:cNvPr id="60" name="Picture 3">
              <a:extLst>
                <a:ext uri="{FF2B5EF4-FFF2-40B4-BE49-F238E27FC236}">
                  <a16:creationId xmlns:a16="http://schemas.microsoft.com/office/drawing/2014/main" id="{A7872DF8-2B75-40F1-23D0-1C5279A87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1000" y="4343400"/>
              <a:ext cx="14782800" cy="3443763"/>
            </a:xfrm>
            <a:prstGeom prst="rect">
              <a:avLst/>
            </a:prstGeom>
          </p:spPr>
        </p:pic>
        <p:pic>
          <p:nvPicPr>
            <p:cNvPr id="61" name="Picture 3">
              <a:extLst>
                <a:ext uri="{FF2B5EF4-FFF2-40B4-BE49-F238E27FC236}">
                  <a16:creationId xmlns:a16="http://schemas.microsoft.com/office/drawing/2014/main" id="{9FAFCA7B-B637-6C10-B752-A77F5A7EE16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59400" y="4343400"/>
              <a:ext cx="2489200" cy="3443763"/>
            </a:xfrm>
            <a:prstGeom prst="rect">
              <a:avLst/>
            </a:prstGeom>
          </p:spPr>
        </p:pic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01F8568-DE0B-BEC5-8027-DEC97EC17B39}"/>
                </a:ext>
              </a:extLst>
            </p:cNvPr>
            <p:cNvSpPr txBox="1"/>
            <p:nvPr/>
          </p:nvSpPr>
          <p:spPr>
            <a:xfrm>
              <a:off x="5680807" y="5779997"/>
              <a:ext cx="1846385" cy="604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3330" dirty="0">
                  <a:latin typeface="나눔휴먼OTF Regular" panose="020B0600000101010101" pitchFamily="34" charset="-127"/>
                  <a:ea typeface="나눔휴먼OTF Regular" panose="020B0600000101010101" pitchFamily="34" charset="-127"/>
                </a:rPr>
                <a:t>문제 해결 </a:t>
              </a:r>
              <a:endParaRPr lang="ko-KR" altLang="en-US" sz="3330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389654A-E028-893F-D715-75ED70E37BFB}"/>
                </a:ext>
              </a:extLst>
            </p:cNvPr>
            <p:cNvSpPr txBox="1"/>
            <p:nvPr/>
          </p:nvSpPr>
          <p:spPr>
            <a:xfrm>
              <a:off x="8383507" y="4662786"/>
              <a:ext cx="15328493" cy="2315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데이터 접근 계층을 </a:t>
              </a:r>
              <a:r>
                <a:rPr lang="en-US" altLang="ko-KR" sz="3300" dirty="0" err="1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MyBatis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 Mapper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로 전면 통일</a:t>
              </a:r>
            </a:p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  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기존 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DAO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기반 클래스는 모두 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Mapper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구조로 일원화 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(</a:t>
              </a:r>
              <a:r>
                <a:rPr lang="en-US" altLang="ko-KR" sz="3300" dirty="0" err="1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UserDao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 → </a:t>
              </a:r>
              <a:r>
                <a:rPr lang="en-US" altLang="ko-KR" sz="3300" dirty="0" err="1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UserMapper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)</a:t>
              </a:r>
            </a:p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Service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레이어</a:t>
              </a:r>
            </a:p>
            <a:p>
              <a:pPr>
                <a:lnSpc>
                  <a:spcPts val="4400"/>
                </a:lnSpc>
              </a:pP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   모든 서비스에서는 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Mapper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만 </a:t>
              </a:r>
              <a:r>
                <a:rPr lang="ko-KR" altLang="en-US" sz="3300" dirty="0" err="1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주입받도록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 규칙화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E70BEC5-767F-4582-DB77-FD6EB29A7437}"/>
              </a:ext>
            </a:extLst>
          </p:cNvPr>
          <p:cNvGrpSpPr/>
          <p:nvPr/>
        </p:nvGrpSpPr>
        <p:grpSpPr>
          <a:xfrm>
            <a:off x="6260000" y="8393698"/>
            <a:ext cx="17722404" cy="2217528"/>
            <a:chOff x="5359400" y="8498362"/>
            <a:chExt cx="17722404" cy="2245838"/>
          </a:xfrm>
        </p:grpSpPr>
        <p:pic>
          <p:nvPicPr>
            <p:cNvPr id="62" name="Picture 3">
              <a:extLst>
                <a:ext uri="{FF2B5EF4-FFF2-40B4-BE49-F238E27FC236}">
                  <a16:creationId xmlns:a16="http://schemas.microsoft.com/office/drawing/2014/main" id="{DD2D0B27-EEB4-FF57-EABF-C5D1B860892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1000" y="8498362"/>
              <a:ext cx="14782800" cy="2245838"/>
            </a:xfrm>
            <a:prstGeom prst="rect">
              <a:avLst/>
            </a:prstGeom>
          </p:spPr>
        </p:pic>
        <p:pic>
          <p:nvPicPr>
            <p:cNvPr id="63" name="Picture 3">
              <a:extLst>
                <a:ext uri="{FF2B5EF4-FFF2-40B4-BE49-F238E27FC236}">
                  <a16:creationId xmlns:a16="http://schemas.microsoft.com/office/drawing/2014/main" id="{A169BCC9-509F-37F8-BD87-BC8722F28C5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59400" y="8498362"/>
              <a:ext cx="2489200" cy="2245838"/>
            </a:xfrm>
            <a:prstGeom prst="rect">
              <a:avLst/>
            </a:prstGeom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54EC221-96BC-A7B7-A4BE-B310E9E0805E}"/>
                </a:ext>
              </a:extLst>
            </p:cNvPr>
            <p:cNvSpPr txBox="1"/>
            <p:nvPr/>
          </p:nvSpPr>
          <p:spPr>
            <a:xfrm>
              <a:off x="5680807" y="9492520"/>
              <a:ext cx="1846385" cy="604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3330" dirty="0">
                  <a:latin typeface="나눔휴먼OTF Regular" panose="020B0600000101010101" pitchFamily="34" charset="-127"/>
                  <a:ea typeface="나눔휴먼OTF Regular" panose="020B0600000101010101" pitchFamily="34" charset="-127"/>
                </a:rPr>
                <a:t>해결 확인 </a:t>
              </a:r>
              <a:endParaRPr lang="ko-KR" altLang="en-US" sz="333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3569240-76DD-C137-24BC-A0B18885A359}"/>
                </a:ext>
              </a:extLst>
            </p:cNvPr>
            <p:cNvSpPr txBox="1"/>
            <p:nvPr/>
          </p:nvSpPr>
          <p:spPr>
            <a:xfrm>
              <a:off x="8383507" y="8748424"/>
              <a:ext cx="14698297" cy="14332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병합 시 동일한 구조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/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네이밍을 사용하게 되어 충돌 및 컴파일 오류 감소</a:t>
              </a:r>
            </a:p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팀 전체가 동일한 계층 구조를 사용하므로 코드 이해 속도가 빨라지고 협업 효율 증가</a:t>
              </a:r>
            </a:p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신규 기능 개발 시에도 혼란 없이 유지보수성과 확장성이 향상됨</a:t>
              </a: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04FF0966-8B39-35AF-A2F4-8EDE3209ECAA}"/>
              </a:ext>
            </a:extLst>
          </p:cNvPr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435935" y="4724400"/>
            <a:ext cx="5443065" cy="5946400"/>
          </a:xfrm>
          <a:prstGeom prst="rect">
            <a:avLst/>
          </a:prstGeom>
        </p:spPr>
      </p:pic>
      <p:sp>
        <p:nvSpPr>
          <p:cNvPr id="5" name="TextBox 16">
            <a:extLst>
              <a:ext uri="{FF2B5EF4-FFF2-40B4-BE49-F238E27FC236}">
                <a16:creationId xmlns:a16="http://schemas.microsoft.com/office/drawing/2014/main" id="{D5A29F93-1D47-EB06-F75F-EE06CE85DED4}"/>
              </a:ext>
            </a:extLst>
          </p:cNvPr>
          <p:cNvSpPr txBox="1"/>
          <p:nvPr/>
        </p:nvSpPr>
        <p:spPr>
          <a:xfrm>
            <a:off x="914402" y="942101"/>
            <a:ext cx="194309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개발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트러블 슈팅 </a:t>
            </a:r>
            <a:r>
              <a:rPr lang="en-US" altLang="ko-KR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- DAO / Mapper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혼용으로 인한 </a:t>
            </a:r>
            <a:r>
              <a:rPr lang="ko-KR" altLang="en-US" sz="4000" b="1" spc="-156" dirty="0" err="1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브랜치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 병합 충돌 이슈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11244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29" name="TextBox 16">
            <a:extLst>
              <a:ext uri="{FF2B5EF4-FFF2-40B4-BE49-F238E27FC236}">
                <a16:creationId xmlns:a16="http://schemas.microsoft.com/office/drawing/2014/main" id="{34FF058A-38ED-74ED-D67F-8388871A6DC9}"/>
              </a:ext>
            </a:extLst>
          </p:cNvPr>
          <p:cNvSpPr txBox="1"/>
          <p:nvPr/>
        </p:nvSpPr>
        <p:spPr>
          <a:xfrm>
            <a:off x="914402" y="942101"/>
            <a:ext cx="170687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개발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트러블 슈팅 </a:t>
            </a:r>
            <a:r>
              <a:rPr lang="en-US" altLang="ko-KR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–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카카오 </a:t>
            </a:r>
            <a:r>
              <a:rPr lang="en-US" altLang="ko-KR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API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데이터 정제 및 필터링 이슈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36" name="Picture 5">
            <a:extLst>
              <a:ext uri="{FF2B5EF4-FFF2-40B4-BE49-F238E27FC236}">
                <a16:creationId xmlns:a16="http://schemas.microsoft.com/office/drawing/2014/main" id="{40E41A3A-BE2B-19E1-1D6B-4B3A82D8E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sp>
        <p:nvSpPr>
          <p:cNvPr id="26" name="TextBox 22">
            <a:extLst>
              <a:ext uri="{FF2B5EF4-FFF2-40B4-BE49-F238E27FC236}">
                <a16:creationId xmlns:a16="http://schemas.microsoft.com/office/drawing/2014/main" id="{4A410FDF-8C58-C4A1-ED03-575FAD0DB72E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dirty="0">
                <a:solidFill>
                  <a:srgbClr val="787878"/>
                </a:solidFill>
                <a:latin typeface="Poppins Regular"/>
              </a:rPr>
              <a:t>48</a:t>
            </a:r>
            <a:endParaRPr lang="en" sz="2592" b="0" i="0" u="none" strike="noStrike" dirty="0">
              <a:solidFill>
                <a:srgbClr val="787878"/>
              </a:solidFill>
              <a:latin typeface="Poppins Regular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6C95A66-2DE3-C391-848D-8857C50CA907}"/>
              </a:ext>
            </a:extLst>
          </p:cNvPr>
          <p:cNvGrpSpPr/>
          <p:nvPr/>
        </p:nvGrpSpPr>
        <p:grpSpPr>
          <a:xfrm>
            <a:off x="5359400" y="3276600"/>
            <a:ext cx="18352600" cy="2666387"/>
            <a:chOff x="5359400" y="2966598"/>
            <a:chExt cx="18352600" cy="2666387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318191DA-EEFA-2432-18AA-5EB8408AE44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1000" y="2966598"/>
              <a:ext cx="15711000" cy="2666387"/>
            </a:xfrm>
            <a:prstGeom prst="rect">
              <a:avLst/>
            </a:prstGeom>
          </p:spPr>
        </p:pic>
        <p:pic>
          <p:nvPicPr>
            <p:cNvPr id="50" name="Picture 3">
              <a:extLst>
                <a:ext uri="{FF2B5EF4-FFF2-40B4-BE49-F238E27FC236}">
                  <a16:creationId xmlns:a16="http://schemas.microsoft.com/office/drawing/2014/main" id="{758335EC-CBCC-08F6-3D08-C97095C89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59400" y="2966598"/>
              <a:ext cx="2489200" cy="2666387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037BD7F-33C2-98A1-0828-FB111CC69FD7}"/>
                </a:ext>
              </a:extLst>
            </p:cNvPr>
            <p:cNvSpPr txBox="1"/>
            <p:nvPr/>
          </p:nvSpPr>
          <p:spPr>
            <a:xfrm>
              <a:off x="5680807" y="4038600"/>
              <a:ext cx="1846385" cy="604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3330" dirty="0">
                  <a:latin typeface="나눔휴먼OTF Regular" panose="020B0600000101010101" pitchFamily="34" charset="-127"/>
                  <a:ea typeface="나눔휴먼OTF Regular" panose="020B0600000101010101" pitchFamily="34" charset="-127"/>
                </a:rPr>
                <a:t>문제 확인 </a:t>
              </a:r>
              <a:endParaRPr lang="ko-KR" altLang="en-US" sz="333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0E6D984-A884-26E8-9AEF-FD91F08087DD}"/>
                </a:ext>
              </a:extLst>
            </p:cNvPr>
            <p:cNvSpPr txBox="1"/>
            <p:nvPr/>
          </p:nvSpPr>
          <p:spPr>
            <a:xfrm>
              <a:off x="8383507" y="3225582"/>
              <a:ext cx="15328493" cy="2315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Kakao Local API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의 키워드 검색 결과에 </a:t>
              </a:r>
              <a:r>
                <a:rPr lang="ko-KR" altLang="en-US" sz="3300" dirty="0" err="1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풋살장과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 무관한 장소가 다수 포함되어 데이터 </a:t>
              </a:r>
              <a:endPara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endParaRPr>
            </a:p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 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적합성이 낮은 문제 발생</a:t>
              </a:r>
              <a:endPara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endParaRPr>
            </a:p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불필요한 장소 정보까지 모두 지도에 마커로 표시되면서 지도 렌더링 성능 저하 및 사용자 </a:t>
              </a:r>
              <a:endPara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endParaRPr>
            </a:p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 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혼란 야기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502DD9E-04F1-76B0-1CB0-2422A5110AB8}"/>
              </a:ext>
            </a:extLst>
          </p:cNvPr>
          <p:cNvGrpSpPr/>
          <p:nvPr/>
        </p:nvGrpSpPr>
        <p:grpSpPr>
          <a:xfrm>
            <a:off x="5359400" y="6709959"/>
            <a:ext cx="18352600" cy="1600200"/>
            <a:chOff x="5359400" y="6633530"/>
            <a:chExt cx="18352600" cy="1600200"/>
          </a:xfrm>
        </p:grpSpPr>
        <p:pic>
          <p:nvPicPr>
            <p:cNvPr id="58" name="Picture 3">
              <a:extLst>
                <a:ext uri="{FF2B5EF4-FFF2-40B4-BE49-F238E27FC236}">
                  <a16:creationId xmlns:a16="http://schemas.microsoft.com/office/drawing/2014/main" id="{440DB396-B12E-D2EF-8DD9-87FD4E36B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1000" y="6633530"/>
              <a:ext cx="15711000" cy="1600200"/>
            </a:xfrm>
            <a:prstGeom prst="rect">
              <a:avLst/>
            </a:prstGeom>
          </p:spPr>
        </p:pic>
        <p:pic>
          <p:nvPicPr>
            <p:cNvPr id="59" name="Picture 3">
              <a:extLst>
                <a:ext uri="{FF2B5EF4-FFF2-40B4-BE49-F238E27FC236}">
                  <a16:creationId xmlns:a16="http://schemas.microsoft.com/office/drawing/2014/main" id="{C15F4158-E9D7-54AC-5DE4-3EDCE4080F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59400" y="6633530"/>
              <a:ext cx="2489200" cy="1600200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84AFCAB-B893-1D6C-BCCE-DA2323DDC40D}"/>
                </a:ext>
              </a:extLst>
            </p:cNvPr>
            <p:cNvSpPr txBox="1"/>
            <p:nvPr/>
          </p:nvSpPr>
          <p:spPr>
            <a:xfrm>
              <a:off x="5680807" y="7111119"/>
              <a:ext cx="1846385" cy="604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3330" dirty="0">
                  <a:latin typeface="나눔휴먼OTF Regular" panose="020B0600000101010101" pitchFamily="34" charset="-127"/>
                  <a:ea typeface="나눔휴먼OTF Regular" panose="020B0600000101010101" pitchFamily="34" charset="-127"/>
                </a:rPr>
                <a:t>문제 공유</a:t>
              </a:r>
              <a:endParaRPr lang="ko-KR" altLang="en-US" sz="333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2AD61E8-35B3-0983-9719-453FF479DA0B}"/>
                </a:ext>
              </a:extLst>
            </p:cNvPr>
            <p:cNvSpPr txBox="1"/>
            <p:nvPr/>
          </p:nvSpPr>
          <p:spPr>
            <a:xfrm>
              <a:off x="8383507" y="7111119"/>
              <a:ext cx="11489593" cy="604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현상 캡처 및 오류 내용을 팀과 공유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CFE558F-B276-61F4-11EC-AA09734C8B98}"/>
              </a:ext>
            </a:extLst>
          </p:cNvPr>
          <p:cNvGrpSpPr/>
          <p:nvPr/>
        </p:nvGrpSpPr>
        <p:grpSpPr>
          <a:xfrm>
            <a:off x="5359400" y="9077131"/>
            <a:ext cx="19398804" cy="3285768"/>
            <a:chOff x="5359400" y="8767129"/>
            <a:chExt cx="19398804" cy="3109007"/>
          </a:xfrm>
        </p:grpSpPr>
        <p:pic>
          <p:nvPicPr>
            <p:cNvPr id="64" name="Picture 3">
              <a:extLst>
                <a:ext uri="{FF2B5EF4-FFF2-40B4-BE49-F238E27FC236}">
                  <a16:creationId xmlns:a16="http://schemas.microsoft.com/office/drawing/2014/main" id="{F38272B2-B521-DDF3-CAEE-DBA9477C8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1000" y="8767129"/>
              <a:ext cx="15711000" cy="3093903"/>
            </a:xfrm>
            <a:prstGeom prst="rect">
              <a:avLst/>
            </a:prstGeom>
          </p:spPr>
        </p:pic>
        <p:pic>
          <p:nvPicPr>
            <p:cNvPr id="65" name="Picture 3">
              <a:extLst>
                <a:ext uri="{FF2B5EF4-FFF2-40B4-BE49-F238E27FC236}">
                  <a16:creationId xmlns:a16="http://schemas.microsoft.com/office/drawing/2014/main" id="{67EB6F64-EE0F-36C9-FDAA-F982AAF9D5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59400" y="8767129"/>
              <a:ext cx="2489200" cy="3093903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5E38805-25CC-BD15-1FB4-AC5285F73CA1}"/>
                </a:ext>
              </a:extLst>
            </p:cNvPr>
            <p:cNvSpPr txBox="1"/>
            <p:nvPr/>
          </p:nvSpPr>
          <p:spPr>
            <a:xfrm>
              <a:off x="5680807" y="9987019"/>
              <a:ext cx="1846385" cy="604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3330" dirty="0">
                  <a:latin typeface="나눔휴먼OTF Regular" panose="020B0600000101010101" pitchFamily="34" charset="-127"/>
                  <a:ea typeface="나눔휴먼OTF Regular" panose="020B0600000101010101" pitchFamily="34" charset="-127"/>
                </a:rPr>
                <a:t>위치 파악</a:t>
              </a:r>
              <a:endParaRPr lang="ko-KR" altLang="en-US" sz="3330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7BAE0F0-7A86-0957-9793-CBEA1436538B}"/>
                </a:ext>
              </a:extLst>
            </p:cNvPr>
            <p:cNvSpPr txBox="1"/>
            <p:nvPr/>
          </p:nvSpPr>
          <p:spPr>
            <a:xfrm>
              <a:off x="8383507" y="8996630"/>
              <a:ext cx="16374697" cy="28795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키워드 검색이 너무 포괄적이어서 관계없는 장소들이 함께 반환됨</a:t>
              </a:r>
              <a:endPara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endParaRPr>
            </a:p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API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에서 제공하는 </a:t>
              </a:r>
              <a:r>
                <a:rPr lang="en-US" altLang="ko-KR" sz="3300" dirty="0" err="1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place_name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, </a:t>
              </a:r>
              <a:r>
                <a:rPr lang="en-US" altLang="ko-KR" sz="3300" dirty="0" err="1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category_name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등에 정확한 종목 구분이 없어</a:t>
              </a:r>
              <a:endPara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endParaRPr>
            </a:p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 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후처리가 필요함</a:t>
              </a:r>
              <a:endPara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endParaRPr>
            </a:p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필터링 없이 전체 데이터를 바로 지도에 마커로 표시하는 구조라 과도한 마커 생성 문제가</a:t>
              </a:r>
              <a:endPara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endParaRPr>
            </a:p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 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확인됨</a:t>
              </a:r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8FA9ED94-54EF-5A23-0E5A-FD73538EB7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831" y="4739163"/>
            <a:ext cx="4067175" cy="575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0538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36" name="Picture 5">
            <a:extLst>
              <a:ext uri="{FF2B5EF4-FFF2-40B4-BE49-F238E27FC236}">
                <a16:creationId xmlns:a16="http://schemas.microsoft.com/office/drawing/2014/main" id="{40E41A3A-BE2B-19E1-1D6B-4B3A82D8E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sp>
        <p:nvSpPr>
          <p:cNvPr id="26" name="TextBox 22">
            <a:extLst>
              <a:ext uri="{FF2B5EF4-FFF2-40B4-BE49-F238E27FC236}">
                <a16:creationId xmlns:a16="http://schemas.microsoft.com/office/drawing/2014/main" id="{4A410FDF-8C58-C4A1-ED03-575FAD0DB72E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dirty="0">
                <a:solidFill>
                  <a:srgbClr val="787878"/>
                </a:solidFill>
                <a:latin typeface="Poppins Regular"/>
              </a:rPr>
              <a:t>49</a:t>
            </a:r>
            <a:endParaRPr lang="en" sz="2592" b="0" i="0" u="none" strike="noStrike" dirty="0">
              <a:solidFill>
                <a:srgbClr val="787878"/>
              </a:solidFill>
              <a:latin typeface="Poppins Regular"/>
            </a:endParaRPr>
          </a:p>
        </p:txBody>
      </p:sp>
      <p:pic>
        <p:nvPicPr>
          <p:cNvPr id="60" name="Picture 3">
            <a:extLst>
              <a:ext uri="{FF2B5EF4-FFF2-40B4-BE49-F238E27FC236}">
                <a16:creationId xmlns:a16="http://schemas.microsoft.com/office/drawing/2014/main" id="{A7872DF8-2B75-40F1-23D0-1C5279A87E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3581400"/>
            <a:ext cx="15711000" cy="5753100"/>
          </a:xfrm>
          <a:prstGeom prst="rect">
            <a:avLst/>
          </a:prstGeom>
        </p:spPr>
      </p:pic>
      <p:pic>
        <p:nvPicPr>
          <p:cNvPr id="61" name="Picture 3">
            <a:extLst>
              <a:ext uri="{FF2B5EF4-FFF2-40B4-BE49-F238E27FC236}">
                <a16:creationId xmlns:a16="http://schemas.microsoft.com/office/drawing/2014/main" id="{9FAFCA7B-B637-6C10-B752-A77F5A7EE1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9400" y="3581400"/>
            <a:ext cx="2489200" cy="5753100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901F8568-DE0B-BEC5-8027-DEC97EC17B39}"/>
              </a:ext>
            </a:extLst>
          </p:cNvPr>
          <p:cNvSpPr txBox="1"/>
          <p:nvPr/>
        </p:nvSpPr>
        <p:spPr>
          <a:xfrm>
            <a:off x="5680807" y="6177019"/>
            <a:ext cx="1846385" cy="604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33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문제 해결 </a:t>
            </a:r>
            <a:endParaRPr lang="ko-KR" altLang="en-US" sz="333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389654A-E028-893F-D715-75ED70E37BFB}"/>
              </a:ext>
            </a:extLst>
          </p:cNvPr>
          <p:cNvSpPr txBox="1"/>
          <p:nvPr/>
        </p:nvSpPr>
        <p:spPr>
          <a:xfrm>
            <a:off x="8383507" y="3900786"/>
            <a:ext cx="15328493" cy="5136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400"/>
              </a:lnSpc>
            </a:pP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• 1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차 필터링 강화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(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검색 단계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)</a:t>
            </a:r>
          </a:p>
          <a:p>
            <a:pPr>
              <a:lnSpc>
                <a:spcPts val="4400"/>
              </a:lnSpc>
            </a:pP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   단일 키워드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("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경기장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") →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다중 종목 기반 키워드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("</a:t>
            </a:r>
            <a:r>
              <a:rPr lang="ko-KR" altLang="en-US" sz="3300" dirty="0" err="1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풋살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", "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축구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”, "Soccer", "Futsal")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로    </a:t>
            </a:r>
            <a:endParaRPr lang="en-US" altLang="ko-KR" sz="3300" dirty="0">
              <a:latin typeface="나눔휴먼OTF Light" panose="020B0600000101010101" pitchFamily="34" charset="-127"/>
              <a:ea typeface="나눔휴먼OTF Light" panose="020B0600000101010101" pitchFamily="34" charset="-127"/>
            </a:endParaRPr>
          </a:p>
          <a:p>
            <a:pPr>
              <a:lnSpc>
                <a:spcPts val="4400"/>
              </a:lnSpc>
            </a:pP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  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검색 로직 개선 </a:t>
            </a:r>
          </a:p>
          <a:p>
            <a:pPr>
              <a:lnSpc>
                <a:spcPts val="4400"/>
              </a:lnSpc>
            </a:pP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•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후처리 필터링 로직 추가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(</a:t>
            </a:r>
            <a:r>
              <a:rPr lang="ko-KR" altLang="en-US" sz="3300" dirty="0" err="1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백엔드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 데이터 정제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)</a:t>
            </a:r>
          </a:p>
          <a:p>
            <a:pPr>
              <a:lnSpc>
                <a:spcPts val="4400"/>
              </a:lnSpc>
            </a:pP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   API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응답의 </a:t>
            </a:r>
            <a:r>
              <a:rPr lang="en-US" altLang="ko-KR" sz="3300" dirty="0" err="1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place_name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, </a:t>
            </a:r>
            <a:r>
              <a:rPr lang="en-US" altLang="ko-KR" sz="3300" dirty="0" err="1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category_name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분석</a:t>
            </a:r>
          </a:p>
          <a:p>
            <a:pPr>
              <a:lnSpc>
                <a:spcPts val="4400"/>
              </a:lnSpc>
            </a:pP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   서비스 핵심 종목과 관련 없는 장소는 제거하는 </a:t>
            </a:r>
            <a:r>
              <a:rPr lang="ko-KR" altLang="en-US" sz="3300" dirty="0" err="1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백엔드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 필터링 로직 구현</a:t>
            </a:r>
          </a:p>
          <a:p>
            <a:pPr>
              <a:lnSpc>
                <a:spcPts val="4400"/>
              </a:lnSpc>
            </a:pP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•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데이터 모델 통일</a:t>
            </a:r>
          </a:p>
          <a:p>
            <a:pPr>
              <a:lnSpc>
                <a:spcPts val="4400"/>
              </a:lnSpc>
            </a:pP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   </a:t>
            </a:r>
            <a:r>
              <a:rPr lang="ko-KR" altLang="en-US" sz="3300" dirty="0" err="1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필터링된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 정보만 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Stadium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엔티티로 변환 및 저장하도록 구조 변경</a:t>
            </a:r>
          </a:p>
          <a:p>
            <a:pPr>
              <a:lnSpc>
                <a:spcPts val="4400"/>
              </a:lnSpc>
            </a:pP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   DB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에는 정확한 구장 정보만 유지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,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프론트에는 정제된 데이터만 전달되도록 구성</a:t>
            </a:r>
          </a:p>
        </p:txBody>
      </p:sp>
      <p:pic>
        <p:nvPicPr>
          <p:cNvPr id="62" name="Picture 3">
            <a:extLst>
              <a:ext uri="{FF2B5EF4-FFF2-40B4-BE49-F238E27FC236}">
                <a16:creationId xmlns:a16="http://schemas.microsoft.com/office/drawing/2014/main" id="{DD2D0B27-EEB4-FF57-EABF-C5D1B86089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9753600"/>
            <a:ext cx="15711000" cy="2245838"/>
          </a:xfrm>
          <a:prstGeom prst="rect">
            <a:avLst/>
          </a:prstGeom>
        </p:spPr>
      </p:pic>
      <p:pic>
        <p:nvPicPr>
          <p:cNvPr id="63" name="Picture 3">
            <a:extLst>
              <a:ext uri="{FF2B5EF4-FFF2-40B4-BE49-F238E27FC236}">
                <a16:creationId xmlns:a16="http://schemas.microsoft.com/office/drawing/2014/main" id="{A169BCC9-509F-37F8-BD87-BC8722F28C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9400" y="9753600"/>
            <a:ext cx="2489200" cy="2245838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854EC221-96BC-A7B7-A4BE-B310E9E0805E}"/>
              </a:ext>
            </a:extLst>
          </p:cNvPr>
          <p:cNvSpPr txBox="1"/>
          <p:nvPr/>
        </p:nvSpPr>
        <p:spPr>
          <a:xfrm>
            <a:off x="5680807" y="10596619"/>
            <a:ext cx="1846385" cy="604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33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해결 확인 </a:t>
            </a:r>
            <a:endParaRPr lang="ko-KR" altLang="en-US" sz="333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3569240-76DD-C137-24BC-A0B18885A359}"/>
              </a:ext>
            </a:extLst>
          </p:cNvPr>
          <p:cNvSpPr txBox="1"/>
          <p:nvPr/>
        </p:nvSpPr>
        <p:spPr>
          <a:xfrm>
            <a:off x="8383507" y="10003662"/>
            <a:ext cx="14698297" cy="1750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400"/>
              </a:lnSpc>
            </a:pP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•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지도에 표시되는 마커 수가 필요한 구장 정보만으로 제한되어 렌더링 속도 개선</a:t>
            </a:r>
          </a:p>
          <a:p>
            <a:pPr>
              <a:lnSpc>
                <a:spcPts val="4400"/>
              </a:lnSpc>
            </a:pP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•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사용자가 원하는 구장만 정확히 표시되어 검색 정확도 및 사용자 경험 향상</a:t>
            </a:r>
          </a:p>
          <a:p>
            <a:pPr>
              <a:lnSpc>
                <a:spcPts val="4400"/>
              </a:lnSpc>
            </a:pP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•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데이터베이스에도 정제된 구장 데이터만 저장되는 구조로 안정화 확인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FA9ED94-54EF-5A23-0E5A-FD73538EB7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831" y="4739163"/>
            <a:ext cx="4067175" cy="5753100"/>
          </a:xfrm>
          <a:prstGeom prst="rect">
            <a:avLst/>
          </a:prstGeom>
        </p:spPr>
      </p:pic>
      <p:sp>
        <p:nvSpPr>
          <p:cNvPr id="4" name="TextBox 16">
            <a:extLst>
              <a:ext uri="{FF2B5EF4-FFF2-40B4-BE49-F238E27FC236}">
                <a16:creationId xmlns:a16="http://schemas.microsoft.com/office/drawing/2014/main" id="{5CA7500F-E511-D253-F126-2B3915CA850F}"/>
              </a:ext>
            </a:extLst>
          </p:cNvPr>
          <p:cNvSpPr txBox="1"/>
          <p:nvPr/>
        </p:nvSpPr>
        <p:spPr>
          <a:xfrm>
            <a:off x="914402" y="942101"/>
            <a:ext cx="170687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개발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트러블 슈팅 </a:t>
            </a:r>
            <a:r>
              <a:rPr lang="en-US" altLang="ko-KR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–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카카오 </a:t>
            </a:r>
            <a:r>
              <a:rPr lang="en-US" altLang="ko-KR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API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데이터 정제 및 필터링 이슈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94277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36" name="Picture 5">
            <a:extLst>
              <a:ext uri="{FF2B5EF4-FFF2-40B4-BE49-F238E27FC236}">
                <a16:creationId xmlns:a16="http://schemas.microsoft.com/office/drawing/2014/main" id="{40E41A3A-BE2B-19E1-1D6B-4B3A82D8E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sp>
        <p:nvSpPr>
          <p:cNvPr id="26" name="TextBox 22">
            <a:extLst>
              <a:ext uri="{FF2B5EF4-FFF2-40B4-BE49-F238E27FC236}">
                <a16:creationId xmlns:a16="http://schemas.microsoft.com/office/drawing/2014/main" id="{4A410FDF-8C58-C4A1-ED03-575FAD0DB72E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dirty="0">
                <a:solidFill>
                  <a:srgbClr val="787878"/>
                </a:solidFill>
                <a:latin typeface="Poppins Regular"/>
              </a:rPr>
              <a:t>50</a:t>
            </a:r>
            <a:endParaRPr lang="en" sz="2592" b="0" i="0" u="none" strike="noStrike" dirty="0">
              <a:solidFill>
                <a:srgbClr val="787878"/>
              </a:solidFill>
              <a:latin typeface="Poppins Regular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6C95A66-2DE3-C391-848D-8857C50CA907}"/>
              </a:ext>
            </a:extLst>
          </p:cNvPr>
          <p:cNvGrpSpPr/>
          <p:nvPr/>
        </p:nvGrpSpPr>
        <p:grpSpPr>
          <a:xfrm>
            <a:off x="5359400" y="3962400"/>
            <a:ext cx="18352600" cy="2091966"/>
            <a:chOff x="5359400" y="2966598"/>
            <a:chExt cx="18352600" cy="2666387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318191DA-EEFA-2432-18AA-5EB8408AE44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1000" y="2966598"/>
              <a:ext cx="15711000" cy="2666387"/>
            </a:xfrm>
            <a:prstGeom prst="rect">
              <a:avLst/>
            </a:prstGeom>
          </p:spPr>
        </p:pic>
        <p:pic>
          <p:nvPicPr>
            <p:cNvPr id="50" name="Picture 3">
              <a:extLst>
                <a:ext uri="{FF2B5EF4-FFF2-40B4-BE49-F238E27FC236}">
                  <a16:creationId xmlns:a16="http://schemas.microsoft.com/office/drawing/2014/main" id="{758335EC-CBCC-08F6-3D08-C97095C89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59400" y="2966598"/>
              <a:ext cx="2489200" cy="2666387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037BD7F-33C2-98A1-0828-FB111CC69FD7}"/>
                </a:ext>
              </a:extLst>
            </p:cNvPr>
            <p:cNvSpPr txBox="1"/>
            <p:nvPr/>
          </p:nvSpPr>
          <p:spPr>
            <a:xfrm>
              <a:off x="5680807" y="4038600"/>
              <a:ext cx="1846385" cy="604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3330" dirty="0">
                  <a:latin typeface="나눔휴먼OTF Regular" panose="020B0600000101010101" pitchFamily="34" charset="-127"/>
                  <a:ea typeface="나눔휴먼OTF Regular" panose="020B0600000101010101" pitchFamily="34" charset="-127"/>
                </a:rPr>
                <a:t>문제 확인 </a:t>
              </a:r>
              <a:endParaRPr lang="ko-KR" altLang="en-US" sz="333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0E6D984-A884-26E8-9AEF-FD91F08087DD}"/>
                </a:ext>
              </a:extLst>
            </p:cNvPr>
            <p:cNvSpPr txBox="1"/>
            <p:nvPr/>
          </p:nvSpPr>
          <p:spPr>
            <a:xfrm>
              <a:off x="8383507" y="3225582"/>
              <a:ext cx="15328493" cy="22317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유저가 어디까지 댓글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/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채팅을 읽었는지 기록할 구조가 없어 “새 댓글 있음” 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/ “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안 읽은 채팅</a:t>
              </a:r>
              <a:endPara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endParaRPr>
            </a:p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 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 수” 계산이 불가능</a:t>
              </a:r>
            </a:p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전체 메시지를 매번 조회하는 비효율 발생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502DD9E-04F1-76B0-1CB0-2422A5110AB8}"/>
              </a:ext>
            </a:extLst>
          </p:cNvPr>
          <p:cNvGrpSpPr/>
          <p:nvPr/>
        </p:nvGrpSpPr>
        <p:grpSpPr>
          <a:xfrm>
            <a:off x="5359400" y="6823434"/>
            <a:ext cx="18415000" cy="1897853"/>
            <a:chOff x="5359400" y="6633530"/>
            <a:chExt cx="18415000" cy="1600200"/>
          </a:xfrm>
        </p:grpSpPr>
        <p:pic>
          <p:nvPicPr>
            <p:cNvPr id="58" name="Picture 3">
              <a:extLst>
                <a:ext uri="{FF2B5EF4-FFF2-40B4-BE49-F238E27FC236}">
                  <a16:creationId xmlns:a16="http://schemas.microsoft.com/office/drawing/2014/main" id="{440DB396-B12E-D2EF-8DD9-87FD4E36B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1000" y="6633530"/>
              <a:ext cx="15711000" cy="1600200"/>
            </a:xfrm>
            <a:prstGeom prst="rect">
              <a:avLst/>
            </a:prstGeom>
          </p:spPr>
        </p:pic>
        <p:pic>
          <p:nvPicPr>
            <p:cNvPr id="59" name="Picture 3">
              <a:extLst>
                <a:ext uri="{FF2B5EF4-FFF2-40B4-BE49-F238E27FC236}">
                  <a16:creationId xmlns:a16="http://schemas.microsoft.com/office/drawing/2014/main" id="{C15F4158-E9D7-54AC-5DE4-3EDCE4080F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59400" y="6633530"/>
              <a:ext cx="2489200" cy="1600200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84AFCAB-B893-1D6C-BCCE-DA2323DDC40D}"/>
                </a:ext>
              </a:extLst>
            </p:cNvPr>
            <p:cNvSpPr txBox="1"/>
            <p:nvPr/>
          </p:nvSpPr>
          <p:spPr>
            <a:xfrm>
              <a:off x="5680807" y="7111119"/>
              <a:ext cx="1846385" cy="604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3330" dirty="0">
                  <a:latin typeface="나눔휴먼OTF Regular" panose="020B0600000101010101" pitchFamily="34" charset="-127"/>
                  <a:ea typeface="나눔휴먼OTF Regular" panose="020B0600000101010101" pitchFamily="34" charset="-127"/>
                </a:rPr>
                <a:t>문제 공유</a:t>
              </a:r>
              <a:endParaRPr lang="ko-KR" altLang="en-US" sz="333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2AD61E8-35B3-0983-9719-453FF479DA0B}"/>
                </a:ext>
              </a:extLst>
            </p:cNvPr>
            <p:cNvSpPr txBox="1"/>
            <p:nvPr/>
          </p:nvSpPr>
          <p:spPr>
            <a:xfrm>
              <a:off x="8410738" y="6781571"/>
              <a:ext cx="15363662" cy="13624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읽음 상태를 저장하는 컬럼 부재</a:t>
              </a:r>
              <a:endPara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endParaRPr>
            </a:p>
            <a:p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페이지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진입 전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/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후 읽음 구분 어려움</a:t>
              </a:r>
              <a:endPara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endParaRPr>
            </a:p>
            <a:p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프론트에서 요구하는 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“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안 읽은 개수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“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로직을 구현 할 기준점 부족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1CFE558F-B276-61F4-11EC-AA09734C8B98}"/>
              </a:ext>
            </a:extLst>
          </p:cNvPr>
          <p:cNvGrpSpPr/>
          <p:nvPr/>
        </p:nvGrpSpPr>
        <p:grpSpPr>
          <a:xfrm>
            <a:off x="5359400" y="9414233"/>
            <a:ext cx="19398804" cy="2091967"/>
            <a:chOff x="5359400" y="8767129"/>
            <a:chExt cx="19398804" cy="3093903"/>
          </a:xfrm>
        </p:grpSpPr>
        <p:pic>
          <p:nvPicPr>
            <p:cNvPr id="64" name="Picture 3">
              <a:extLst>
                <a:ext uri="{FF2B5EF4-FFF2-40B4-BE49-F238E27FC236}">
                  <a16:creationId xmlns:a16="http://schemas.microsoft.com/office/drawing/2014/main" id="{F38272B2-B521-DDF3-CAEE-DBA9477C8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1000" y="8767129"/>
              <a:ext cx="15711000" cy="3093903"/>
            </a:xfrm>
            <a:prstGeom prst="rect">
              <a:avLst/>
            </a:prstGeom>
          </p:spPr>
        </p:pic>
        <p:pic>
          <p:nvPicPr>
            <p:cNvPr id="65" name="Picture 3">
              <a:extLst>
                <a:ext uri="{FF2B5EF4-FFF2-40B4-BE49-F238E27FC236}">
                  <a16:creationId xmlns:a16="http://schemas.microsoft.com/office/drawing/2014/main" id="{67EB6F64-EE0F-36C9-FDAA-F982AAF9D5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59400" y="8767129"/>
              <a:ext cx="2489200" cy="3093903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5E38805-25CC-BD15-1FB4-AC5285F73CA1}"/>
                </a:ext>
              </a:extLst>
            </p:cNvPr>
            <p:cNvSpPr txBox="1"/>
            <p:nvPr/>
          </p:nvSpPr>
          <p:spPr>
            <a:xfrm>
              <a:off x="5680807" y="9987019"/>
              <a:ext cx="1846385" cy="6047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3330" dirty="0">
                  <a:latin typeface="나눔휴먼OTF Regular" panose="020B0600000101010101" pitchFamily="34" charset="-127"/>
                  <a:ea typeface="나눔휴먼OTF Regular" panose="020B0600000101010101" pitchFamily="34" charset="-127"/>
                </a:rPr>
                <a:t>위치 파악</a:t>
              </a:r>
              <a:endParaRPr lang="ko-KR" altLang="en-US" sz="3330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7BAE0F0-7A86-0957-9793-CBEA1436538B}"/>
                </a:ext>
              </a:extLst>
            </p:cNvPr>
            <p:cNvSpPr txBox="1"/>
            <p:nvPr/>
          </p:nvSpPr>
          <p:spPr>
            <a:xfrm>
              <a:off x="8383507" y="8996630"/>
              <a:ext cx="16374697" cy="25896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댓글은</a:t>
              </a: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 Post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기준 상태 저장 필요</a:t>
              </a:r>
              <a:endPara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endParaRPr>
            </a:p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채팅은 각 방 참여자 기준으로 구분 필요</a:t>
              </a:r>
              <a:endPara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endParaRPr>
            </a:p>
            <a:p>
              <a:pPr>
                <a:lnSpc>
                  <a:spcPts val="4400"/>
                </a:lnSpc>
              </a:pPr>
              <a:r>
                <a:rPr lang="en-US" altLang="ko-KR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• </a:t>
              </a:r>
              <a:r>
                <a:rPr lang="ko-KR" altLang="en-US" sz="3300" dirty="0">
                  <a:latin typeface="나눔휴먼OTF Light" panose="020B0600000101010101" pitchFamily="34" charset="-127"/>
                  <a:ea typeface="나눔휴먼OTF Light" panose="020B0600000101010101" pitchFamily="34" charset="-127"/>
                </a:rPr>
                <a:t>경과적으로 구조 자체가 읽음 상태 저장을 전제로 되어있지 않음을 확인</a:t>
              </a:r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6B6472DF-842B-7646-C7EF-9A5C12CE5A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4795479"/>
            <a:ext cx="4627807" cy="5819775"/>
          </a:xfrm>
          <a:prstGeom prst="rect">
            <a:avLst/>
          </a:prstGeom>
        </p:spPr>
      </p:pic>
      <p:sp>
        <p:nvSpPr>
          <p:cNvPr id="19" name="TextBox 16">
            <a:extLst>
              <a:ext uri="{FF2B5EF4-FFF2-40B4-BE49-F238E27FC236}">
                <a16:creationId xmlns:a16="http://schemas.microsoft.com/office/drawing/2014/main" id="{BC6CD2EB-89FD-65EC-AC8A-004FEF81D9C8}"/>
              </a:ext>
            </a:extLst>
          </p:cNvPr>
          <p:cNvSpPr txBox="1"/>
          <p:nvPr/>
        </p:nvSpPr>
        <p:spPr>
          <a:xfrm>
            <a:off x="914402" y="942101"/>
            <a:ext cx="170687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개발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트러블 슈팅 </a:t>
            </a:r>
            <a:r>
              <a:rPr lang="en-US" altLang="ko-KR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–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댓글 </a:t>
            </a:r>
            <a:r>
              <a:rPr lang="en-US" altLang="ko-KR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/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채팅 안 읽은 개수 표시 이슈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86231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36" name="Picture 5">
            <a:extLst>
              <a:ext uri="{FF2B5EF4-FFF2-40B4-BE49-F238E27FC236}">
                <a16:creationId xmlns:a16="http://schemas.microsoft.com/office/drawing/2014/main" id="{40E41A3A-BE2B-19E1-1D6B-4B3A82D8E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sp>
        <p:nvSpPr>
          <p:cNvPr id="26" name="TextBox 22">
            <a:extLst>
              <a:ext uri="{FF2B5EF4-FFF2-40B4-BE49-F238E27FC236}">
                <a16:creationId xmlns:a16="http://schemas.microsoft.com/office/drawing/2014/main" id="{4A410FDF-8C58-C4A1-ED03-575FAD0DB72E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dirty="0">
                <a:solidFill>
                  <a:srgbClr val="787878"/>
                </a:solidFill>
                <a:latin typeface="Poppins Regular"/>
              </a:rPr>
              <a:t>51</a:t>
            </a:r>
            <a:endParaRPr lang="en" sz="2592" b="0" i="0" u="none" strike="noStrike" dirty="0">
              <a:solidFill>
                <a:srgbClr val="787878"/>
              </a:solidFill>
              <a:latin typeface="Poppins Regular"/>
            </a:endParaRPr>
          </a:p>
        </p:txBody>
      </p:sp>
      <p:pic>
        <p:nvPicPr>
          <p:cNvPr id="60" name="Picture 3">
            <a:extLst>
              <a:ext uri="{FF2B5EF4-FFF2-40B4-BE49-F238E27FC236}">
                <a16:creationId xmlns:a16="http://schemas.microsoft.com/office/drawing/2014/main" id="{A7872DF8-2B75-40F1-23D0-1C5279A87E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4343400"/>
            <a:ext cx="15711000" cy="3443763"/>
          </a:xfrm>
          <a:prstGeom prst="rect">
            <a:avLst/>
          </a:prstGeom>
        </p:spPr>
      </p:pic>
      <p:pic>
        <p:nvPicPr>
          <p:cNvPr id="61" name="Picture 3">
            <a:extLst>
              <a:ext uri="{FF2B5EF4-FFF2-40B4-BE49-F238E27FC236}">
                <a16:creationId xmlns:a16="http://schemas.microsoft.com/office/drawing/2014/main" id="{9FAFCA7B-B637-6C10-B752-A77F5A7EE1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9400" y="4343400"/>
            <a:ext cx="2489200" cy="3443763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901F8568-DE0B-BEC5-8027-DEC97EC17B39}"/>
              </a:ext>
            </a:extLst>
          </p:cNvPr>
          <p:cNvSpPr txBox="1"/>
          <p:nvPr/>
        </p:nvSpPr>
        <p:spPr>
          <a:xfrm>
            <a:off x="5680807" y="5922335"/>
            <a:ext cx="1846385" cy="604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33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문제 해결 </a:t>
            </a:r>
            <a:endParaRPr lang="ko-KR" altLang="en-US" sz="333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389654A-E028-893F-D715-75ED70E37BFB}"/>
              </a:ext>
            </a:extLst>
          </p:cNvPr>
          <p:cNvSpPr txBox="1"/>
          <p:nvPr/>
        </p:nvSpPr>
        <p:spPr>
          <a:xfrm>
            <a:off x="8383507" y="4662786"/>
            <a:ext cx="15328493" cy="3443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400"/>
              </a:lnSpc>
            </a:pP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•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상태 컬럼 추가</a:t>
            </a:r>
            <a:endParaRPr lang="en-US" altLang="ko-KR" sz="3300" dirty="0">
              <a:latin typeface="나눔휴먼OTF Light" panose="020B0600000101010101" pitchFamily="34" charset="-127"/>
              <a:ea typeface="나눔휴먼OTF Light" panose="020B0600000101010101" pitchFamily="34" charset="-127"/>
            </a:endParaRPr>
          </a:p>
          <a:p>
            <a:pPr>
              <a:lnSpc>
                <a:spcPts val="4400"/>
              </a:lnSpc>
            </a:pP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   Post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테이블 →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 </a:t>
            </a:r>
            <a:r>
              <a:rPr lang="en-US" altLang="ko-KR" sz="3300" dirty="0" err="1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last_checked_comment_id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, </a:t>
            </a:r>
            <a:r>
              <a:rPr lang="en-US" altLang="ko-KR" sz="3300" dirty="0" err="1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current_comment_id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추가</a:t>
            </a:r>
            <a:endParaRPr lang="en-US" altLang="ko-KR" sz="3300" dirty="0">
              <a:latin typeface="나눔휴먼OTF Light" panose="020B0600000101010101" pitchFamily="34" charset="-127"/>
              <a:ea typeface="나눔휴먼OTF Light" panose="020B0600000101010101" pitchFamily="34" charset="-127"/>
            </a:endParaRPr>
          </a:p>
          <a:p>
            <a:pPr>
              <a:lnSpc>
                <a:spcPts val="4400"/>
              </a:lnSpc>
            </a:pP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• </a:t>
            </a:r>
            <a:r>
              <a:rPr lang="en-US" altLang="ko-KR" sz="3300" dirty="0" err="1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Chat_Participant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테이블 → </a:t>
            </a:r>
            <a:r>
              <a:rPr lang="en-US" altLang="ko-KR" sz="3300" dirty="0" err="1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last_read_message_id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추가</a:t>
            </a:r>
            <a:endParaRPr lang="en-US" altLang="ko-KR" sz="3300" dirty="0">
              <a:latin typeface="나눔휴먼OTF Light" panose="020B0600000101010101" pitchFamily="34" charset="-127"/>
              <a:ea typeface="나눔휴먼OTF Light" panose="020B0600000101010101" pitchFamily="34" charset="-127"/>
            </a:endParaRPr>
          </a:p>
          <a:p>
            <a:pPr>
              <a:lnSpc>
                <a:spcPts val="4400"/>
              </a:lnSpc>
            </a:pP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•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읽음 기준 기반 조회 쿼리 구현</a:t>
            </a:r>
            <a:endParaRPr lang="en-US" altLang="ko-KR" sz="3300" dirty="0">
              <a:latin typeface="나눔휴먼OTF Light" panose="020B0600000101010101" pitchFamily="34" charset="-127"/>
              <a:ea typeface="나눔휴먼OTF Light" panose="020B0600000101010101" pitchFamily="34" charset="-127"/>
            </a:endParaRPr>
          </a:p>
          <a:p>
            <a:pPr>
              <a:lnSpc>
                <a:spcPts val="4400"/>
              </a:lnSpc>
            </a:pP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• </a:t>
            </a:r>
            <a:r>
              <a:rPr lang="ko-KR" altLang="en-US" sz="3300" dirty="0" err="1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채팅방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 첫 입장 시 이전 메시지는 자동 읽음 처리 추가</a:t>
            </a:r>
            <a:endParaRPr lang="en-US" altLang="ko-KR" sz="3300" dirty="0">
              <a:latin typeface="나눔휴먼OTF Light" panose="020B0600000101010101" pitchFamily="34" charset="-127"/>
              <a:ea typeface="나눔휴먼OTF Light" panose="020B0600000101010101" pitchFamily="34" charset="-127"/>
            </a:endParaRPr>
          </a:p>
          <a:p>
            <a:pPr>
              <a:lnSpc>
                <a:spcPts val="4400"/>
              </a:lnSpc>
            </a:pPr>
            <a:endParaRPr lang="ko-KR" altLang="en-US" sz="3300" dirty="0">
              <a:latin typeface="나눔휴먼OTF Light" panose="020B0600000101010101" pitchFamily="34" charset="-127"/>
              <a:ea typeface="나눔휴먼OTF Light" panose="020B0600000101010101" pitchFamily="34" charset="-127"/>
            </a:endParaRPr>
          </a:p>
        </p:txBody>
      </p:sp>
      <p:pic>
        <p:nvPicPr>
          <p:cNvPr id="62" name="Picture 3">
            <a:extLst>
              <a:ext uri="{FF2B5EF4-FFF2-40B4-BE49-F238E27FC236}">
                <a16:creationId xmlns:a16="http://schemas.microsoft.com/office/drawing/2014/main" id="{DD2D0B27-EEB4-FF57-EABF-C5D1B86089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8498362"/>
            <a:ext cx="15711000" cy="2245838"/>
          </a:xfrm>
          <a:prstGeom prst="rect">
            <a:avLst/>
          </a:prstGeom>
        </p:spPr>
      </p:pic>
      <p:pic>
        <p:nvPicPr>
          <p:cNvPr id="63" name="Picture 3">
            <a:extLst>
              <a:ext uri="{FF2B5EF4-FFF2-40B4-BE49-F238E27FC236}">
                <a16:creationId xmlns:a16="http://schemas.microsoft.com/office/drawing/2014/main" id="{A169BCC9-509F-37F8-BD87-BC8722F28C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9400" y="8498362"/>
            <a:ext cx="2489200" cy="2245838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854EC221-96BC-A7B7-A4BE-B310E9E0805E}"/>
              </a:ext>
            </a:extLst>
          </p:cNvPr>
          <p:cNvSpPr txBox="1"/>
          <p:nvPr/>
        </p:nvSpPr>
        <p:spPr>
          <a:xfrm>
            <a:off x="5680807" y="9341381"/>
            <a:ext cx="1846385" cy="604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33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해결 확인 </a:t>
            </a:r>
            <a:endParaRPr lang="ko-KR" altLang="en-US" sz="333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3569240-76DD-C137-24BC-A0B18885A359}"/>
              </a:ext>
            </a:extLst>
          </p:cNvPr>
          <p:cNvSpPr txBox="1"/>
          <p:nvPr/>
        </p:nvSpPr>
        <p:spPr>
          <a:xfrm>
            <a:off x="8383507" y="8748424"/>
            <a:ext cx="14698297" cy="1750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400"/>
              </a:lnSpc>
            </a:pP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•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새 댓글 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/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새 메시지 여부가 정확하게 계산 됨</a:t>
            </a:r>
            <a:endParaRPr lang="en-US" altLang="ko-KR" sz="3300" dirty="0">
              <a:latin typeface="나눔휴먼OTF Light" panose="020B0600000101010101" pitchFamily="34" charset="-127"/>
              <a:ea typeface="나눔휴먼OTF Light" panose="020B0600000101010101" pitchFamily="34" charset="-127"/>
            </a:endParaRPr>
          </a:p>
          <a:p>
            <a:pPr>
              <a:lnSpc>
                <a:spcPts val="4400"/>
              </a:lnSpc>
            </a:pP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•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방 별 </a:t>
            </a:r>
            <a:r>
              <a:rPr lang="ko-KR" altLang="en-US" sz="3300" dirty="0" err="1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안읽은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 채팅 수 정상 표시</a:t>
            </a:r>
            <a:endParaRPr lang="en-US" altLang="ko-KR" sz="3300" dirty="0">
              <a:latin typeface="나눔휴먼OTF Light" panose="020B0600000101010101" pitchFamily="34" charset="-127"/>
              <a:ea typeface="나눔휴먼OTF Light" panose="020B0600000101010101" pitchFamily="34" charset="-127"/>
            </a:endParaRPr>
          </a:p>
          <a:p>
            <a:pPr>
              <a:lnSpc>
                <a:spcPts val="4400"/>
              </a:lnSpc>
            </a:pP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• UX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개선 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(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사용자가 어떤 채팅 방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/</a:t>
            </a:r>
            <a:r>
              <a:rPr lang="ko-KR" altLang="en-US" sz="3300" dirty="0" err="1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게시글에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 새 알림 있는지 직관적으로 확인 가능</a:t>
            </a: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5CA7500F-E511-D253-F126-2B3915CA850F}"/>
              </a:ext>
            </a:extLst>
          </p:cNvPr>
          <p:cNvSpPr txBox="1"/>
          <p:nvPr/>
        </p:nvSpPr>
        <p:spPr>
          <a:xfrm>
            <a:off x="914402" y="942101"/>
            <a:ext cx="170687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개발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트러블 슈팅 </a:t>
            </a:r>
            <a:r>
              <a:rPr lang="en-US" altLang="ko-KR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–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댓글 </a:t>
            </a:r>
            <a:r>
              <a:rPr lang="en-US" altLang="ko-KR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/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채팅 안 읽은 개수 표시 이슈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5CBEEA2-3B85-C39A-384A-B49C824765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4795479"/>
            <a:ext cx="4627807" cy="581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2366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3" name="TextBox 3"/>
          <p:cNvSpPr txBox="1"/>
          <p:nvPr/>
        </p:nvSpPr>
        <p:spPr>
          <a:xfrm>
            <a:off x="0" y="5067300"/>
            <a:ext cx="12573000" cy="2171700"/>
          </a:xfrm>
          <a:prstGeom prst="rect">
            <a:avLst/>
          </a:prstGeom>
        </p:spPr>
        <p:txBody>
          <a:bodyPr lIns="0" tIns="544464" rIns="0" bIns="0" rtlCol="0" anchor="t"/>
          <a:lstStyle/>
          <a:p>
            <a:pPr lvl="0" algn="ctr">
              <a:lnSpc>
                <a:spcPct val="83000"/>
              </a:lnSpc>
            </a:pPr>
            <a:r>
              <a:rPr lang="en" sz="10000" spc="-214" dirty="0">
                <a:solidFill>
                  <a:srgbClr val="464749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Part</a:t>
            </a:r>
            <a:r>
              <a:rPr lang="en" sz="10000" b="0" i="0" u="none" strike="noStrike" spc="-214" dirty="0">
                <a:solidFill>
                  <a:srgbClr val="464749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 5.  </a:t>
            </a:r>
            <a:r>
              <a:rPr lang="ko-KR" altLang="en-US" sz="13000" b="0" i="0" u="none" strike="noStrike" spc="-214" dirty="0">
                <a:solidFill>
                  <a:srgbClr val="3E923A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마무리</a:t>
            </a:r>
            <a:endParaRPr lang="en" sz="13000" b="0" i="0" u="none" strike="noStrike" spc="-214" dirty="0">
              <a:solidFill>
                <a:srgbClr val="3E923A"/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b="0" i="0" u="none" strike="noStrike" dirty="0">
                <a:solidFill>
                  <a:srgbClr val="464749"/>
                </a:solidFill>
                <a:latin typeface="Poppins Regular"/>
              </a:rPr>
              <a:t>52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11BAE27-1FEF-DF13-F80A-DADB20C04CC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70000" contrast="-70000"/>
            <a:alphaModFix amt="35000"/>
          </a:blip>
          <a:stretch>
            <a:fillRect/>
          </a:stretch>
        </p:blipFill>
        <p:spPr>
          <a:xfrm>
            <a:off x="17301210" y="6517005"/>
            <a:ext cx="8686800" cy="8686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28FE46F8-4D93-671C-09EB-1E0D9A15D8B3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1C3B5EC4-C275-5E79-B7B1-F1F1F0C79495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21" name="TextBox 5">
                <a:extLst>
                  <a:ext uri="{FF2B5EF4-FFF2-40B4-BE49-F238E27FC236}">
                    <a16:creationId xmlns:a16="http://schemas.microsoft.com/office/drawing/2014/main" id="{A0799DAA-C5F3-175D-43A7-0ED0BFD1C22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22" name="그림 21">
                <a:extLst>
                  <a:ext uri="{FF2B5EF4-FFF2-40B4-BE49-F238E27FC236}">
                    <a16:creationId xmlns:a16="http://schemas.microsoft.com/office/drawing/2014/main" id="{65BA08E3-F6F9-A169-E315-0E8D801462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20" name="Picture 5">
              <a:extLst>
                <a:ext uri="{FF2B5EF4-FFF2-40B4-BE49-F238E27FC236}">
                  <a16:creationId xmlns:a16="http://schemas.microsoft.com/office/drawing/2014/main" id="{3E61F457-11F5-D7B2-76A8-E6CD4C9FC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23" name="Picture 5">
            <a:extLst>
              <a:ext uri="{FF2B5EF4-FFF2-40B4-BE49-F238E27FC236}">
                <a16:creationId xmlns:a16="http://schemas.microsoft.com/office/drawing/2014/main" id="{4559A545-1CCC-AF85-8E04-D1462A5585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030200"/>
            <a:ext cx="23040000" cy="26167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21181036-EE16-1BEA-E85D-E0A702AB92DB}"/>
              </a:ext>
            </a:extLst>
          </p:cNvPr>
          <p:cNvSpPr txBox="1"/>
          <p:nvPr/>
        </p:nvSpPr>
        <p:spPr>
          <a:xfrm>
            <a:off x="6248400" y="7538402"/>
            <a:ext cx="4648200" cy="8890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ts val="4800"/>
              </a:lnSpc>
              <a:defRPr/>
            </a:pPr>
            <a:r>
              <a:rPr lang="ko-KR" altLang="en-US" sz="2800" dirty="0">
                <a:solidFill>
                  <a:srgbClr val="294717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추가 개발 계획 </a:t>
            </a:r>
            <a:r>
              <a:rPr lang="en-US" altLang="ko-KR" sz="2800" dirty="0">
                <a:solidFill>
                  <a:srgbClr val="294717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/ </a:t>
            </a:r>
            <a:r>
              <a:rPr lang="ko-KR" altLang="en-US" sz="2800" b="0" i="0" u="none" strike="noStrike" dirty="0">
                <a:solidFill>
                  <a:srgbClr val="294717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프로젝트 소감</a:t>
            </a:r>
          </a:p>
        </p:txBody>
      </p:sp>
    </p:spTree>
    <p:extLst>
      <p:ext uri="{BB962C8B-B14F-4D97-AF65-F5344CB8AC3E}">
        <p14:creationId xmlns:p14="http://schemas.microsoft.com/office/powerpoint/2010/main" val="12832237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>
            <a:extLst>
              <a:ext uri="{FF2B5EF4-FFF2-40B4-BE49-F238E27FC236}">
                <a16:creationId xmlns:a16="http://schemas.microsoft.com/office/drawing/2014/main" id="{0008D2F1-F215-775C-B325-1B97224F242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22" name="TextBox 16">
            <a:extLst>
              <a:ext uri="{FF2B5EF4-FFF2-40B4-BE49-F238E27FC236}">
                <a16:creationId xmlns:a16="http://schemas.microsoft.com/office/drawing/2014/main" id="{F20B8CAF-36A5-1668-7771-81F8859C15E5}"/>
              </a:ext>
            </a:extLst>
          </p:cNvPr>
          <p:cNvSpPr txBox="1"/>
          <p:nvPr/>
        </p:nvSpPr>
        <p:spPr>
          <a:xfrm>
            <a:off x="914402" y="942101"/>
            <a:ext cx="58673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마무리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추가 개발 계획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4166795-4A4E-F1AD-743E-B32EF2A43F8C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772950E6-601F-EC90-3494-BD7F3A92AA74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4AC9F73D-C6A9-5578-83B9-F328761261BB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27" name="TextBox 5">
                <a:extLst>
                  <a:ext uri="{FF2B5EF4-FFF2-40B4-BE49-F238E27FC236}">
                    <a16:creationId xmlns:a16="http://schemas.microsoft.com/office/drawing/2014/main" id="{A9992F4D-EFC0-345E-E78D-212154BFC075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28" name="그림 27">
                <a:extLst>
                  <a:ext uri="{FF2B5EF4-FFF2-40B4-BE49-F238E27FC236}">
                    <a16:creationId xmlns:a16="http://schemas.microsoft.com/office/drawing/2014/main" id="{E78491B4-8792-B832-BB3C-A6DAFC48E5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26" name="Picture 5">
              <a:extLst>
                <a:ext uri="{FF2B5EF4-FFF2-40B4-BE49-F238E27FC236}">
                  <a16:creationId xmlns:a16="http://schemas.microsoft.com/office/drawing/2014/main" id="{7EAA6D44-456C-817A-0D0F-0DDA525037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29" name="Picture 5">
            <a:extLst>
              <a:ext uri="{FF2B5EF4-FFF2-40B4-BE49-F238E27FC236}">
                <a16:creationId xmlns:a16="http://schemas.microsoft.com/office/drawing/2014/main" id="{6A4A61E5-6B45-55F5-32C2-37B6A1279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sp>
        <p:nvSpPr>
          <p:cNvPr id="30" name="TextBox 22">
            <a:extLst>
              <a:ext uri="{FF2B5EF4-FFF2-40B4-BE49-F238E27FC236}">
                <a16:creationId xmlns:a16="http://schemas.microsoft.com/office/drawing/2014/main" id="{40E460BA-11C0-061E-ECB3-661994421823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b="0" i="0" u="none" strike="noStrike" dirty="0">
                <a:solidFill>
                  <a:srgbClr val="787878"/>
                </a:solidFill>
                <a:latin typeface="Poppins Regular"/>
              </a:rPr>
              <a:t>53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5950" y="4578350"/>
            <a:ext cx="5473700" cy="53086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711450" y="5892800"/>
            <a:ext cx="3810000" cy="1066800"/>
          </a:xfrm>
          <a:prstGeom prst="rect">
            <a:avLst/>
          </a:prstGeom>
        </p:spPr>
        <p:txBody>
          <a:bodyPr lIns="0" tIns="762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6000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01</a:t>
            </a:r>
            <a:endParaRPr lang="en" sz="6000" b="0" i="0" u="none" strike="noStrike" dirty="0">
              <a:solidFill>
                <a:srgbClr val="464749"/>
              </a:solidFill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520950" y="7188200"/>
            <a:ext cx="4178300" cy="8890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24499"/>
              </a:lnSpc>
            </a:pPr>
            <a:r>
              <a:rPr lang="ko-KR" altLang="en-US" sz="4000" dirty="0">
                <a:solidFill>
                  <a:srgbClr val="3E923A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관리자 권한 레벨 세분화 구현</a:t>
            </a:r>
            <a:endParaRPr lang="en-US" altLang="ko-KR" sz="4000" dirty="0">
              <a:solidFill>
                <a:srgbClr val="3E923A"/>
              </a:solidFill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5150" y="4578350"/>
            <a:ext cx="5473700" cy="53086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750550" y="5956300"/>
            <a:ext cx="2895600" cy="1066800"/>
          </a:xfrm>
          <a:prstGeom prst="rect">
            <a:avLst/>
          </a:prstGeom>
        </p:spPr>
        <p:txBody>
          <a:bodyPr lIns="0" tIns="762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6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166350" y="7188200"/>
            <a:ext cx="4051300" cy="8890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24499"/>
              </a:lnSpc>
            </a:pPr>
            <a:r>
              <a:rPr lang="ko-KR" altLang="en-US" sz="4000" b="0" i="0" u="none" strike="noStrike" dirty="0" err="1">
                <a:solidFill>
                  <a:srgbClr val="3E923A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챗봇</a:t>
            </a:r>
            <a:r>
              <a:rPr lang="ko-KR" altLang="en-US" sz="4000" b="0" i="0" u="none" strike="noStrike" dirty="0">
                <a:solidFill>
                  <a:srgbClr val="3E923A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 기반 매치 추천 기능</a:t>
            </a:r>
            <a:endParaRPr lang="en-US" altLang="ko-KR" sz="4000" dirty="0">
              <a:solidFill>
                <a:srgbClr val="3E923A"/>
              </a:solidFill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24350" y="4578350"/>
            <a:ext cx="5473700" cy="53213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7526000" y="5956300"/>
            <a:ext cx="4419600" cy="1066800"/>
          </a:xfrm>
          <a:prstGeom prst="rect">
            <a:avLst/>
          </a:prstGeom>
        </p:spPr>
        <p:txBody>
          <a:bodyPr lIns="0" tIns="762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6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678400" y="7188200"/>
            <a:ext cx="4102100" cy="8890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24499"/>
              </a:lnSpc>
            </a:pPr>
            <a:r>
              <a:rPr lang="ko-KR" altLang="en-US" sz="4000" b="0" i="0" u="none" strike="noStrike" dirty="0">
                <a:solidFill>
                  <a:srgbClr val="3E923A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카카오 </a:t>
            </a:r>
            <a:r>
              <a:rPr lang="en-US" altLang="ko-KR" sz="4000" b="0" i="0" u="none" strike="noStrike" dirty="0">
                <a:solidFill>
                  <a:srgbClr val="3E923A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OAuth </a:t>
            </a:r>
            <a:r>
              <a:rPr lang="ko-KR" altLang="en-US" sz="4000" b="0" i="0" u="none" strike="noStrike" dirty="0">
                <a:solidFill>
                  <a:srgbClr val="3E923A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연동 기능 확장</a:t>
            </a:r>
            <a:endParaRPr lang="en-US" altLang="ko-KR" sz="4000" b="0" i="0" u="none" strike="noStrike" dirty="0">
              <a:solidFill>
                <a:srgbClr val="3E923A"/>
              </a:solidFill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498600" y="800100"/>
            <a:ext cx="3289300" cy="508000"/>
          </a:xfrm>
          <a:prstGeom prst="rect">
            <a:avLst/>
          </a:prstGeom>
        </p:spPr>
        <p:txBody>
          <a:bodyPr lIns="0" tIns="36058" rIns="0" bIns="0" rtlCol="0" anchor="t"/>
          <a:lstStyle/>
          <a:p>
            <a:pPr lvl="0" algn="l">
              <a:lnSpc>
                <a:spcPct val="99600"/>
              </a:lnSpc>
            </a:pPr>
            <a:endParaRPr lang="en" sz="2839" b="0" i="0" u="none" strike="noStrike" dirty="0">
              <a:solidFill>
                <a:srgbClr val="787878"/>
              </a:solidFill>
              <a:latin typeface="Bricolage Grotesque Extra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98EB2B-9186-E601-27EB-341B6E97E6D5}"/>
              </a:ext>
            </a:extLst>
          </p:cNvPr>
          <p:cNvSpPr txBox="1"/>
          <p:nvPr/>
        </p:nvSpPr>
        <p:spPr>
          <a:xfrm>
            <a:off x="874077" y="10403749"/>
            <a:ext cx="7827645" cy="176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24499"/>
              </a:lnSpc>
            </a:pPr>
            <a:r>
              <a:rPr lang="en-US" altLang="ko-KR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– RBAC(Role Based Access Control) </a:t>
            </a:r>
          </a:p>
          <a:p>
            <a:pPr lvl="0" algn="ctr">
              <a:lnSpc>
                <a:spcPct val="124499"/>
              </a:lnSpc>
            </a:pPr>
            <a:r>
              <a:rPr lang="ko-KR" altLang="en-US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기반 권한 구조 확장</a:t>
            </a:r>
            <a:endParaRPr lang="en-US" altLang="ko-KR" sz="3000" b="0" i="0" u="none" strike="noStrike" dirty="0">
              <a:solidFill>
                <a:srgbClr val="464749"/>
              </a:solidFill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  <a:p>
            <a:pPr lvl="0" algn="ctr">
              <a:lnSpc>
                <a:spcPct val="124499"/>
              </a:lnSpc>
            </a:pPr>
            <a:r>
              <a:rPr lang="en-US" altLang="ko-KR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– </a:t>
            </a:r>
            <a:r>
              <a:rPr lang="ko-KR" altLang="en-US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관리자</a:t>
            </a:r>
            <a:r>
              <a:rPr lang="en-US" altLang="ko-KR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/</a:t>
            </a:r>
            <a:r>
              <a:rPr lang="ko-KR" altLang="en-US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운영자</a:t>
            </a:r>
            <a:r>
              <a:rPr lang="en-US" altLang="ko-KR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/</a:t>
            </a:r>
            <a:r>
              <a:rPr lang="ko-KR" altLang="en-US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매치매니저 등 역할별 기능 분리</a:t>
            </a:r>
            <a:endParaRPr lang="en" altLang="ko-KR" sz="3000" b="0" i="0" u="none" strike="noStrike" dirty="0">
              <a:solidFill>
                <a:srgbClr val="464749"/>
              </a:solidFill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C2E893-2074-27CD-7A3E-76C9A6ACC7FD}"/>
              </a:ext>
            </a:extLst>
          </p:cNvPr>
          <p:cNvSpPr txBox="1"/>
          <p:nvPr/>
        </p:nvSpPr>
        <p:spPr>
          <a:xfrm>
            <a:off x="5641340" y="2870199"/>
            <a:ext cx="13075920" cy="1191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24499"/>
              </a:lnSpc>
            </a:pPr>
            <a:r>
              <a:rPr lang="en-US" altLang="ko-KR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– </a:t>
            </a:r>
            <a:r>
              <a:rPr lang="ko-KR" altLang="en-US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사용자 프로필 기반 매칭 추천</a:t>
            </a:r>
            <a:r>
              <a:rPr lang="en-US" altLang="ko-KR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(</a:t>
            </a:r>
            <a:r>
              <a:rPr lang="ko-KR" altLang="en-US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지역</a:t>
            </a:r>
            <a:r>
              <a:rPr lang="en-US" altLang="ko-KR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/</a:t>
            </a:r>
            <a:r>
              <a:rPr lang="ko-KR" altLang="en-US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시간</a:t>
            </a:r>
            <a:r>
              <a:rPr lang="en-US" altLang="ko-KR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/</a:t>
            </a:r>
            <a:r>
              <a:rPr lang="ko-KR" altLang="en-US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포지션</a:t>
            </a:r>
            <a:r>
              <a:rPr lang="en-US" altLang="ko-KR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)</a:t>
            </a:r>
          </a:p>
          <a:p>
            <a:pPr lvl="0" algn="ctr">
              <a:lnSpc>
                <a:spcPct val="124499"/>
              </a:lnSpc>
            </a:pPr>
            <a:r>
              <a:rPr lang="en-US" altLang="ko-KR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– </a:t>
            </a:r>
            <a:r>
              <a:rPr lang="ko-KR" altLang="en-US" sz="3000" b="0" i="0" u="none" strike="noStrike" dirty="0" err="1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챗봇</a:t>
            </a:r>
            <a:r>
              <a:rPr lang="ko-KR" altLang="en-US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 질문</a:t>
            </a:r>
            <a:r>
              <a:rPr lang="en-US" altLang="ko-KR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–</a:t>
            </a:r>
            <a:r>
              <a:rPr lang="ko-KR" altLang="en-US" sz="30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응답 흐름으로 경기 추천 자동화</a:t>
            </a:r>
            <a:endParaRPr lang="en-US" altLang="ko-KR" sz="3000" b="0" i="0" u="none" strike="noStrike" dirty="0">
              <a:solidFill>
                <a:srgbClr val="464749"/>
              </a:solidFill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0D767B-BED4-1CB7-CE8E-951A5D8A1EC8}"/>
              </a:ext>
            </a:extLst>
          </p:cNvPr>
          <p:cNvSpPr txBox="1"/>
          <p:nvPr/>
        </p:nvSpPr>
        <p:spPr>
          <a:xfrm>
            <a:off x="13335600" y="10327549"/>
            <a:ext cx="13075920" cy="1191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24499"/>
              </a:lnSpc>
            </a:pPr>
            <a:r>
              <a:rPr lang="en-US" altLang="ko-KR" sz="3000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– </a:t>
            </a:r>
            <a:r>
              <a:rPr lang="ko-KR" altLang="en-US" sz="3000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카카오 친구목록 연동</a:t>
            </a:r>
            <a:endParaRPr lang="en-US" altLang="ko-KR" sz="3000" dirty="0">
              <a:solidFill>
                <a:srgbClr val="464749"/>
              </a:solidFill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  <a:p>
            <a:pPr lvl="0" algn="ctr">
              <a:lnSpc>
                <a:spcPct val="124499"/>
              </a:lnSpc>
            </a:pPr>
            <a:r>
              <a:rPr lang="en-US" altLang="ko-KR" sz="3000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– </a:t>
            </a:r>
            <a:r>
              <a:rPr lang="ko-KR" altLang="en-US" sz="3000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채팅방에서 외부 친구 초대 가능하도록 기능 확장</a:t>
            </a:r>
            <a:endParaRPr lang="en" altLang="ko-KR" sz="3000" b="0" i="0" u="none" strike="noStrike" dirty="0">
              <a:solidFill>
                <a:srgbClr val="464749"/>
              </a:solidFill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29" name="TextBox 16">
            <a:extLst>
              <a:ext uri="{FF2B5EF4-FFF2-40B4-BE49-F238E27FC236}">
                <a16:creationId xmlns:a16="http://schemas.microsoft.com/office/drawing/2014/main" id="{34FF058A-38ED-74ED-D67F-8388871A6DC9}"/>
              </a:ext>
            </a:extLst>
          </p:cNvPr>
          <p:cNvSpPr txBox="1"/>
          <p:nvPr/>
        </p:nvSpPr>
        <p:spPr>
          <a:xfrm>
            <a:off x="914402" y="942101"/>
            <a:ext cx="64007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마무리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소감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36" name="Picture 5">
            <a:extLst>
              <a:ext uri="{FF2B5EF4-FFF2-40B4-BE49-F238E27FC236}">
                <a16:creationId xmlns:a16="http://schemas.microsoft.com/office/drawing/2014/main" id="{40E41A3A-BE2B-19E1-1D6B-4B3A82D8E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524451"/>
            <a:ext cx="23040000" cy="26167"/>
          </a:xfrm>
          <a:prstGeom prst="rect">
            <a:avLst/>
          </a:prstGeom>
        </p:spPr>
      </p:pic>
      <p:sp>
        <p:nvSpPr>
          <p:cNvPr id="26" name="TextBox 22">
            <a:extLst>
              <a:ext uri="{FF2B5EF4-FFF2-40B4-BE49-F238E27FC236}">
                <a16:creationId xmlns:a16="http://schemas.microsoft.com/office/drawing/2014/main" id="{4A410FDF-8C58-C4A1-ED03-575FAD0DB72E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dirty="0">
                <a:solidFill>
                  <a:srgbClr val="787878"/>
                </a:solidFill>
                <a:latin typeface="Poppins Regular"/>
              </a:rPr>
              <a:t>54</a:t>
            </a:r>
            <a:endParaRPr lang="en" sz="2592" b="0" i="0" u="none" strike="noStrike" dirty="0">
              <a:solidFill>
                <a:srgbClr val="787878"/>
              </a:solidFill>
              <a:latin typeface="Poppins Regular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6E5CD10-996C-45C2-A4A6-78CC2CE913A6}"/>
              </a:ext>
            </a:extLst>
          </p:cNvPr>
          <p:cNvGrpSpPr/>
          <p:nvPr/>
        </p:nvGrpSpPr>
        <p:grpSpPr>
          <a:xfrm>
            <a:off x="1092200" y="2554044"/>
            <a:ext cx="19570699" cy="5135385"/>
            <a:chOff x="1300422" y="6516700"/>
            <a:chExt cx="19570699" cy="3351425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FE245A7D-C3AA-0461-F6A1-69B03A4135AA}"/>
                </a:ext>
              </a:extLst>
            </p:cNvPr>
            <p:cNvSpPr/>
            <p:nvPr/>
          </p:nvSpPr>
          <p:spPr>
            <a:xfrm>
              <a:off x="1300422" y="6854456"/>
              <a:ext cx="19570699" cy="3013669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F9F1B2E-C7BB-5EEE-9A2F-DD7041C56B64}"/>
                </a:ext>
              </a:extLst>
            </p:cNvPr>
            <p:cNvSpPr txBox="1"/>
            <p:nvPr/>
          </p:nvSpPr>
          <p:spPr>
            <a:xfrm>
              <a:off x="1639916" y="6516700"/>
              <a:ext cx="18891710" cy="16312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0" dirty="0">
                  <a:solidFill>
                    <a:schemeClr val="accent3">
                      <a:lumMod val="50000"/>
                    </a:schemeClr>
                  </a:solidFill>
                  <a:latin typeface="나눔휴먼OTF ExtraBold" panose="020B0600000101010101" pitchFamily="34" charset="-127"/>
                  <a:ea typeface="나눔휴먼OTF ExtraBold" panose="020B0600000101010101" pitchFamily="34" charset="-127"/>
                </a:rPr>
                <a:t>“                                                                ”</a:t>
              </a:r>
              <a:endParaRPr lang="ko-KR" altLang="en-US" sz="10000" dirty="0">
                <a:solidFill>
                  <a:schemeClr val="accent3">
                    <a:lumMod val="50000"/>
                  </a:schemeClr>
                </a:solidFill>
                <a:latin typeface="나눔휴먼OTF ExtraBold" panose="020B0600000101010101" pitchFamily="34" charset="-127"/>
                <a:ea typeface="나눔휴먼OTF ExtraBold" panose="020B0600000101010101" pitchFamily="34" charset="-127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A08CCB7-2170-5545-B714-5892239DD893}"/>
              </a:ext>
            </a:extLst>
          </p:cNvPr>
          <p:cNvGrpSpPr/>
          <p:nvPr/>
        </p:nvGrpSpPr>
        <p:grpSpPr>
          <a:xfrm>
            <a:off x="2299825" y="7112637"/>
            <a:ext cx="21239414" cy="5649045"/>
            <a:chOff x="305255" y="6041250"/>
            <a:chExt cx="20565866" cy="3826876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698FB18D-27EB-B4FD-6B2A-0596BACB5C04}"/>
                </a:ext>
              </a:extLst>
            </p:cNvPr>
            <p:cNvGrpSpPr/>
            <p:nvPr/>
          </p:nvGrpSpPr>
          <p:grpSpPr>
            <a:xfrm>
              <a:off x="305255" y="6041250"/>
              <a:ext cx="20565866" cy="3826876"/>
              <a:chOff x="305255" y="6041250"/>
              <a:chExt cx="20565866" cy="3826876"/>
            </a:xfrm>
          </p:grpSpPr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436F1E10-0A4F-DCF7-AE00-72C25CF944B2}"/>
                  </a:ext>
                </a:extLst>
              </p:cNvPr>
              <p:cNvSpPr/>
              <p:nvPr/>
            </p:nvSpPr>
            <p:spPr>
              <a:xfrm>
                <a:off x="1300422" y="6854456"/>
                <a:ext cx="19570699" cy="3013670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" name="이등변 삼각형 15">
                <a:extLst>
                  <a:ext uri="{FF2B5EF4-FFF2-40B4-BE49-F238E27FC236}">
                    <a16:creationId xmlns:a16="http://schemas.microsoft.com/office/drawing/2014/main" id="{E390E338-76AE-0E66-A99A-9762A5A7308E}"/>
                  </a:ext>
                </a:extLst>
              </p:cNvPr>
              <p:cNvSpPr/>
              <p:nvPr/>
            </p:nvSpPr>
            <p:spPr>
              <a:xfrm rot="8109250">
                <a:off x="305255" y="6041250"/>
                <a:ext cx="990000" cy="783701"/>
              </a:xfrm>
              <a:prstGeom prst="triangl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A89BA9C-7843-2927-1C91-8ACB62E82F7F}"/>
                </a:ext>
              </a:extLst>
            </p:cNvPr>
            <p:cNvSpPr txBox="1"/>
            <p:nvPr/>
          </p:nvSpPr>
          <p:spPr>
            <a:xfrm>
              <a:off x="1639916" y="6562013"/>
              <a:ext cx="18823457" cy="11050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0" dirty="0">
                  <a:solidFill>
                    <a:schemeClr val="accent3">
                      <a:lumMod val="50000"/>
                    </a:schemeClr>
                  </a:solidFill>
                  <a:latin typeface="나눔휴먼OTF ExtraBold" panose="020B0600000101010101" pitchFamily="34" charset="-127"/>
                  <a:ea typeface="나눔휴먼OTF ExtraBold" panose="020B0600000101010101" pitchFamily="34" charset="-127"/>
                </a:rPr>
                <a:t>“                                                                  ”</a:t>
              </a:r>
              <a:endParaRPr lang="ko-KR" altLang="en-US" sz="10000" dirty="0">
                <a:solidFill>
                  <a:schemeClr val="accent3">
                    <a:lumMod val="50000"/>
                  </a:schemeClr>
                </a:solidFill>
                <a:latin typeface="나눔휴먼OTF ExtraBold" panose="020B0600000101010101" pitchFamily="34" charset="-127"/>
                <a:ea typeface="나눔휴먼OTF ExtraBold" panose="020B0600000101010101" pitchFamily="34" charset="-127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34CCD9D-6097-CE9E-EFC2-E8BE3C14F5EA}"/>
              </a:ext>
            </a:extLst>
          </p:cNvPr>
          <p:cNvSpPr txBox="1"/>
          <p:nvPr/>
        </p:nvSpPr>
        <p:spPr>
          <a:xfrm>
            <a:off x="3810000" y="8693879"/>
            <a:ext cx="19729240" cy="3876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000"/>
              </a:lnSpc>
            </a:pP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데이터베이스 설계와 로그인</a:t>
            </a: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/</a:t>
            </a: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인증 시스템을 담당하며 </a:t>
            </a: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Spring Security, JWT, OAuth 2.0</a:t>
            </a: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을 실전에 적용했습니다</a:t>
            </a: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. </a:t>
            </a:r>
          </a:p>
          <a:p>
            <a:pPr>
              <a:lnSpc>
                <a:spcPts val="5000"/>
              </a:lnSpc>
            </a:pP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12</a:t>
            </a: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개 테이블의 </a:t>
            </a: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ERD</a:t>
            </a: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를 설계하고</a:t>
            </a: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, </a:t>
            </a:r>
            <a:r>
              <a:rPr lang="en-US" altLang="ko-KR" sz="3000" dirty="0" err="1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MyBatis</a:t>
            </a: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로 동적 쿼리를 작성하며 데이터베이스 설계의 중요성을 깊이 이해했습니다</a:t>
            </a: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.</a:t>
            </a:r>
          </a:p>
          <a:p>
            <a:pPr>
              <a:lnSpc>
                <a:spcPts val="5000"/>
              </a:lnSpc>
            </a:pP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특히 </a:t>
            </a: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JWT </a:t>
            </a: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토큰과 소셜 로그인을 연동하는 과정에서 </a:t>
            </a: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OAuth 2.0 </a:t>
            </a: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인증 흐름과 </a:t>
            </a: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Spring Security </a:t>
            </a: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필터 체인의 동작 원리를 </a:t>
            </a:r>
            <a:endParaRPr lang="en-US" altLang="ko-KR" sz="3000" dirty="0">
              <a:latin typeface="나눔휴먼OTF Light" panose="020B0600000101010101" pitchFamily="34" charset="-127"/>
              <a:ea typeface="나눔휴먼OTF Light" panose="020B0600000101010101" pitchFamily="34" charset="-127"/>
            </a:endParaRPr>
          </a:p>
          <a:p>
            <a:pPr>
              <a:lnSpc>
                <a:spcPts val="5000"/>
              </a:lnSpc>
            </a:pP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체득했고</a:t>
            </a: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, </a:t>
            </a: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신규 사용자와 기존 사용자를 구분하여 처리하는 로직을 구현하며 보안과 사용자 경험을 모두 고려하는 법을 배웠습니다</a:t>
            </a: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.</a:t>
            </a:r>
          </a:p>
          <a:p>
            <a:pPr>
              <a:lnSpc>
                <a:spcPts val="5000"/>
              </a:lnSpc>
            </a:pP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수많은 시행착오를 겪었지만</a:t>
            </a: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, </a:t>
            </a: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그 과정에서 </a:t>
            </a:r>
            <a:r>
              <a:rPr lang="ko-KR" altLang="en-US" sz="3000" dirty="0" err="1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백엔드</a:t>
            </a: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 개발자로서 한 단계 성장할 수 있었습니다</a:t>
            </a: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. </a:t>
            </a:r>
          </a:p>
          <a:p>
            <a:pPr>
              <a:lnSpc>
                <a:spcPts val="5000"/>
              </a:lnSpc>
            </a:pPr>
            <a:r>
              <a:rPr lang="ko-KR" altLang="en-US" sz="3000" dirty="0" err="1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팀원들과의</a:t>
            </a: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 협업을 통해 완성한 </a:t>
            </a: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Multi FC</a:t>
            </a: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는 제 개발자 인생에서 처음의 프로젝트이자</a:t>
            </a: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, </a:t>
            </a: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가장 값진 경험이었습니다</a:t>
            </a: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.</a:t>
            </a:r>
            <a:endParaRPr lang="ko-KR" altLang="en-US" sz="3000" dirty="0">
              <a:latin typeface="나눔휴먼OTF Light" panose="020B0600000101010101" pitchFamily="34" charset="-127"/>
              <a:ea typeface="나눔휴먼OTF Light" panose="020B0600000101010101" pitchFamily="34" charset="-127"/>
            </a:endParaRPr>
          </a:p>
        </p:txBody>
      </p:sp>
      <p:sp>
        <p:nvSpPr>
          <p:cNvPr id="3" name="이등변 삼각형 2">
            <a:extLst>
              <a:ext uri="{FF2B5EF4-FFF2-40B4-BE49-F238E27FC236}">
                <a16:creationId xmlns:a16="http://schemas.microsoft.com/office/drawing/2014/main" id="{89D16730-C7AC-9DBA-F25B-7EE6AA79DDEB}"/>
              </a:ext>
            </a:extLst>
          </p:cNvPr>
          <p:cNvSpPr/>
          <p:nvPr/>
        </p:nvSpPr>
        <p:spPr>
          <a:xfrm rot="13211803">
            <a:off x="21300815" y="12194604"/>
            <a:ext cx="990000" cy="1276442"/>
          </a:xfrm>
          <a:prstGeom prst="triangl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29D2E2-B7B9-B0B6-279A-DF9B967F7085}"/>
              </a:ext>
            </a:extLst>
          </p:cNvPr>
          <p:cNvSpPr txBox="1"/>
          <p:nvPr/>
        </p:nvSpPr>
        <p:spPr>
          <a:xfrm>
            <a:off x="2263055" y="2554964"/>
            <a:ext cx="15311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>
                <a:latin typeface="나눔휴먼OTF ExtraBold" panose="020B0600000101010101" pitchFamily="34" charset="-127"/>
                <a:ea typeface="나눔휴먼OTF ExtraBold" panose="020B0600000101010101" pitchFamily="34" charset="-127"/>
              </a:rPr>
              <a:t>Kwon</a:t>
            </a:r>
            <a:endParaRPr lang="ko-KR" altLang="en-US" sz="4000" dirty="0">
              <a:latin typeface="나눔휴먼OTF ExtraBold" panose="020B0600000101010101" pitchFamily="34" charset="-127"/>
              <a:ea typeface="나눔휴먼OTF ExtraBold" panose="020B060000010101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6ECC8E-7812-79E9-4CF2-132055834547}"/>
              </a:ext>
            </a:extLst>
          </p:cNvPr>
          <p:cNvSpPr txBox="1"/>
          <p:nvPr/>
        </p:nvSpPr>
        <p:spPr>
          <a:xfrm>
            <a:off x="20573999" y="7812764"/>
            <a:ext cx="15359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>
                <a:latin typeface="나눔휴먼OTF ExtraBold" panose="020B0600000101010101" pitchFamily="34" charset="-127"/>
                <a:ea typeface="나눔휴먼OTF ExtraBold" panose="020B0600000101010101" pitchFamily="34" charset="-127"/>
              </a:rPr>
              <a:t>Moon</a:t>
            </a:r>
            <a:endParaRPr lang="ko-KR" altLang="en-US" sz="4000" dirty="0">
              <a:latin typeface="나눔휴먼OTF ExtraBold" panose="020B0600000101010101" pitchFamily="34" charset="-127"/>
              <a:ea typeface="나눔휴먼OTF ExtraBold" panose="020B0600000101010101" pitchFamily="34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D9F384-8881-28BC-7FF7-83396AA4B8E6}"/>
              </a:ext>
            </a:extLst>
          </p:cNvPr>
          <p:cNvSpPr txBox="1"/>
          <p:nvPr/>
        </p:nvSpPr>
        <p:spPr>
          <a:xfrm>
            <a:off x="1295400" y="3071215"/>
            <a:ext cx="19341429" cy="4524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000"/>
              </a:lnSpc>
            </a:pP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이번 프로젝트에서 </a:t>
            </a:r>
            <a:r>
              <a:rPr lang="ko-KR" altLang="en-US" sz="3000" dirty="0" err="1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프론트엔드를</a:t>
            </a: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 담당해 메인</a:t>
            </a: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, </a:t>
            </a: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구장 검색</a:t>
            </a: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, </a:t>
            </a: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커뮤니티</a:t>
            </a: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, </a:t>
            </a: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채팅</a:t>
            </a: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, </a:t>
            </a: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경기 일정 등 다양한 화면과 전체 사용자 흐름을 구현했습니다</a:t>
            </a: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. </a:t>
            </a: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단순히 화면을 ‘보이게’ 만드는 데서 그치지 않고</a:t>
            </a: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, </a:t>
            </a: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사용자가 처음 접했을 때 자연스럽게 기능을 탐색하도록 </a:t>
            </a: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UI </a:t>
            </a: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구조와 동선을 설계하는 데 집중했습니다</a:t>
            </a: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. </a:t>
            </a: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공통 레이아웃과 디자인 톤을 맞춘 뒤 헤더</a:t>
            </a: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·</a:t>
            </a:r>
            <a:r>
              <a:rPr lang="ko-KR" altLang="en-US" sz="3000" dirty="0" err="1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네비</a:t>
            </a: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 중심의 이동 흐름을 정리했고</a:t>
            </a: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, </a:t>
            </a: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카드</a:t>
            </a: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/</a:t>
            </a: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리스트</a:t>
            </a: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/</a:t>
            </a:r>
            <a:r>
              <a:rPr lang="ko-KR" altLang="en-US" sz="3000" dirty="0" err="1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모달</a:t>
            </a: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 배치를 반복 개선하며 직관성과 사용성을 다듬었습니다</a:t>
            </a: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. </a:t>
            </a:r>
            <a:r>
              <a:rPr lang="ko-KR" altLang="en-US" sz="3000" b="1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기능이 동작해도 불편하면 의미가 없다</a:t>
            </a: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는 점을 체감하며 사용자 관점의 피드백을 계속 반영했습니다</a:t>
            </a: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. </a:t>
            </a:r>
            <a:r>
              <a:rPr lang="en-US" altLang="ko-KR" sz="3000" dirty="0" err="1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flex·grid</a:t>
            </a: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와 </a:t>
            </a:r>
            <a:r>
              <a:rPr lang="ko-KR" altLang="en-US" sz="3000" dirty="0" err="1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미디어쿼리로</a:t>
            </a: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 반응형을 적용하며 기기별 정보 우선순위의 중요성을 배웠습니다</a:t>
            </a: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. </a:t>
            </a: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일부 디테일 최적화는 아쉽지만 </a:t>
            </a:r>
            <a:r>
              <a:rPr lang="ko-KR" altLang="en-US" sz="3000" dirty="0" err="1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설계→구현→개선</a:t>
            </a: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 사이클을 끝까지 경험한 점이 큰 성과였고</a:t>
            </a: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, </a:t>
            </a:r>
          </a:p>
          <a:p>
            <a:pPr>
              <a:lnSpc>
                <a:spcPts val="5000"/>
              </a:lnSpc>
            </a:pP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다음엔 접근성</a:t>
            </a: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·</a:t>
            </a:r>
            <a:r>
              <a:rPr lang="ko-KR" altLang="en-US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성능까지 더 챙긴 프론트를 만들어 보고 싶습니다</a:t>
            </a:r>
            <a:r>
              <a:rPr lang="en-US" altLang="ko-KR" sz="30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.</a:t>
            </a:r>
            <a:endParaRPr lang="ko-KR" altLang="en-US" sz="3000" dirty="0">
              <a:latin typeface="나눔휴먼OTF Light" panose="020B0600000101010101" pitchFamily="34" charset="-127"/>
              <a:ea typeface="나눔휴먼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75169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29" name="TextBox 16">
            <a:extLst>
              <a:ext uri="{FF2B5EF4-FFF2-40B4-BE49-F238E27FC236}">
                <a16:creationId xmlns:a16="http://schemas.microsoft.com/office/drawing/2014/main" id="{34FF058A-38ED-74ED-D67F-8388871A6DC9}"/>
              </a:ext>
            </a:extLst>
          </p:cNvPr>
          <p:cNvSpPr txBox="1"/>
          <p:nvPr/>
        </p:nvSpPr>
        <p:spPr>
          <a:xfrm>
            <a:off x="914402" y="942101"/>
            <a:ext cx="64007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마무리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소감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36" name="Picture 5">
            <a:extLst>
              <a:ext uri="{FF2B5EF4-FFF2-40B4-BE49-F238E27FC236}">
                <a16:creationId xmlns:a16="http://schemas.microsoft.com/office/drawing/2014/main" id="{40E41A3A-BE2B-19E1-1D6B-4B3A82D8E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sp>
        <p:nvSpPr>
          <p:cNvPr id="26" name="TextBox 22">
            <a:extLst>
              <a:ext uri="{FF2B5EF4-FFF2-40B4-BE49-F238E27FC236}">
                <a16:creationId xmlns:a16="http://schemas.microsoft.com/office/drawing/2014/main" id="{4A410FDF-8C58-C4A1-ED03-575FAD0DB72E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dirty="0">
                <a:solidFill>
                  <a:srgbClr val="787878"/>
                </a:solidFill>
                <a:latin typeface="Poppins Regular"/>
              </a:rPr>
              <a:t>55</a:t>
            </a:r>
            <a:endParaRPr lang="en" sz="2592" b="0" i="0" u="none" strike="noStrike" dirty="0">
              <a:solidFill>
                <a:srgbClr val="787878"/>
              </a:solidFill>
              <a:latin typeface="Poppins Regular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6E5CD10-996C-45C2-A4A6-78CC2CE913A6}"/>
              </a:ext>
            </a:extLst>
          </p:cNvPr>
          <p:cNvGrpSpPr/>
          <p:nvPr/>
        </p:nvGrpSpPr>
        <p:grpSpPr>
          <a:xfrm>
            <a:off x="1092200" y="2897516"/>
            <a:ext cx="19570699" cy="4151235"/>
            <a:chOff x="1300422" y="6446907"/>
            <a:chExt cx="19570699" cy="3421218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FE245A7D-C3AA-0461-F6A1-69B03A4135AA}"/>
                </a:ext>
              </a:extLst>
            </p:cNvPr>
            <p:cNvSpPr/>
            <p:nvPr/>
          </p:nvSpPr>
          <p:spPr>
            <a:xfrm>
              <a:off x="1300422" y="6854456"/>
              <a:ext cx="19570699" cy="3013669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F9F1B2E-C7BB-5EEE-9A2F-DD7041C56B64}"/>
                </a:ext>
              </a:extLst>
            </p:cNvPr>
            <p:cNvSpPr txBox="1"/>
            <p:nvPr/>
          </p:nvSpPr>
          <p:spPr>
            <a:xfrm>
              <a:off x="1639916" y="6446907"/>
              <a:ext cx="18891710" cy="16312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0" dirty="0">
                  <a:solidFill>
                    <a:schemeClr val="accent3">
                      <a:lumMod val="50000"/>
                    </a:schemeClr>
                  </a:solidFill>
                  <a:latin typeface="나눔휴먼OTF ExtraBold" panose="020B0600000101010101" pitchFamily="34" charset="-127"/>
                  <a:ea typeface="나눔휴먼OTF ExtraBold" panose="020B0600000101010101" pitchFamily="34" charset="-127"/>
                </a:rPr>
                <a:t>“                                                                ”</a:t>
              </a:r>
              <a:endParaRPr lang="ko-KR" altLang="en-US" sz="10000" dirty="0">
                <a:solidFill>
                  <a:schemeClr val="accent3">
                    <a:lumMod val="50000"/>
                  </a:schemeClr>
                </a:solidFill>
                <a:latin typeface="나눔휴먼OTF ExtraBold" panose="020B0600000101010101" pitchFamily="34" charset="-127"/>
                <a:ea typeface="나눔휴먼OTF ExtraBold" panose="020B0600000101010101" pitchFamily="34" charset="-127"/>
              </a:endParaRPr>
            </a:p>
          </p:txBody>
        </p:sp>
      </p:grpSp>
      <p:sp>
        <p:nvSpPr>
          <p:cNvPr id="4" name="이등변 삼각형 3">
            <a:extLst>
              <a:ext uri="{FF2B5EF4-FFF2-40B4-BE49-F238E27FC236}">
                <a16:creationId xmlns:a16="http://schemas.microsoft.com/office/drawing/2014/main" id="{6157FFDE-EF6C-5AF0-C0B4-E09F51513F22}"/>
              </a:ext>
            </a:extLst>
          </p:cNvPr>
          <p:cNvSpPr/>
          <p:nvPr/>
        </p:nvSpPr>
        <p:spPr>
          <a:xfrm rot="8109250">
            <a:off x="2329085" y="6487958"/>
            <a:ext cx="990000" cy="1276442"/>
          </a:xfrm>
          <a:prstGeom prst="triangl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4CCD9D-6097-CE9E-EFC2-E8BE3C14F5EA}"/>
              </a:ext>
            </a:extLst>
          </p:cNvPr>
          <p:cNvSpPr txBox="1"/>
          <p:nvPr/>
        </p:nvSpPr>
        <p:spPr>
          <a:xfrm>
            <a:off x="1308396" y="3592041"/>
            <a:ext cx="19341429" cy="3244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000"/>
              </a:lnSpc>
            </a:pP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이번 프로젝트는 처음으로 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end-to-end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형태의 서비스를 직접 구현해보는 경험이었습니다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.</a:t>
            </a:r>
          </a:p>
          <a:p>
            <a:pPr>
              <a:lnSpc>
                <a:spcPts val="5000"/>
              </a:lnSpc>
            </a:pP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수업을 통해 학습했던 내용을 실제 서비스에 적용하며 이론을 넘어 실제 동작하는 기능으로 적용해볼 수 있었습니다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.</a:t>
            </a:r>
          </a:p>
          <a:p>
            <a:pPr>
              <a:lnSpc>
                <a:spcPts val="5000"/>
              </a:lnSpc>
            </a:pPr>
            <a:r>
              <a:rPr lang="ko-KR" altLang="en-US" sz="3300" dirty="0" err="1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브랜치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 병합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, ERD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개선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,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인증 로직 정리 등 협업 과정에서 발생한 여러 이슈들을 해결하는 과정은 개발 </a:t>
            </a:r>
            <a:r>
              <a:rPr lang="ko-KR" altLang="en-US" sz="3300" dirty="0" err="1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역량뿐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 아니라 협업 능력의 중요성을 깨닫게 해주었습니다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.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프로젝트를 통해 기술적으로도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,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협업 측면에서도 많은 성장을 이뤘다고 생각합니다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.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이번 경험을 바탕으로 역량을 확장하며 더 나은 개발자로 성장하고자 합니다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. </a:t>
            </a:r>
            <a:endParaRPr lang="ko-KR" altLang="en-US" sz="3300" dirty="0">
              <a:latin typeface="나눔휴먼OTF Light" panose="020B0600000101010101" pitchFamily="34" charset="-127"/>
              <a:ea typeface="나눔휴먼OTF Light" panose="020B0600000101010101" pitchFamily="34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A08CCB7-2170-5545-B714-5892239DD893}"/>
              </a:ext>
            </a:extLst>
          </p:cNvPr>
          <p:cNvGrpSpPr/>
          <p:nvPr/>
        </p:nvGrpSpPr>
        <p:grpSpPr>
          <a:xfrm>
            <a:off x="3810001" y="8079116"/>
            <a:ext cx="19570699" cy="5042194"/>
            <a:chOff x="1300422" y="6485942"/>
            <a:chExt cx="19570699" cy="4155497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698FB18D-27EB-B4FD-6B2A-0596BACB5C04}"/>
                </a:ext>
              </a:extLst>
            </p:cNvPr>
            <p:cNvGrpSpPr/>
            <p:nvPr/>
          </p:nvGrpSpPr>
          <p:grpSpPr>
            <a:xfrm>
              <a:off x="1300422" y="6854456"/>
              <a:ext cx="19570699" cy="3786983"/>
              <a:chOff x="1300422" y="6854456"/>
              <a:chExt cx="19570699" cy="3786983"/>
            </a:xfrm>
          </p:grpSpPr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436F1E10-0A4F-DCF7-AE00-72C25CF944B2}"/>
                  </a:ext>
                </a:extLst>
              </p:cNvPr>
              <p:cNvSpPr/>
              <p:nvPr/>
            </p:nvSpPr>
            <p:spPr>
              <a:xfrm>
                <a:off x="1300422" y="6854456"/>
                <a:ext cx="19570699" cy="3013670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" name="이등변 삼각형 15">
                <a:extLst>
                  <a:ext uri="{FF2B5EF4-FFF2-40B4-BE49-F238E27FC236}">
                    <a16:creationId xmlns:a16="http://schemas.microsoft.com/office/drawing/2014/main" id="{E390E338-76AE-0E66-A99A-9762A5A7308E}"/>
                  </a:ext>
                </a:extLst>
              </p:cNvPr>
              <p:cNvSpPr/>
              <p:nvPr/>
            </p:nvSpPr>
            <p:spPr>
              <a:xfrm rot="13211803">
                <a:off x="18711106" y="9269839"/>
                <a:ext cx="990000" cy="1371600"/>
              </a:xfrm>
              <a:prstGeom prst="triangl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A89BA9C-7843-2927-1C91-8ACB62E82F7F}"/>
                </a:ext>
              </a:extLst>
            </p:cNvPr>
            <p:cNvSpPr txBox="1"/>
            <p:nvPr/>
          </p:nvSpPr>
          <p:spPr>
            <a:xfrm>
              <a:off x="1639916" y="6485942"/>
              <a:ext cx="18891710" cy="16312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0" dirty="0">
                  <a:solidFill>
                    <a:schemeClr val="accent3">
                      <a:lumMod val="50000"/>
                    </a:schemeClr>
                  </a:solidFill>
                  <a:latin typeface="나눔휴먼OTF ExtraBold" panose="020B0600000101010101" pitchFamily="34" charset="-127"/>
                  <a:ea typeface="나눔휴먼OTF ExtraBold" panose="020B0600000101010101" pitchFamily="34" charset="-127"/>
                </a:rPr>
                <a:t>“                                                                ”</a:t>
              </a:r>
              <a:endParaRPr lang="ko-KR" altLang="en-US" sz="10000" dirty="0">
                <a:solidFill>
                  <a:schemeClr val="accent3">
                    <a:lumMod val="50000"/>
                  </a:schemeClr>
                </a:solidFill>
                <a:latin typeface="나눔휴먼OTF ExtraBold" panose="020B0600000101010101" pitchFamily="34" charset="-127"/>
                <a:ea typeface="나눔휴먼OTF ExtraBold" panose="020B0600000101010101" pitchFamily="34" charset="-127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FAAFE14-9F1D-0F2F-EDC9-E7A2D1136918}"/>
              </a:ext>
            </a:extLst>
          </p:cNvPr>
          <p:cNvSpPr txBox="1"/>
          <p:nvPr/>
        </p:nvSpPr>
        <p:spPr>
          <a:xfrm>
            <a:off x="2263055" y="2865120"/>
            <a:ext cx="12814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>
                <a:latin typeface="나눔휴먼OTF ExtraBold" panose="020B0600000101010101" pitchFamily="34" charset="-127"/>
                <a:ea typeface="나눔휴먼OTF ExtraBold" panose="020B0600000101010101" pitchFamily="34" charset="-127"/>
              </a:rPr>
              <a:t>Park</a:t>
            </a:r>
            <a:endParaRPr lang="ko-KR" altLang="en-US" sz="4000" dirty="0">
              <a:latin typeface="나눔휴먼OTF ExtraBold" panose="020B0600000101010101" pitchFamily="34" charset="-127"/>
              <a:ea typeface="나눔휴먼OTF ExtraBold" panose="020B0600000101010101" pitchFamily="34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855796-D181-4928-3CDE-F21EC2DBD7E8}"/>
              </a:ext>
            </a:extLst>
          </p:cNvPr>
          <p:cNvSpPr txBox="1"/>
          <p:nvPr/>
        </p:nvSpPr>
        <p:spPr>
          <a:xfrm>
            <a:off x="20662899" y="7994154"/>
            <a:ext cx="13853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>
                <a:latin typeface="나눔휴먼OTF ExtraBold" panose="020B0600000101010101" pitchFamily="34" charset="-127"/>
                <a:ea typeface="나눔휴먼OTF ExtraBold" panose="020B0600000101010101" pitchFamily="34" charset="-127"/>
              </a:rPr>
              <a:t>Yoon</a:t>
            </a:r>
            <a:endParaRPr lang="ko-KR" altLang="en-US" sz="4000" dirty="0">
              <a:latin typeface="나눔휴먼OTF ExtraBold" panose="020B0600000101010101" pitchFamily="34" charset="-127"/>
              <a:ea typeface="나눔휴먼OTF ExtraBold" panose="020B0600000101010101" pitchFamily="34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FD267E-F918-2B84-7FCD-2E65617C468B}"/>
              </a:ext>
            </a:extLst>
          </p:cNvPr>
          <p:cNvSpPr txBox="1"/>
          <p:nvPr/>
        </p:nvSpPr>
        <p:spPr>
          <a:xfrm>
            <a:off x="4209018" y="8763000"/>
            <a:ext cx="19341429" cy="3244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000"/>
              </a:lnSpc>
            </a:pP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대학교 팀 프로젝트 이후 오랜만에 큰 규모의 프로젝트를 진행하게 되었습니다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. </a:t>
            </a:r>
          </a:p>
          <a:p>
            <a:pPr>
              <a:lnSpc>
                <a:spcPts val="5000"/>
              </a:lnSpc>
            </a:pP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이전에는 친한 친구들과 함께 협력했지만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,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이번에는 처음 만난 사람들과 팀을 구성해 프로젝트를 수행하게 되어 </a:t>
            </a:r>
            <a:endParaRPr lang="en-US" altLang="ko-KR" sz="3300" dirty="0">
              <a:latin typeface="나눔휴먼OTF Light" panose="020B0600000101010101" pitchFamily="34" charset="-127"/>
              <a:ea typeface="나눔휴먼OTF Light" panose="020B0600000101010101" pitchFamily="34" charset="-127"/>
            </a:endParaRPr>
          </a:p>
          <a:p>
            <a:pPr>
              <a:lnSpc>
                <a:spcPts val="5000"/>
              </a:lnSpc>
            </a:pP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많은 점에서 새롭고 의미 있는 경험이었습니다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.</a:t>
            </a:r>
          </a:p>
          <a:p>
            <a:pPr>
              <a:lnSpc>
                <a:spcPts val="5000"/>
              </a:lnSpc>
            </a:pP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특히 성격이 </a:t>
            </a:r>
            <a:r>
              <a:rPr lang="ko-KR" altLang="en-US" sz="3300" dirty="0" err="1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내성적인편이라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 처음에는 제대로 해낼 수 있을지 걱정도 있었지만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,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팀원들과 함께 소통하며 과제를 해결해 나가다 보니 예상보다 훨씬 잘 할 수 있었습니다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.</a:t>
            </a:r>
            <a:endParaRPr lang="ko-KR" altLang="en-US" sz="3300" dirty="0">
              <a:latin typeface="나눔휴먼OTF Light" panose="020B0600000101010101" pitchFamily="34" charset="-127"/>
              <a:ea typeface="나눔휴먼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24601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sp>
        <p:nvSpPr>
          <p:cNvPr id="29" name="TextBox 16">
            <a:extLst>
              <a:ext uri="{FF2B5EF4-FFF2-40B4-BE49-F238E27FC236}">
                <a16:creationId xmlns:a16="http://schemas.microsoft.com/office/drawing/2014/main" id="{34FF058A-38ED-74ED-D67F-8388871A6DC9}"/>
              </a:ext>
            </a:extLst>
          </p:cNvPr>
          <p:cNvSpPr txBox="1"/>
          <p:nvPr/>
        </p:nvSpPr>
        <p:spPr>
          <a:xfrm>
            <a:off x="914402" y="942101"/>
            <a:ext cx="6400798" cy="1877299"/>
          </a:xfrm>
          <a:prstGeom prst="rect">
            <a:avLst/>
          </a:prstGeom>
        </p:spPr>
        <p:txBody>
          <a:bodyPr lIns="0" tIns="197927" rIns="0" bIns="0" anchor="t"/>
          <a:lstStyle/>
          <a:p>
            <a:pPr lvl="0" algn="dist">
              <a:lnSpc>
                <a:spcPct val="99600"/>
              </a:lnSpc>
              <a:defRPr/>
            </a:pPr>
            <a:r>
              <a:rPr lang="ko-KR" altLang="en-US" sz="8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마무리 </a:t>
            </a:r>
            <a:r>
              <a:rPr lang="ko-KR" altLang="en-US" sz="4000" b="1" spc="-156" dirty="0">
                <a:solidFill>
                  <a:srgbClr val="294717"/>
                </a:solidFill>
                <a:latin typeface="나눔휴먼OTF Bold" panose="020B0600000101010101" pitchFamily="34" charset="-127"/>
                <a:ea typeface="나눔휴먼OTF Bold" panose="020B0600000101010101" pitchFamily="34" charset="-127"/>
              </a:rPr>
              <a:t>프로젝트 소감</a:t>
            </a:r>
            <a:endParaRPr lang="ko-KR" altLang="en-US" sz="4000" b="1" i="0" u="none" strike="noStrike" spc="-156" dirty="0">
              <a:solidFill>
                <a:schemeClr val="tx1">
                  <a:lumMod val="50000"/>
                  <a:lumOff val="50000"/>
                </a:schemeClr>
              </a:solidFill>
              <a:latin typeface="나눔휴먼OTF Bold" panose="020B0600000101010101" pitchFamily="34" charset="-127"/>
              <a:ea typeface="나눔휴먼OTF Bold" panose="020B0600000101010101" pitchFamily="34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E2DAA94-0E7D-8A5B-D334-FF375C16E461}"/>
              </a:ext>
            </a:extLst>
          </p:cNvPr>
          <p:cNvSpPr/>
          <p:nvPr/>
        </p:nvSpPr>
        <p:spPr>
          <a:xfrm>
            <a:off x="457200" y="1156847"/>
            <a:ext cx="152400" cy="12954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5AD3D06-1BE5-38FD-2302-B29FB8EA3F71}"/>
              </a:ext>
            </a:extLst>
          </p:cNvPr>
          <p:cNvGrpSpPr/>
          <p:nvPr/>
        </p:nvGrpSpPr>
        <p:grpSpPr>
          <a:xfrm>
            <a:off x="685800" y="406400"/>
            <a:ext cx="23089800" cy="508000"/>
            <a:chOff x="685800" y="406400"/>
            <a:chExt cx="23089800" cy="508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BDF7AB3E-BAF1-D3DB-FC08-8F5470155A57}"/>
                </a:ext>
              </a:extLst>
            </p:cNvPr>
            <p:cNvGrpSpPr/>
            <p:nvPr/>
          </p:nvGrpSpPr>
          <p:grpSpPr>
            <a:xfrm>
              <a:off x="685800" y="406400"/>
              <a:ext cx="3797300" cy="508000"/>
              <a:chOff x="990600" y="800100"/>
              <a:chExt cx="3797300" cy="508000"/>
            </a:xfrm>
          </p:grpSpPr>
          <p:sp>
            <p:nvSpPr>
              <p:cNvPr id="34" name="TextBox 5">
                <a:extLst>
                  <a:ext uri="{FF2B5EF4-FFF2-40B4-BE49-F238E27FC236}">
                    <a16:creationId xmlns:a16="http://schemas.microsoft.com/office/drawing/2014/main" id="{1B32DFBC-EB3E-C9A6-B927-032FF7C337A3}"/>
                  </a:ext>
                </a:extLst>
              </p:cNvPr>
              <p:cNvSpPr txBox="1"/>
              <p:nvPr/>
            </p:nvSpPr>
            <p:spPr>
              <a:xfrm>
                <a:off x="1498600" y="800100"/>
                <a:ext cx="3289300" cy="508000"/>
              </a:xfrm>
              <a:prstGeom prst="rect">
                <a:avLst/>
              </a:prstGeom>
            </p:spPr>
            <p:txBody>
              <a:bodyPr lIns="0" tIns="36058" rIns="0" bIns="0" anchor="t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en-US" altLang="ko-KR" sz="2839" b="0" i="0" u="none" strike="noStrike" dirty="0" err="1">
                    <a:solidFill>
                      <a:srgbClr val="464749"/>
                    </a:solidFill>
                    <a:latin typeface="나눔휴먼OTF Regular" panose="020B0600000101010101" pitchFamily="34" charset="-127"/>
                    <a:ea typeface="나눔휴먼OTF Regular" panose="020B0600000101010101" pitchFamily="34" charset="-127"/>
                  </a:rPr>
                  <a:t>Multi_FC</a:t>
                </a:r>
                <a:endParaRPr lang="en-US" altLang="ko-KR" sz="2839" b="0" i="0" u="none" strike="noStrike" dirty="0">
                  <a:solidFill>
                    <a:srgbClr val="464749"/>
                  </a:solidFill>
                  <a:latin typeface="나눔휴먼OTF Regular" panose="020B0600000101010101" pitchFamily="34" charset="-127"/>
                  <a:ea typeface="나눔휴먼OTF Regular" panose="020B0600000101010101" pitchFamily="34" charset="-127"/>
                </a:endParaRPr>
              </a:p>
            </p:txBody>
          </p:sp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8ED241F0-9B2D-711E-43CD-534D892FC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600" y="850900"/>
                <a:ext cx="406400" cy="406400"/>
              </a:xfrm>
              <a:prstGeom prst="rect">
                <a:avLst/>
              </a:prstGeom>
            </p:spPr>
          </p:pic>
        </p:grpSp>
        <p:pic>
          <p:nvPicPr>
            <p:cNvPr id="33" name="Picture 5">
              <a:extLst>
                <a:ext uri="{FF2B5EF4-FFF2-40B4-BE49-F238E27FC236}">
                  <a16:creationId xmlns:a16="http://schemas.microsoft.com/office/drawing/2014/main" id="{97A8FD70-4B75-E0FB-E824-754A7E250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85800"/>
              <a:ext cx="20880000" cy="23714"/>
            </a:xfrm>
            <a:prstGeom prst="rect">
              <a:avLst/>
            </a:prstGeom>
          </p:spPr>
        </p:pic>
      </p:grpSp>
      <p:pic>
        <p:nvPicPr>
          <p:cNvPr id="36" name="Picture 5">
            <a:extLst>
              <a:ext uri="{FF2B5EF4-FFF2-40B4-BE49-F238E27FC236}">
                <a16:creationId xmlns:a16="http://schemas.microsoft.com/office/drawing/2014/main" id="{40E41A3A-BE2B-19E1-1D6B-4B3A82D8E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00" y="13157201"/>
            <a:ext cx="23040000" cy="26167"/>
          </a:xfrm>
          <a:prstGeom prst="rect">
            <a:avLst/>
          </a:prstGeom>
        </p:spPr>
      </p:pic>
      <p:sp>
        <p:nvSpPr>
          <p:cNvPr id="26" name="TextBox 22">
            <a:extLst>
              <a:ext uri="{FF2B5EF4-FFF2-40B4-BE49-F238E27FC236}">
                <a16:creationId xmlns:a16="http://schemas.microsoft.com/office/drawing/2014/main" id="{4A410FDF-8C58-C4A1-ED03-575FAD0DB72E}"/>
              </a:ext>
            </a:extLst>
          </p:cNvPr>
          <p:cNvSpPr txBox="1"/>
          <p:nvPr/>
        </p:nvSpPr>
        <p:spPr>
          <a:xfrm>
            <a:off x="20853400" y="863600"/>
            <a:ext cx="2527300" cy="4572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sz="2592" dirty="0">
                <a:solidFill>
                  <a:srgbClr val="787878"/>
                </a:solidFill>
                <a:latin typeface="Poppins Regular"/>
              </a:rPr>
              <a:t>56</a:t>
            </a:r>
            <a:endParaRPr lang="en" sz="2592" b="0" i="0" u="none" strike="noStrike" dirty="0">
              <a:solidFill>
                <a:srgbClr val="787878"/>
              </a:solidFill>
              <a:latin typeface="Poppins Regular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6E5CD10-996C-45C2-A4A6-78CC2CE913A6}"/>
              </a:ext>
            </a:extLst>
          </p:cNvPr>
          <p:cNvGrpSpPr/>
          <p:nvPr/>
        </p:nvGrpSpPr>
        <p:grpSpPr>
          <a:xfrm>
            <a:off x="1092200" y="2827019"/>
            <a:ext cx="19570699" cy="4578362"/>
            <a:chOff x="1300422" y="6379594"/>
            <a:chExt cx="19570699" cy="4388266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A9CC7F8C-0CFF-F904-D16F-CE5558D17C92}"/>
                </a:ext>
              </a:extLst>
            </p:cNvPr>
            <p:cNvGrpSpPr/>
            <p:nvPr/>
          </p:nvGrpSpPr>
          <p:grpSpPr>
            <a:xfrm>
              <a:off x="1300422" y="6854456"/>
              <a:ext cx="19570699" cy="3913404"/>
              <a:chOff x="1300422" y="6854456"/>
              <a:chExt cx="19570699" cy="3913404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FE245A7D-C3AA-0461-F6A1-69B03A4135AA}"/>
                  </a:ext>
                </a:extLst>
              </p:cNvPr>
              <p:cNvSpPr/>
              <p:nvPr/>
            </p:nvSpPr>
            <p:spPr>
              <a:xfrm>
                <a:off x="1300422" y="6854456"/>
                <a:ext cx="19570699" cy="3013670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" name="이등변 삼각형 5">
                <a:extLst>
                  <a:ext uri="{FF2B5EF4-FFF2-40B4-BE49-F238E27FC236}">
                    <a16:creationId xmlns:a16="http://schemas.microsoft.com/office/drawing/2014/main" id="{8238B6BB-6BC1-D078-F165-DDFC7F7BE03D}"/>
                  </a:ext>
                </a:extLst>
              </p:cNvPr>
              <p:cNvSpPr/>
              <p:nvPr/>
            </p:nvSpPr>
            <p:spPr>
              <a:xfrm rot="8756057">
                <a:off x="2343449" y="9396260"/>
                <a:ext cx="990000" cy="1371600"/>
              </a:xfrm>
              <a:prstGeom prst="triangl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F9F1B2E-C7BB-5EEE-9A2F-DD7041C56B64}"/>
                </a:ext>
              </a:extLst>
            </p:cNvPr>
            <p:cNvSpPr txBox="1"/>
            <p:nvPr/>
          </p:nvSpPr>
          <p:spPr>
            <a:xfrm>
              <a:off x="1639916" y="6379594"/>
              <a:ext cx="18891710" cy="16312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0" dirty="0">
                  <a:solidFill>
                    <a:schemeClr val="accent3">
                      <a:lumMod val="50000"/>
                    </a:schemeClr>
                  </a:solidFill>
                  <a:latin typeface="나눔휴먼OTF ExtraBold" panose="020B0600000101010101" pitchFamily="34" charset="-127"/>
                  <a:ea typeface="나눔휴먼OTF ExtraBold" panose="020B0600000101010101" pitchFamily="34" charset="-127"/>
                </a:rPr>
                <a:t>“                                                                ”</a:t>
              </a:r>
              <a:endParaRPr lang="ko-KR" altLang="en-US" sz="10000" dirty="0">
                <a:solidFill>
                  <a:schemeClr val="accent3">
                    <a:lumMod val="50000"/>
                  </a:schemeClr>
                </a:solidFill>
                <a:latin typeface="나눔휴먼OTF ExtraBold" panose="020B0600000101010101" pitchFamily="34" charset="-127"/>
                <a:ea typeface="나눔휴먼OTF ExtraBold" panose="020B0600000101010101" pitchFamily="34" charset="-127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A08CCB7-2170-5545-B714-5892239DD893}"/>
              </a:ext>
            </a:extLst>
          </p:cNvPr>
          <p:cNvGrpSpPr/>
          <p:nvPr/>
        </p:nvGrpSpPr>
        <p:grpSpPr>
          <a:xfrm>
            <a:off x="3810001" y="7122583"/>
            <a:ext cx="19570699" cy="5998725"/>
            <a:chOff x="1300422" y="6529237"/>
            <a:chExt cx="19570699" cy="4112202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698FB18D-27EB-B4FD-6B2A-0596BACB5C04}"/>
                </a:ext>
              </a:extLst>
            </p:cNvPr>
            <p:cNvGrpSpPr/>
            <p:nvPr/>
          </p:nvGrpSpPr>
          <p:grpSpPr>
            <a:xfrm>
              <a:off x="1300422" y="6854456"/>
              <a:ext cx="19570699" cy="3786983"/>
              <a:chOff x="1300422" y="6854456"/>
              <a:chExt cx="19570699" cy="3786983"/>
            </a:xfrm>
          </p:grpSpPr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436F1E10-0A4F-DCF7-AE00-72C25CF944B2}"/>
                  </a:ext>
                </a:extLst>
              </p:cNvPr>
              <p:cNvSpPr/>
              <p:nvPr/>
            </p:nvSpPr>
            <p:spPr>
              <a:xfrm>
                <a:off x="1300422" y="6854456"/>
                <a:ext cx="19570699" cy="3013670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" name="이등변 삼각형 15">
                <a:extLst>
                  <a:ext uri="{FF2B5EF4-FFF2-40B4-BE49-F238E27FC236}">
                    <a16:creationId xmlns:a16="http://schemas.microsoft.com/office/drawing/2014/main" id="{E390E338-76AE-0E66-A99A-9762A5A7308E}"/>
                  </a:ext>
                </a:extLst>
              </p:cNvPr>
              <p:cNvSpPr/>
              <p:nvPr/>
            </p:nvSpPr>
            <p:spPr>
              <a:xfrm rot="13211803">
                <a:off x="18711106" y="9269839"/>
                <a:ext cx="990000" cy="1371600"/>
              </a:xfrm>
              <a:prstGeom prst="triangl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A89BA9C-7843-2927-1C91-8ACB62E82F7F}"/>
                </a:ext>
              </a:extLst>
            </p:cNvPr>
            <p:cNvSpPr txBox="1"/>
            <p:nvPr/>
          </p:nvSpPr>
          <p:spPr>
            <a:xfrm>
              <a:off x="1605221" y="6529237"/>
              <a:ext cx="18891710" cy="16312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0" dirty="0">
                  <a:solidFill>
                    <a:schemeClr val="accent3">
                      <a:lumMod val="50000"/>
                    </a:schemeClr>
                  </a:solidFill>
                  <a:latin typeface="나눔휴먼OTF ExtraBold" panose="020B0600000101010101" pitchFamily="34" charset="-127"/>
                  <a:ea typeface="나눔휴먼OTF ExtraBold" panose="020B0600000101010101" pitchFamily="34" charset="-127"/>
                </a:rPr>
                <a:t>“                                                                ”</a:t>
              </a:r>
              <a:endParaRPr lang="ko-KR" altLang="en-US" sz="10000" dirty="0">
                <a:solidFill>
                  <a:schemeClr val="accent3">
                    <a:lumMod val="50000"/>
                  </a:schemeClr>
                </a:solidFill>
                <a:latin typeface="나눔휴먼OTF ExtraBold" panose="020B0600000101010101" pitchFamily="34" charset="-127"/>
                <a:ea typeface="나눔휴먼OTF ExtraBold" panose="020B0600000101010101" pitchFamily="34" charset="-127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34CCD9D-6097-CE9E-EFC2-E8BE3C14F5EA}"/>
              </a:ext>
            </a:extLst>
          </p:cNvPr>
          <p:cNvSpPr txBox="1"/>
          <p:nvPr/>
        </p:nvSpPr>
        <p:spPr>
          <a:xfrm>
            <a:off x="4028638" y="7788170"/>
            <a:ext cx="19341429" cy="388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000"/>
              </a:lnSpc>
            </a:pP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팀 프로젝트를 진행하며 역할 분담과 코드 리뷰를 경험했고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,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그 과정에서 협업의 중요성을 자연스럽게 느낄 수 있었습니다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.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특히 제가 담당한 </a:t>
            </a:r>
            <a:r>
              <a:rPr lang="en-US" altLang="ko-KR" sz="3300" b="1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Kakao API </a:t>
            </a:r>
            <a:r>
              <a:rPr lang="ko-KR" altLang="en-US" sz="3300" b="1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데이터 정제와 </a:t>
            </a:r>
            <a:r>
              <a:rPr lang="en-US" altLang="ko-KR" sz="3300" b="1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WebSocket </a:t>
            </a:r>
            <a:r>
              <a:rPr lang="ko-KR" altLang="en-US" sz="3300" b="1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기반의 실시간 매칭 구현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에서는 사용자 위치 변화와 매칭 상태를 빠르게 처리해야 했기 때문에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,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실시간 서비스가 얼마나 많은 기술적 고려를 필요로 하는지도 직접 경험했습니다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.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이런 과정은 단순히 기능을 만드는 것 이상으로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,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안정적으로 서비스가 돌아가기 위해 무엇을 고민해야 하는지 깨닫게 해주었습니다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.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앞으로도 이러한 경험을 바탕으로 더 견고하고 효율적인 </a:t>
            </a:r>
            <a:r>
              <a:rPr lang="ko-KR" altLang="en-US" sz="3300" dirty="0" err="1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백엔드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 개발을 추구하며 성장하고 싶습니다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. </a:t>
            </a:r>
            <a:endParaRPr lang="ko-KR" altLang="en-US" sz="3300" dirty="0">
              <a:latin typeface="나눔휴먼OTF Light" panose="020B0600000101010101" pitchFamily="34" charset="-127"/>
              <a:ea typeface="나눔휴먼OTF Light" panose="020B0600000101010101" pitchFamily="34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72E376-8365-078A-2F8D-B05CFC50B225}"/>
              </a:ext>
            </a:extLst>
          </p:cNvPr>
          <p:cNvSpPr txBox="1"/>
          <p:nvPr/>
        </p:nvSpPr>
        <p:spPr>
          <a:xfrm>
            <a:off x="1537371" y="3581400"/>
            <a:ext cx="19341429" cy="2603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000"/>
              </a:lnSpc>
            </a:pP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팀프로젝트에 대한 경험이 두 </a:t>
            </a:r>
            <a:r>
              <a:rPr lang="ko-KR" altLang="en-US" sz="3300" dirty="0" err="1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번째여서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 상당히 미숙하고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,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아쉬운 모습을 </a:t>
            </a:r>
            <a:r>
              <a:rPr lang="ko-KR" altLang="en-US" sz="3300" dirty="0" err="1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보여드리긴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 했지만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,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맡은 책임에 대해서는 최대한 수행을 다 하고자 노력을 하였습니다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. 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다행히 </a:t>
            </a:r>
            <a:r>
              <a:rPr lang="ko-KR" altLang="en-US" sz="3300" dirty="0" err="1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능력있는</a:t>
            </a: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 좋은 팀원분들과 함께 작업을 하여서 원활하게 프로젝트를 마칠 수 있어서 많은 깨달음을 얻을 수 있는 팀 프로젝트 활동이었습니다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. </a:t>
            </a:r>
          </a:p>
          <a:p>
            <a:pPr>
              <a:lnSpc>
                <a:spcPts val="5000"/>
              </a:lnSpc>
            </a:pPr>
            <a:r>
              <a:rPr lang="ko-KR" altLang="en-US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앞으로도 팀원을 위해 제 자신을 위해 더욱 더 정진해 나가겠습니다</a:t>
            </a:r>
            <a:r>
              <a:rPr lang="en-US" altLang="ko-KR" sz="3300" dirty="0">
                <a:latin typeface="나눔휴먼OTF Light" panose="020B0600000101010101" pitchFamily="34" charset="-127"/>
                <a:ea typeface="나눔휴먼OTF Light" panose="020B0600000101010101" pitchFamily="34" charset="-127"/>
              </a:rPr>
              <a:t>.</a:t>
            </a:r>
            <a:endParaRPr lang="ko-KR" altLang="en-US" sz="3300" dirty="0">
              <a:latin typeface="나눔휴먼OTF Light" panose="020B0600000101010101" pitchFamily="34" charset="-127"/>
              <a:ea typeface="나눔휴먼OTF Light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280684-0B1F-F0C4-F89F-9A8D27BACF3E}"/>
              </a:ext>
            </a:extLst>
          </p:cNvPr>
          <p:cNvSpPr txBox="1"/>
          <p:nvPr/>
        </p:nvSpPr>
        <p:spPr>
          <a:xfrm>
            <a:off x="2263055" y="2819400"/>
            <a:ext cx="12650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>
                <a:latin typeface="나눔휴먼OTF ExtraBold" panose="020B0600000101010101" pitchFamily="34" charset="-127"/>
                <a:ea typeface="나눔휴먼OTF ExtraBold" panose="020B0600000101010101" pitchFamily="34" charset="-127"/>
              </a:rPr>
              <a:t>Choi</a:t>
            </a:r>
            <a:endParaRPr lang="ko-KR" altLang="en-US" sz="4000" dirty="0">
              <a:latin typeface="나눔휴먼OTF ExtraBold" panose="020B0600000101010101" pitchFamily="34" charset="-127"/>
              <a:ea typeface="나눔휴먼OTF ExtraBold" panose="020B0600000101010101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767F33-98BD-3F4B-B13B-F18F06CD5559}"/>
              </a:ext>
            </a:extLst>
          </p:cNvPr>
          <p:cNvSpPr txBox="1"/>
          <p:nvPr/>
        </p:nvSpPr>
        <p:spPr>
          <a:xfrm>
            <a:off x="20573999" y="7057948"/>
            <a:ext cx="14702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>
                <a:latin typeface="나눔휴먼OTF ExtraBold" panose="020B0600000101010101" pitchFamily="34" charset="-127"/>
                <a:ea typeface="나눔휴먼OTF ExtraBold" panose="020B0600000101010101" pitchFamily="34" charset="-127"/>
              </a:rPr>
              <a:t>Hong</a:t>
            </a:r>
            <a:endParaRPr lang="ko-KR" altLang="en-US" sz="4000" dirty="0">
              <a:latin typeface="나눔휴먼OTF ExtraBold" panose="020B0600000101010101" pitchFamily="34" charset="-127"/>
              <a:ea typeface="나눔휴먼OTF Extra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23720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>
            <a:extLst>
              <a:ext uri="{FF2B5EF4-FFF2-40B4-BE49-F238E27FC236}">
                <a16:creationId xmlns:a16="http://schemas.microsoft.com/office/drawing/2014/main" id="{8E2D0A8D-7FD0-7461-43E1-A551823EEF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8C2497D7-669C-0414-51CD-799880A0A5F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70000" contrast="-70000"/>
            <a:alphaModFix amt="35000"/>
          </a:blip>
          <a:stretch>
            <a:fillRect/>
          </a:stretch>
        </p:blipFill>
        <p:spPr>
          <a:xfrm>
            <a:off x="-1447800" y="-990600"/>
            <a:ext cx="8686800" cy="868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TextBox 5">
            <a:extLst>
              <a:ext uri="{FF2B5EF4-FFF2-40B4-BE49-F238E27FC236}">
                <a16:creationId xmlns:a16="http://schemas.microsoft.com/office/drawing/2014/main" id="{9870897C-C5C8-2770-8F1E-D0F5A4A2CDF4}"/>
              </a:ext>
            </a:extLst>
          </p:cNvPr>
          <p:cNvSpPr txBox="1"/>
          <p:nvPr/>
        </p:nvSpPr>
        <p:spPr>
          <a:xfrm>
            <a:off x="1498600" y="800100"/>
            <a:ext cx="3289300" cy="508000"/>
          </a:xfrm>
          <a:prstGeom prst="rect">
            <a:avLst/>
          </a:prstGeom>
        </p:spPr>
        <p:txBody>
          <a:bodyPr lIns="0" tIns="36058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2839" b="0" i="0" u="none" strike="noStrike" dirty="0" err="1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Multi_FC</a:t>
            </a:r>
            <a:endParaRPr lang="en-US" altLang="ko-KR" sz="2839" b="0" i="0" u="none" strike="noStrike" dirty="0">
              <a:solidFill>
                <a:srgbClr val="464749"/>
              </a:solidFill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7DB32463-CBD0-1B7C-B9FA-4CD67739E203}"/>
              </a:ext>
            </a:extLst>
          </p:cNvPr>
          <p:cNvSpPr txBox="1"/>
          <p:nvPr/>
        </p:nvSpPr>
        <p:spPr>
          <a:xfrm>
            <a:off x="19354800" y="863600"/>
            <a:ext cx="4025900" cy="457200"/>
          </a:xfrm>
          <a:prstGeom prst="rect">
            <a:avLst/>
          </a:prstGeom>
        </p:spPr>
        <p:txBody>
          <a:bodyPr anchor="t"/>
          <a:lstStyle/>
          <a:p>
            <a:pPr lvl="0" algn="r">
              <a:lnSpc>
                <a:spcPct val="124499"/>
              </a:lnSpc>
              <a:defRPr/>
            </a:pPr>
            <a:r>
              <a:rPr lang="en-US" altLang="ko-KR" sz="2592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December 03</a:t>
            </a:r>
            <a:r>
              <a:rPr lang="en" sz="2592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, </a:t>
            </a:r>
            <a:r>
              <a:rPr lang="en-US" altLang="ko-KR" sz="2592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2025</a:t>
            </a:r>
          </a:p>
        </p:txBody>
      </p:sp>
      <p:pic>
        <p:nvPicPr>
          <p:cNvPr id="30" name="Picture 9">
            <a:extLst>
              <a:ext uri="{FF2B5EF4-FFF2-40B4-BE49-F238E27FC236}">
                <a16:creationId xmlns:a16="http://schemas.microsoft.com/office/drawing/2014/main" id="{C047946A-0974-0706-15FF-A59E1C79F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10833100"/>
            <a:ext cx="22364700" cy="25400"/>
          </a:xfrm>
          <a:prstGeom prst="rect">
            <a:avLst/>
          </a:prstGeom>
        </p:spPr>
      </p:pic>
      <p:sp>
        <p:nvSpPr>
          <p:cNvPr id="31" name="TextBox 10">
            <a:extLst>
              <a:ext uri="{FF2B5EF4-FFF2-40B4-BE49-F238E27FC236}">
                <a16:creationId xmlns:a16="http://schemas.microsoft.com/office/drawing/2014/main" id="{F9FD50CD-12B6-CEB4-252F-3FFC6FDCCF84}"/>
              </a:ext>
            </a:extLst>
          </p:cNvPr>
          <p:cNvSpPr txBox="1"/>
          <p:nvPr/>
        </p:nvSpPr>
        <p:spPr>
          <a:xfrm>
            <a:off x="990600" y="12268200"/>
            <a:ext cx="7010400" cy="546100"/>
          </a:xfrm>
          <a:prstGeom prst="rect">
            <a:avLst/>
          </a:prstGeom>
        </p:spPr>
        <p:txBody>
          <a:bodyPr lIns="0" tIns="89578" rIns="0" bIns="0" anchor="t"/>
          <a:lstStyle/>
          <a:p>
            <a:pPr lvl="0" algn="l">
              <a:lnSpc>
                <a:spcPct val="78020"/>
              </a:lnSpc>
              <a:defRPr/>
            </a:pPr>
            <a:r>
              <a:rPr lang="en-US" altLang="ko-KR" sz="3066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[5</a:t>
            </a:r>
            <a:r>
              <a:rPr lang="ko-KR" altLang="en-US" sz="3066" b="0" i="0" u="none" strike="noStrike" dirty="0" err="1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회차</a:t>
            </a:r>
            <a:r>
              <a:rPr lang="en-US" altLang="ko-KR" sz="3066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]</a:t>
            </a:r>
            <a:r>
              <a:rPr lang="ko-KR" altLang="en-US" sz="3066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 </a:t>
            </a:r>
            <a:r>
              <a:rPr lang="ko-KR" altLang="en-US" sz="3066" b="0" i="0" u="none" strike="noStrike" dirty="0" err="1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백엔드</a:t>
            </a:r>
            <a:r>
              <a:rPr lang="ko-KR" altLang="en-US" sz="3066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 개발자 부트캠프</a:t>
            </a:r>
            <a:r>
              <a:rPr lang="en-US" altLang="ko-KR" sz="3066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(</a:t>
            </a:r>
            <a:r>
              <a:rPr lang="ko-KR" altLang="en-US" sz="3066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스프링</a:t>
            </a:r>
            <a:r>
              <a:rPr lang="en-US" altLang="ko-KR" sz="3066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)</a:t>
            </a:r>
          </a:p>
        </p:txBody>
      </p:sp>
      <p:sp>
        <p:nvSpPr>
          <p:cNvPr id="32" name="TextBox 11">
            <a:extLst>
              <a:ext uri="{FF2B5EF4-FFF2-40B4-BE49-F238E27FC236}">
                <a16:creationId xmlns:a16="http://schemas.microsoft.com/office/drawing/2014/main" id="{9206E138-9666-573D-9139-334A5B71A099}"/>
              </a:ext>
            </a:extLst>
          </p:cNvPr>
          <p:cNvSpPr txBox="1"/>
          <p:nvPr/>
        </p:nvSpPr>
        <p:spPr>
          <a:xfrm>
            <a:off x="990600" y="11506200"/>
            <a:ext cx="2895600" cy="495300"/>
          </a:xfrm>
          <a:prstGeom prst="rect">
            <a:avLst/>
          </a:prstGeom>
        </p:spPr>
        <p:txBody>
          <a:bodyPr anchor="t"/>
          <a:lstStyle/>
          <a:p>
            <a:pPr lvl="0" algn="l">
              <a:lnSpc>
                <a:spcPct val="167660"/>
              </a:lnSpc>
              <a:defRPr/>
            </a:pPr>
            <a:r>
              <a:rPr lang="en-US" altLang="ko-KR" sz="2800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MULTICAMPUS</a:t>
            </a: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F198C5FB-CB23-C7A5-F8B7-ABA9D864BD43}"/>
              </a:ext>
            </a:extLst>
          </p:cNvPr>
          <p:cNvSpPr txBox="1"/>
          <p:nvPr/>
        </p:nvSpPr>
        <p:spPr>
          <a:xfrm>
            <a:off x="20802600" y="12255500"/>
            <a:ext cx="2590800" cy="546100"/>
          </a:xfrm>
          <a:prstGeom prst="rect">
            <a:avLst/>
          </a:prstGeom>
        </p:spPr>
        <p:txBody>
          <a:bodyPr lIns="0" tIns="89578" rIns="0" bIns="0" anchor="t"/>
          <a:lstStyle/>
          <a:p>
            <a:pPr lvl="0" algn="l">
              <a:lnSpc>
                <a:spcPct val="78020"/>
              </a:lnSpc>
              <a:defRPr/>
            </a:pPr>
            <a:r>
              <a:rPr lang="en-US" altLang="ko-KR" sz="3066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1</a:t>
            </a:r>
            <a:r>
              <a:rPr lang="ko-KR" altLang="en-US" sz="3066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조  </a:t>
            </a:r>
            <a:r>
              <a:rPr lang="en-US" altLang="ko-KR" sz="3066" b="0" i="0" u="none" strike="noStrike" dirty="0" err="1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Multi_fc</a:t>
            </a:r>
            <a:endParaRPr lang="en-US" altLang="ko-KR" sz="3066" b="0" i="0" u="none" strike="noStrike" dirty="0">
              <a:solidFill>
                <a:srgbClr val="464749"/>
              </a:solidFill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E363299B-9200-29B9-C219-89DFA5B1DB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850900"/>
            <a:ext cx="406400" cy="4064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80C24AB8-990C-A390-F404-9449E4A3F718}"/>
              </a:ext>
            </a:extLst>
          </p:cNvPr>
          <p:cNvSpPr txBox="1"/>
          <p:nvPr/>
        </p:nvSpPr>
        <p:spPr>
          <a:xfrm>
            <a:off x="4298950" y="3989683"/>
            <a:ext cx="15786100" cy="573663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0" dirty="0">
                <a:latin typeface="나눔휴먼OTF Heavy" panose="020B0600000101010101" pitchFamily="34" charset="-127"/>
                <a:ea typeface="나눔휴먼OTF Heavy" panose="020B0600000101010101" pitchFamily="34" charset="-127"/>
              </a:rPr>
              <a:t>THANK YOU</a:t>
            </a:r>
          </a:p>
          <a:p>
            <a:pPr algn="ctr">
              <a:lnSpc>
                <a:spcPct val="150000"/>
              </a:lnSpc>
            </a:pPr>
            <a:r>
              <a:rPr lang="en-US" altLang="ko-KR" sz="50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- </a:t>
            </a:r>
            <a:r>
              <a:rPr lang="ko-KR" altLang="en-US" sz="50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권성민</a:t>
            </a:r>
            <a:r>
              <a:rPr lang="en-US" altLang="ko-KR" sz="50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, </a:t>
            </a:r>
            <a:r>
              <a:rPr lang="ko-KR" altLang="en-US" sz="50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문진우</a:t>
            </a:r>
            <a:r>
              <a:rPr lang="en-US" altLang="ko-KR" sz="50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, </a:t>
            </a:r>
            <a:r>
              <a:rPr lang="ko-KR" altLang="en-US" sz="50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박태란</a:t>
            </a:r>
            <a:r>
              <a:rPr lang="en-US" altLang="ko-KR" sz="50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, </a:t>
            </a:r>
            <a:r>
              <a:rPr lang="ko-KR" altLang="en-US" sz="5000" dirty="0" err="1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윤승근</a:t>
            </a:r>
            <a:r>
              <a:rPr lang="en-US" altLang="ko-KR" sz="50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, </a:t>
            </a:r>
            <a:r>
              <a:rPr lang="ko-KR" altLang="en-US" sz="50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최준호</a:t>
            </a:r>
            <a:r>
              <a:rPr lang="en-US" altLang="ko-KR" sz="50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, </a:t>
            </a:r>
            <a:r>
              <a:rPr lang="ko-KR" altLang="en-US" sz="5000" dirty="0" err="1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홍예린</a:t>
            </a:r>
            <a:r>
              <a:rPr lang="ko-KR" altLang="en-US" sz="50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 </a:t>
            </a:r>
            <a:r>
              <a:rPr lang="en-US" altLang="ko-KR" sz="5000" dirty="0"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- </a:t>
            </a:r>
            <a:endParaRPr lang="ko-KR" altLang="en-US" sz="5000" dirty="0"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>
            <a:extLst>
              <a:ext uri="{FF2B5EF4-FFF2-40B4-BE49-F238E27FC236}">
                <a16:creationId xmlns:a16="http://schemas.microsoft.com/office/drawing/2014/main" id="{8E2D0A8D-7FD0-7461-43E1-A551823EEF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80000"/>
          </a:blip>
          <a:stretch>
            <a:fillRect/>
          </a:stretch>
        </p:blipFill>
        <p:spPr>
          <a:xfrm>
            <a:off x="-27709" y="0"/>
            <a:ext cx="24384000" cy="1371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30A4DCC-FD47-07FA-8245-2BB15CC9296B}"/>
              </a:ext>
            </a:extLst>
          </p:cNvPr>
          <p:cNvPicPr/>
          <p:nvPr/>
        </p:nvPicPr>
        <p:blipFill rotWithShape="1">
          <a:blip r:embed="rId3">
            <a:lum bright="70000" contrast="-70000"/>
            <a:alphaModFix amt="50000"/>
          </a:blip>
          <a:stretch>
            <a:fillRect/>
          </a:stretch>
        </p:blipFill>
        <p:spPr>
          <a:xfrm>
            <a:off x="15970845" y="6807966"/>
            <a:ext cx="9876776" cy="9033095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8C2497D7-669C-0414-51CD-799880A0A5F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  <a:alphaModFix amt="35000"/>
          </a:blip>
          <a:stretch>
            <a:fillRect/>
          </a:stretch>
        </p:blipFill>
        <p:spPr>
          <a:xfrm>
            <a:off x="-1447800" y="-990600"/>
            <a:ext cx="8686800" cy="868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TextBox 5">
            <a:extLst>
              <a:ext uri="{FF2B5EF4-FFF2-40B4-BE49-F238E27FC236}">
                <a16:creationId xmlns:a16="http://schemas.microsoft.com/office/drawing/2014/main" id="{9870897C-C5C8-2770-8F1E-D0F5A4A2CDF4}"/>
              </a:ext>
            </a:extLst>
          </p:cNvPr>
          <p:cNvSpPr txBox="1"/>
          <p:nvPr/>
        </p:nvSpPr>
        <p:spPr>
          <a:xfrm>
            <a:off x="1498600" y="800100"/>
            <a:ext cx="3289300" cy="508000"/>
          </a:xfrm>
          <a:prstGeom prst="rect">
            <a:avLst/>
          </a:prstGeom>
        </p:spPr>
        <p:txBody>
          <a:bodyPr lIns="0" tIns="36058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altLang="ko-KR" sz="2839" b="0" i="0" u="none" strike="noStrike" dirty="0" err="1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Multi_FC</a:t>
            </a:r>
            <a:endParaRPr lang="en-US" altLang="ko-KR" sz="2839" b="0" i="0" u="none" strike="noStrike" dirty="0">
              <a:solidFill>
                <a:srgbClr val="464749"/>
              </a:solidFill>
              <a:latin typeface="나눔휴먼OTF Regular" panose="020B0600000101010101" pitchFamily="34" charset="-127"/>
              <a:ea typeface="나눔휴먼OTF Regular" panose="020B0600000101010101" pitchFamily="34" charset="-127"/>
            </a:endParaRP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7DB32463-CBD0-1B7C-B9FA-4CD67739E203}"/>
              </a:ext>
            </a:extLst>
          </p:cNvPr>
          <p:cNvSpPr txBox="1"/>
          <p:nvPr/>
        </p:nvSpPr>
        <p:spPr>
          <a:xfrm>
            <a:off x="19354800" y="762000"/>
            <a:ext cx="4025900" cy="457200"/>
          </a:xfrm>
          <a:prstGeom prst="rect">
            <a:avLst/>
          </a:prstGeom>
        </p:spPr>
        <p:txBody>
          <a:bodyPr anchor="t"/>
          <a:lstStyle/>
          <a:p>
            <a:pPr lvl="0" algn="r">
              <a:lnSpc>
                <a:spcPct val="124499"/>
              </a:lnSpc>
              <a:defRPr/>
            </a:pPr>
            <a:r>
              <a:rPr lang="en-US" altLang="ko-KR" sz="2592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December 03</a:t>
            </a:r>
            <a:r>
              <a:rPr lang="en" sz="2592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, </a:t>
            </a:r>
            <a:r>
              <a:rPr lang="en-US" altLang="ko-KR" sz="2592" b="0" i="0" u="none" strike="noStrike" dirty="0">
                <a:solidFill>
                  <a:srgbClr val="464749"/>
                </a:solidFill>
                <a:latin typeface="나눔휴먼OTF Regular" panose="020B0600000101010101" pitchFamily="34" charset="-127"/>
                <a:ea typeface="나눔휴먼OTF Regular" panose="020B0600000101010101" pitchFamily="34" charset="-127"/>
              </a:rPr>
              <a:t>2025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E363299B-9200-29B9-C219-89DFA5B1DB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850900"/>
            <a:ext cx="406400" cy="4064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80C24AB8-990C-A390-F404-9449E4A3F718}"/>
              </a:ext>
            </a:extLst>
          </p:cNvPr>
          <p:cNvSpPr txBox="1"/>
          <p:nvPr/>
        </p:nvSpPr>
        <p:spPr>
          <a:xfrm>
            <a:off x="4298950" y="4888230"/>
            <a:ext cx="15786100" cy="393954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5000" dirty="0">
                <a:latin typeface="나눔휴먼OTF Heavy" panose="020B0600000101010101" pitchFamily="34" charset="-127"/>
                <a:ea typeface="나눔휴먼OTF Heavy" panose="020B0600000101010101" pitchFamily="34" charset="-127"/>
              </a:rPr>
              <a:t>Q&amp;A</a:t>
            </a:r>
            <a:endParaRPr lang="ko-KR" altLang="en-US" sz="25000" dirty="0">
              <a:latin typeface="나눔휴먼OTF Heavy" panose="020B0600000101010101" pitchFamily="34" charset="-127"/>
              <a:ea typeface="나눔휴먼OTF Heavy" panose="020B0600000101010101" pitchFamily="34" charset="-127"/>
            </a:endParaRPr>
          </a:p>
        </p:txBody>
      </p:sp>
      <p:pic>
        <p:nvPicPr>
          <p:cNvPr id="2" name="Picture 5">
            <a:extLst>
              <a:ext uri="{FF2B5EF4-FFF2-40B4-BE49-F238E27FC236}">
                <a16:creationId xmlns:a16="http://schemas.microsoft.com/office/drawing/2014/main" id="{D8207E3E-CE37-1DDF-578D-80DA24D7F2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00" y="13030200"/>
            <a:ext cx="23040000" cy="26167"/>
          </a:xfrm>
          <a:prstGeom prst="rect">
            <a:avLst/>
          </a:prstGeom>
        </p:spPr>
      </p:pic>
      <p:pic>
        <p:nvPicPr>
          <p:cNvPr id="3" name="Picture 5">
            <a:extLst>
              <a:ext uri="{FF2B5EF4-FFF2-40B4-BE49-F238E27FC236}">
                <a16:creationId xmlns:a16="http://schemas.microsoft.com/office/drawing/2014/main" id="{7EBCA30D-D8A5-4071-FD4A-FBCD7F31A212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1054100"/>
            <a:ext cx="16560000" cy="1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780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1539</TotalTime>
  <Words>6080</Words>
  <Application>Microsoft Office PowerPoint</Application>
  <PresentationFormat>사용자 지정</PresentationFormat>
  <Paragraphs>1582</Paragraphs>
  <Slides>59</Slides>
  <Notes>44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59</vt:i4>
      </vt:variant>
    </vt:vector>
  </HeadingPairs>
  <TitlesOfParts>
    <vt:vector size="70" baseType="lpstr">
      <vt:lpstr>Bricolage Grotesque ExtraBold</vt:lpstr>
      <vt:lpstr>나눔스퀘어 네오 variable Heavy</vt:lpstr>
      <vt:lpstr>나눔휴먼OTF Bold</vt:lpstr>
      <vt:lpstr>나눔휴먼OTF ExtraBold</vt:lpstr>
      <vt:lpstr>나눔휴먼OTF Heavy</vt:lpstr>
      <vt:lpstr>나눔휴먼OTF Light</vt:lpstr>
      <vt:lpstr>나눔휴먼OTF Regular</vt:lpstr>
      <vt:lpstr>Arial</vt:lpstr>
      <vt:lpstr>Calibri</vt:lpstr>
      <vt:lpstr>Poppins Regular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TaeRan Park</dc:creator>
  <cp:lastModifiedBy>TaeRan Park</cp:lastModifiedBy>
  <cp:revision>21</cp:revision>
  <cp:lastPrinted>2025-12-01T10:29:24Z</cp:lastPrinted>
  <dcterms:created xsi:type="dcterms:W3CDTF">2006-08-16T00:00:00Z</dcterms:created>
  <dcterms:modified xsi:type="dcterms:W3CDTF">2025-12-02T13:18:50Z</dcterms:modified>
  <cp:version/>
</cp:coreProperties>
</file>