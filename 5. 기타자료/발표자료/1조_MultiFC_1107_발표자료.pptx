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86" r:id="rId3"/>
    <p:sldId id="257" r:id="rId4"/>
    <p:sldId id="287" r:id="rId5"/>
    <p:sldId id="263" r:id="rId6"/>
    <p:sldId id="259" r:id="rId7"/>
    <p:sldId id="264" r:id="rId8"/>
    <p:sldId id="261" r:id="rId9"/>
    <p:sldId id="268" r:id="rId10"/>
    <p:sldId id="267" r:id="rId11"/>
    <p:sldId id="266" r:id="rId12"/>
    <p:sldId id="265" r:id="rId13"/>
    <p:sldId id="272" r:id="rId14"/>
    <p:sldId id="278" r:id="rId15"/>
    <p:sldId id="279" r:id="rId16"/>
    <p:sldId id="284" r:id="rId17"/>
    <p:sldId id="280" r:id="rId18"/>
    <p:sldId id="285" r:id="rId19"/>
    <p:sldId id="256" r:id="rId2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3607" autoAdjust="0"/>
    <p:restoredTop sz="94622" autoAdjust="0"/>
  </p:normalViewPr>
  <p:slideViewPr>
    <p:cSldViewPr>
      <p:cViewPr>
        <p:scale>
          <a:sx n="130" d="100"/>
          <a:sy n="130" d="100"/>
        </p:scale>
        <p:origin x="-1092" y="-90"/>
      </p:cViewPr>
      <p:guideLst>
        <p:guide orient="horz" pos="3239"/>
        <p:guide pos="57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2025-11-08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7681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961351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760703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531648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404046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59269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51688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511340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.png"  /><Relationship Id="rId11" Type="http://schemas.openxmlformats.org/officeDocument/2006/relationships/image" Target="../media/image10.png"  /><Relationship Id="rId12" Type="http://schemas.openxmlformats.org/officeDocument/2006/relationships/image" Target="../media/image11.png"  /><Relationship Id="rId13" Type="http://schemas.openxmlformats.org/officeDocument/2006/relationships/image" Target="../media/image8.png"  /><Relationship Id="rId14" Type="http://schemas.openxmlformats.org/officeDocument/2006/relationships/image" Target="../media/image10.png"  /><Relationship Id="rId15" Type="http://schemas.openxmlformats.org/officeDocument/2006/relationships/image" Target="../media/image9.png"  /><Relationship Id="rId16" Type="http://schemas.openxmlformats.org/officeDocument/2006/relationships/image" Target="../media/image11.png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8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12.png"  /><Relationship Id="rId6" Type="http://schemas.openxmlformats.org/officeDocument/2006/relationships/image" Target="../media/image13.png"  /><Relationship Id="rId7" Type="http://schemas.openxmlformats.org/officeDocument/2006/relationships/image" Target="../media/image14.png"  /><Relationship Id="rId8" Type="http://schemas.openxmlformats.org/officeDocument/2006/relationships/image" Target="../media/image15.png"  /><Relationship Id="rId9" Type="http://schemas.openxmlformats.org/officeDocument/2006/relationships/image" Target="../media/image16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10" Type="http://schemas.openxmlformats.org/officeDocument/2006/relationships/image" Target="../media/image23.png"  /><Relationship Id="rId11" Type="http://schemas.openxmlformats.org/officeDocument/2006/relationships/image" Target="../media/image4.png"  /><Relationship Id="rId12" Type="http://schemas.openxmlformats.org/officeDocument/2006/relationships/image" Target="../media/image5.png"  /><Relationship Id="rId13" Type="http://schemas.openxmlformats.org/officeDocument/2006/relationships/image" Target="../media/image6.png"  /><Relationship Id="rId14" Type="http://schemas.openxmlformats.org/officeDocument/2006/relationships/image" Target="../media/image7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7.jpeg"  /><Relationship Id="rId4" Type="http://schemas.openxmlformats.org/officeDocument/2006/relationships/image" Target="../media/image18.jpeg"  /><Relationship Id="rId5" Type="http://schemas.openxmlformats.org/officeDocument/2006/relationships/image" Target="../media/image19.png"  /><Relationship Id="rId6" Type="http://schemas.openxmlformats.org/officeDocument/2006/relationships/image" Target="../media/image17.jpeg"  /><Relationship Id="rId7" Type="http://schemas.openxmlformats.org/officeDocument/2006/relationships/image" Target="../media/image20.png"  /><Relationship Id="rId8" Type="http://schemas.openxmlformats.org/officeDocument/2006/relationships/image" Target="../media/image21.png"  /><Relationship Id="rId9" Type="http://schemas.openxmlformats.org/officeDocument/2006/relationships/image" Target="../media/image2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10" Type="http://schemas.openxmlformats.org/officeDocument/2006/relationships/image" Target="../media/image27.png"  /><Relationship Id="rId11" Type="http://schemas.openxmlformats.org/officeDocument/2006/relationships/image" Target="../media/image28.png"  /><Relationship Id="rId12" Type="http://schemas.openxmlformats.org/officeDocument/2006/relationships/image" Target="../media/image27.png"  /><Relationship Id="rId13" Type="http://schemas.openxmlformats.org/officeDocument/2006/relationships/image" Target="../media/image27.png"  /><Relationship Id="rId14" Type="http://schemas.openxmlformats.org/officeDocument/2006/relationships/image" Target="../media/image27.png"  /><Relationship Id="rId15" Type="http://schemas.openxmlformats.org/officeDocument/2006/relationships/image" Target="../media/image29.png"  /><Relationship Id="rId16" Type="http://schemas.openxmlformats.org/officeDocument/2006/relationships/image" Target="../media/image30.png"  /><Relationship Id="rId17" Type="http://schemas.openxmlformats.org/officeDocument/2006/relationships/image" Target="../media/image31.png"  /><Relationship Id="rId18" Type="http://schemas.openxmlformats.org/officeDocument/2006/relationships/image" Target="../media/image32.png"  /><Relationship Id="rId19" Type="http://schemas.openxmlformats.org/officeDocument/2006/relationships/image" Target="../media/image33.png"  /><Relationship Id="rId2" Type="http://schemas.openxmlformats.org/officeDocument/2006/relationships/slideLayout" Target="../slideLayouts/slideLayout7.xml"  /><Relationship Id="rId20" Type="http://schemas.openxmlformats.org/officeDocument/2006/relationships/image" Target="../media/image34.png"  /><Relationship Id="rId21" Type="http://schemas.openxmlformats.org/officeDocument/2006/relationships/image" Target="../media/image35.png"  /><Relationship Id="rId22" Type="http://schemas.openxmlformats.org/officeDocument/2006/relationships/image" Target="../media/image36.png"  /><Relationship Id="rId3" Type="http://schemas.openxmlformats.org/officeDocument/2006/relationships/image" Target="../media/image24.png"  /><Relationship Id="rId4" Type="http://schemas.openxmlformats.org/officeDocument/2006/relationships/image" Target="../media/image25.png"  /><Relationship Id="rId5" Type="http://schemas.openxmlformats.org/officeDocument/2006/relationships/image" Target="../media/image26.png"  /><Relationship Id="rId6" Type="http://schemas.openxmlformats.org/officeDocument/2006/relationships/image" Target="../media/image12.png"  /><Relationship Id="rId7" Type="http://schemas.openxmlformats.org/officeDocument/2006/relationships/image" Target="../media/image13.png"  /><Relationship Id="rId8" Type="http://schemas.openxmlformats.org/officeDocument/2006/relationships/image" Target="../media/image14.png"  /><Relationship Id="rId9" Type="http://schemas.openxmlformats.org/officeDocument/2006/relationships/image" Target="../media/image1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0.png"  /><Relationship Id="rId11" Type="http://schemas.openxmlformats.org/officeDocument/2006/relationships/image" Target="../media/image40.png"  /><Relationship Id="rId12" Type="http://schemas.openxmlformats.org/officeDocument/2006/relationships/image" Target="../media/image40.png"  /><Relationship Id="rId2" Type="http://schemas.openxmlformats.org/officeDocument/2006/relationships/image" Target="../media/image37.png"  /><Relationship Id="rId3" Type="http://schemas.openxmlformats.org/officeDocument/2006/relationships/image" Target="../media/image37.png"  /><Relationship Id="rId4" Type="http://schemas.openxmlformats.org/officeDocument/2006/relationships/image" Target="../media/image38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39.png"  /><Relationship Id="rId9" Type="http://schemas.openxmlformats.org/officeDocument/2006/relationships/image" Target="../media/image40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9.png"  /><Relationship Id="rId11" Type="http://schemas.openxmlformats.org/officeDocument/2006/relationships/image" Target="../media/image48.png"  /><Relationship Id="rId12" Type="http://schemas.openxmlformats.org/officeDocument/2006/relationships/image" Target="../media/image48.png"  /><Relationship Id="rId13" Type="http://schemas.openxmlformats.org/officeDocument/2006/relationships/image" Target="../media/image48.png"  /><Relationship Id="rId14" Type="http://schemas.openxmlformats.org/officeDocument/2006/relationships/image" Target="../media/image50.png"  /><Relationship Id="rId15" Type="http://schemas.openxmlformats.org/officeDocument/2006/relationships/image" Target="../media/image51.png"  /><Relationship Id="rId16" Type="http://schemas.openxmlformats.org/officeDocument/2006/relationships/image" Target="../media/image52.png"  /><Relationship Id="rId17" Type="http://schemas.openxmlformats.org/officeDocument/2006/relationships/image" Target="../media/image53.png"  /><Relationship Id="rId2" Type="http://schemas.openxmlformats.org/officeDocument/2006/relationships/image" Target="../media/image41.png"  /><Relationship Id="rId3" Type="http://schemas.openxmlformats.org/officeDocument/2006/relationships/image" Target="../media/image42.png"  /><Relationship Id="rId4" Type="http://schemas.openxmlformats.org/officeDocument/2006/relationships/image" Target="../media/image43.png"  /><Relationship Id="rId5" Type="http://schemas.openxmlformats.org/officeDocument/2006/relationships/image" Target="../media/image44.png"  /><Relationship Id="rId6" Type="http://schemas.openxmlformats.org/officeDocument/2006/relationships/image" Target="../media/image45.png"  /><Relationship Id="rId7" Type="http://schemas.openxmlformats.org/officeDocument/2006/relationships/image" Target="../media/image46.png"  /><Relationship Id="rId8" Type="http://schemas.openxmlformats.org/officeDocument/2006/relationships/image" Target="../media/image47.png"  /><Relationship Id="rId9" Type="http://schemas.openxmlformats.org/officeDocument/2006/relationships/image" Target="../media/image4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5.png"  /><Relationship Id="rId2" Type="http://schemas.openxmlformats.org/officeDocument/2006/relationships/image" Target="../media/image54.png"  /><Relationship Id="rId3" Type="http://schemas.openxmlformats.org/officeDocument/2006/relationships/image" Target="../media/image42.png"  /><Relationship Id="rId4" Type="http://schemas.openxmlformats.org/officeDocument/2006/relationships/image" Target="../media/image43.png"  /><Relationship Id="rId5" Type="http://schemas.openxmlformats.org/officeDocument/2006/relationships/image" Target="../media/image44.png"  /><Relationship Id="rId6" Type="http://schemas.openxmlformats.org/officeDocument/2006/relationships/image" Target="../media/image45.png"  /><Relationship Id="rId7" Type="http://schemas.openxmlformats.org/officeDocument/2006/relationships/image" Target="../media/image46.png"  /><Relationship Id="rId8" Type="http://schemas.openxmlformats.org/officeDocument/2006/relationships/image" Target="../media/image47.png"  /><Relationship Id="rId9" Type="http://schemas.openxmlformats.org/officeDocument/2006/relationships/image" Target="../media/image5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6.png"  /><Relationship Id="rId11" Type="http://schemas.openxmlformats.org/officeDocument/2006/relationships/hyperlink" Target="https://docs.google.com/spreadsheets/d/1jaYp6MRVAeEZxCs5cthx2k_iw-A1neyiFymZRUxhH-g/edit?usp=sharing" TargetMode="External" /><Relationship Id="rId12" Type="http://schemas.openxmlformats.org/officeDocument/2006/relationships/image" Target="../media/image8.png"  /><Relationship Id="rId2" Type="http://schemas.openxmlformats.org/officeDocument/2006/relationships/image" Target="../media/image41.png"  /><Relationship Id="rId3" Type="http://schemas.openxmlformats.org/officeDocument/2006/relationships/image" Target="../media/image42.png"  /><Relationship Id="rId4" Type="http://schemas.openxmlformats.org/officeDocument/2006/relationships/image" Target="../media/image43.png"  /><Relationship Id="rId5" Type="http://schemas.openxmlformats.org/officeDocument/2006/relationships/image" Target="../media/image44.png"  /><Relationship Id="rId6" Type="http://schemas.openxmlformats.org/officeDocument/2006/relationships/image" Target="../media/image45.png"  /><Relationship Id="rId7" Type="http://schemas.openxmlformats.org/officeDocument/2006/relationships/image" Target="../media/image46.png"  /><Relationship Id="rId8" Type="http://schemas.openxmlformats.org/officeDocument/2006/relationships/image" Target="../media/image47.png"  /><Relationship Id="rId9" Type="http://schemas.openxmlformats.org/officeDocument/2006/relationships/image" Target="../media/image53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4.png"  /><Relationship Id="rId11" Type="http://schemas.openxmlformats.org/officeDocument/2006/relationships/image" Target="../media/image65.png"  /><Relationship Id="rId2" Type="http://schemas.openxmlformats.org/officeDocument/2006/relationships/image" Target="../media/image1.png"  /><Relationship Id="rId3" Type="http://schemas.openxmlformats.org/officeDocument/2006/relationships/image" Target="../media/image57.png"  /><Relationship Id="rId4" Type="http://schemas.openxmlformats.org/officeDocument/2006/relationships/image" Target="../media/image58.png"  /><Relationship Id="rId5" Type="http://schemas.openxmlformats.org/officeDocument/2006/relationships/image" Target="../media/image59.png"  /><Relationship Id="rId6" Type="http://schemas.openxmlformats.org/officeDocument/2006/relationships/image" Target="../media/image60.png"  /><Relationship Id="rId7" Type="http://schemas.openxmlformats.org/officeDocument/2006/relationships/image" Target="../media/image61.png"  /><Relationship Id="rId8" Type="http://schemas.openxmlformats.org/officeDocument/2006/relationships/image" Target="../media/image62.png"  /><Relationship Id="rId9" Type="http://schemas.openxmlformats.org/officeDocument/2006/relationships/image" Target="../media/image63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4.png"  /><Relationship Id="rId11" Type="http://schemas.openxmlformats.org/officeDocument/2006/relationships/image" Target="../media/image66.png"  /><Relationship Id="rId2" Type="http://schemas.openxmlformats.org/officeDocument/2006/relationships/image" Target="../media/image1.png"  /><Relationship Id="rId3" Type="http://schemas.openxmlformats.org/officeDocument/2006/relationships/image" Target="../media/image57.png"  /><Relationship Id="rId4" Type="http://schemas.openxmlformats.org/officeDocument/2006/relationships/image" Target="../media/image58.png"  /><Relationship Id="rId5" Type="http://schemas.openxmlformats.org/officeDocument/2006/relationships/image" Target="../media/image59.png"  /><Relationship Id="rId6" Type="http://schemas.openxmlformats.org/officeDocument/2006/relationships/image" Target="../media/image60.png"  /><Relationship Id="rId7" Type="http://schemas.openxmlformats.org/officeDocument/2006/relationships/image" Target="../media/image61.png"  /><Relationship Id="rId8" Type="http://schemas.openxmlformats.org/officeDocument/2006/relationships/image" Target="../media/image62.png"  /><Relationship Id="rId9" Type="http://schemas.openxmlformats.org/officeDocument/2006/relationships/image" Target="../media/image63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8.png"  /><Relationship Id="rId11" Type="http://schemas.openxmlformats.org/officeDocument/2006/relationships/image" Target="../media/image36.png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67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hyperlink" Target="https://www.figma.com/design/ZDxAkFU68lw6XNMbJ2IXd1/%EC%99%80%EC%9D%B4%EC%96%B4-%ED%94%84%EB%A0%88%EC%9E%84-%ED%92%8B%EC%82%B4-%EB%A7%A4%EC%B9%AD-%ED%94%8C%EB%9E%AB%ED%8F%BC-?node-id=575-244&amp;t=SrZdMLAPx3AB8Qdn-1" TargetMode="External" /><Relationship Id="rId11" Type="http://schemas.openxmlformats.org/officeDocument/2006/relationships/image" Target="../media/image8.png"  /><Relationship Id="rId2" Type="http://schemas.openxmlformats.org/officeDocument/2006/relationships/image" Target="../media/image54.png"  /><Relationship Id="rId3" Type="http://schemas.openxmlformats.org/officeDocument/2006/relationships/image" Target="../media/image42.png"  /><Relationship Id="rId4" Type="http://schemas.openxmlformats.org/officeDocument/2006/relationships/image" Target="../media/image43.png"  /><Relationship Id="rId5" Type="http://schemas.openxmlformats.org/officeDocument/2006/relationships/image" Target="../media/image44.png"  /><Relationship Id="rId6" Type="http://schemas.openxmlformats.org/officeDocument/2006/relationships/image" Target="../media/image45.png"  /><Relationship Id="rId7" Type="http://schemas.openxmlformats.org/officeDocument/2006/relationships/image" Target="../media/image46.png"  /><Relationship Id="rId8" Type="http://schemas.openxmlformats.org/officeDocument/2006/relationships/image" Target="../media/image47.png"  /><Relationship Id="rId9" Type="http://schemas.openxmlformats.org/officeDocument/2006/relationships/image" Target="../media/image69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10" Type="http://schemas.openxmlformats.org/officeDocument/2006/relationships/image" Target="../media/image70.png"  /><Relationship Id="rId11" Type="http://schemas.openxmlformats.org/officeDocument/2006/relationships/hyperlink" Target="https://www.figma.com/design/ZDxAkFU68lw6XNMbJ2IXd1/%EC%99%80%EC%9D%B4%EC%96%B4-%ED%94%84%EB%A0%88%EC%9E%84-%ED%92%8B%EC%82%B4-%EB%A7%A4%EC%B9%AD-%ED%94%8C%EB%9E%AB%ED%8F%BC-?node-id=824-1286&amp;t=SrZdMLAPx3AB8Qdn-1" TargetMode="External" /><Relationship Id="rId12" Type="http://schemas.openxmlformats.org/officeDocument/2006/relationships/image" Target="../media/image8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54.png"  /><Relationship Id="rId4" Type="http://schemas.openxmlformats.org/officeDocument/2006/relationships/image" Target="../media/image42.png"  /><Relationship Id="rId5" Type="http://schemas.openxmlformats.org/officeDocument/2006/relationships/image" Target="../media/image43.png"  /><Relationship Id="rId6" Type="http://schemas.openxmlformats.org/officeDocument/2006/relationships/image" Target="../media/image44.png"  /><Relationship Id="rId7" Type="http://schemas.openxmlformats.org/officeDocument/2006/relationships/image" Target="../media/image45.png"  /><Relationship Id="rId8" Type="http://schemas.openxmlformats.org/officeDocument/2006/relationships/image" Target="../media/image46.png"  /><Relationship Id="rId9" Type="http://schemas.openxmlformats.org/officeDocument/2006/relationships/image" Target="../media/image47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10" Type="http://schemas.openxmlformats.org/officeDocument/2006/relationships/hyperlink" Target="..\DB&#49444;&#44228;\ERD.jpg" TargetMode="External" /><Relationship Id="rId11" Type="http://schemas.openxmlformats.org/officeDocument/2006/relationships/image" Target="../media/image71.jpe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54.png"  /><Relationship Id="rId4" Type="http://schemas.openxmlformats.org/officeDocument/2006/relationships/image" Target="../media/image58.png"  /><Relationship Id="rId5" Type="http://schemas.openxmlformats.org/officeDocument/2006/relationships/image" Target="../media/image59.png"  /><Relationship Id="rId6" Type="http://schemas.openxmlformats.org/officeDocument/2006/relationships/image" Target="../media/image60.png"  /><Relationship Id="rId7" Type="http://schemas.openxmlformats.org/officeDocument/2006/relationships/image" Target="../media/image61.png"  /><Relationship Id="rId8" Type="http://schemas.openxmlformats.org/officeDocument/2006/relationships/image" Target="../media/image62.png"  /><Relationship Id="rId9" Type="http://schemas.openxmlformats.org/officeDocument/2006/relationships/image" Target="../media/image6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10" Type="http://schemas.openxmlformats.org/officeDocument/2006/relationships/image" Target="../media/image72.png"  /><Relationship Id="rId11" Type="http://schemas.openxmlformats.org/officeDocument/2006/relationships/hyperlink" Target="https://www.figma.com/design/ZDxAkFU68lw6XNMbJ2IXd1/%EC%99%80%EC%9D%B4%EC%96%B4-%ED%94%84%EB%A0%88%EC%9E%84-%ED%92%8B%EC%82%B4-%EB%A7%A4%EC%B9%AD-%ED%94%8C%EB%9E%AB%ED%8F%BC-?node-id=925-5606&amp;t=SvUqNOYkRGemwhvk-1" TargetMode="External" /><Relationship Id="rId12" Type="http://schemas.openxmlformats.org/officeDocument/2006/relationships/image" Target="../media/image8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7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10" Type="http://schemas.openxmlformats.org/officeDocument/2006/relationships/hyperlink" Target="https://docs.google.com/spreadsheets/d/190Jr9U2F7D3XFCxy80yWhyxJV5giijIa9jE41K-z2tk/edit?usp=sharing" TargetMode="External" /><Relationship Id="rId11" Type="http://schemas.openxmlformats.org/officeDocument/2006/relationships/image" Target="../media/image8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54.png"  /><Relationship Id="rId4" Type="http://schemas.openxmlformats.org/officeDocument/2006/relationships/image" Target="../media/image42.png"  /><Relationship Id="rId5" Type="http://schemas.openxmlformats.org/officeDocument/2006/relationships/image" Target="../media/image43.png"  /><Relationship Id="rId6" Type="http://schemas.openxmlformats.org/officeDocument/2006/relationships/image" Target="../media/image44.png"  /><Relationship Id="rId7" Type="http://schemas.openxmlformats.org/officeDocument/2006/relationships/image" Target="../media/image45.png"  /><Relationship Id="rId8" Type="http://schemas.openxmlformats.org/officeDocument/2006/relationships/image" Target="../media/image46.png"  /><Relationship Id="rId9" Type="http://schemas.openxmlformats.org/officeDocument/2006/relationships/image" Target="../media/image47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10" Type="http://schemas.openxmlformats.org/officeDocument/2006/relationships/image" Target="../media/image73.png"  /><Relationship Id="rId11" Type="http://schemas.openxmlformats.org/officeDocument/2006/relationships/hyperlink" Target="https://docs.google.com/spreadsheets/d/1cRFd2DkShxloEU3VMLhi_MP1DNWKarHi9XD7HMkkhs0/edit?usp=sharing" TargetMode="External" /><Relationship Id="rId12" Type="http://schemas.openxmlformats.org/officeDocument/2006/relationships/image" Target="../media/image8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7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3.png"  /><Relationship Id="rId11" Type="http://schemas.openxmlformats.org/officeDocument/2006/relationships/image" Target="../media/image34.png"  /><Relationship Id="rId12" Type="http://schemas.openxmlformats.org/officeDocument/2006/relationships/image" Target="../media/image35.png"  /><Relationship Id="rId13" Type="http://schemas.openxmlformats.org/officeDocument/2006/relationships/image" Target="../media/image32.png"  /><Relationship Id="rId14" Type="http://schemas.openxmlformats.org/officeDocument/2006/relationships/image" Target="../media/image34.png"  /><Relationship Id="rId15" Type="http://schemas.openxmlformats.org/officeDocument/2006/relationships/image" Target="../media/image33.png"  /><Relationship Id="rId16" Type="http://schemas.openxmlformats.org/officeDocument/2006/relationships/image" Target="../media/image35.png"  /><Relationship Id="rId2" Type="http://schemas.openxmlformats.org/officeDocument/2006/relationships/image" Target="../media/image41.png"  /><Relationship Id="rId3" Type="http://schemas.openxmlformats.org/officeDocument/2006/relationships/image" Target="../media/image42.png"  /><Relationship Id="rId4" Type="http://schemas.openxmlformats.org/officeDocument/2006/relationships/image" Target="../media/image43.png"  /><Relationship Id="rId5" Type="http://schemas.openxmlformats.org/officeDocument/2006/relationships/image" Target="../media/image44.png"  /><Relationship Id="rId6" Type="http://schemas.openxmlformats.org/officeDocument/2006/relationships/image" Target="../media/image45.png"  /><Relationship Id="rId7" Type="http://schemas.openxmlformats.org/officeDocument/2006/relationships/image" Target="../media/image46.png"  /><Relationship Id="rId8" Type="http://schemas.openxmlformats.org/officeDocument/2006/relationships/image" Target="../media/image47.png"  /><Relationship Id="rId9" Type="http://schemas.openxmlformats.org/officeDocument/2006/relationships/image" Target="../media/image3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</a:t>
            </a:r>
            <a:endParaRPr lang="en-US" sz="2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028950" y="6210300"/>
            <a:ext cx="12230100" cy="800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3400" b="1" i="0" u="none" strike="noStrike">
                <a:solidFill>
                  <a:srgbClr val="494a4e"/>
                </a:solidFill>
                <a:latin typeface="맑은 고딕"/>
              </a:rPr>
              <a:t>Multi_FC | </a:t>
            </a:r>
            <a:r>
              <a:rPr lang="ko-KR" altLang="en-US" sz="3400" b="1" i="0" u="none" strike="noStrike">
                <a:solidFill>
                  <a:srgbClr val="494a4e"/>
                </a:solidFill>
                <a:latin typeface="맑은 고딕"/>
              </a:rPr>
              <a:t>권성민 문진우 박태란 윤승근 최준호 홍예린</a:t>
            </a:r>
            <a:endParaRPr lang="ko-KR" altLang="en-US" sz="3400" b="1" i="0" u="none" strike="noStrike">
              <a:solidFill>
                <a:srgbClr val="494a4e"/>
              </a:solidFill>
              <a:latin typeface="맑은 고딕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971799" y="4229100"/>
            <a:ext cx="12344400" cy="1600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9000" b="1" i="0" u="none" strike="noStrike">
                <a:solidFill>
                  <a:srgbClr val="000000"/>
                </a:solidFill>
                <a:latin typeface="맑은 고딕"/>
              </a:rPr>
              <a:t>1</a:t>
            </a:r>
            <a:r>
              <a:rPr lang="ko-KR" altLang="en-US" sz="9000" b="1" i="0" u="none" strike="noStrike">
                <a:solidFill>
                  <a:srgbClr val="000000"/>
                </a:solidFill>
                <a:latin typeface="맑은 고딕"/>
              </a:rPr>
              <a:t>조 중간 발표</a:t>
            </a:r>
            <a:endParaRPr lang="ko-KR" altLang="en-US" sz="9000" b="1" i="0" u="none" strike="noStrike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934209" y="2277109"/>
            <a:ext cx="1266191" cy="1266191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315084" y="5620384"/>
            <a:ext cx="1123316" cy="1123316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753600" y="7353300"/>
            <a:ext cx="1075691" cy="107569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607559" y="8455659"/>
            <a:ext cx="1107441" cy="1107441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4126209" y="8267700"/>
            <a:ext cx="1266191" cy="1266191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6324600" y="2620009"/>
            <a:ext cx="1075691" cy="1075691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0896600" y="1714500"/>
            <a:ext cx="1123316" cy="1123316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15732759" y="3426459"/>
            <a:ext cx="1107441" cy="110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528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10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"/>
          <p:cNvGrpSpPr/>
          <p:nvPr/>
        </p:nvGrpSpPr>
        <p:grpSpPr>
          <a:xfrm rot="0">
            <a:off x="463549" y="431800"/>
            <a:ext cx="17360900" cy="9423400"/>
            <a:chOff x="457200" y="431800"/>
            <a:chExt cx="17360900" cy="94234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457200" y="431800"/>
              <a:ext cx="17360900" cy="9423400"/>
            </a:xfrm>
            <a:prstGeom prst="rect">
              <a:avLst/>
            </a:prstGeom>
            <a:effectLst>
              <a:outerShdw blurRad="1106733" dist="362644" dir="4020000">
                <a:srgbClr val="000000">
                  <a:alpha val="50000"/>
                </a:srgbClr>
              </a:outerShdw>
            </a:effectLst>
          </p:spPr>
        </p:pic>
        <p:pic>
          <p:nvPicPr>
            <p:cNvPr id="3" name="Picture 3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57200" y="431800"/>
              <a:ext cx="17360900" cy="90170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499100" y="660400"/>
              <a:ext cx="7289800" cy="444500"/>
            </a:xfrm>
            <a:prstGeom prst="rect">
              <a:avLst/>
            </a:prstGeom>
          </p:spPr>
        </p:pic>
      </p:grp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371600" y="8102600"/>
            <a:ext cx="1003300" cy="889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presentation_index</a:t>
            </a:r>
            <a:endParaRPr lang="en-US" sz="2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20800" y="2019300"/>
            <a:ext cx="3695700" cy="800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4500" b="0" i="0" u="none" strike="noStrike">
                <a:solidFill>
                  <a:srgbClr val="c2c2c2"/>
                </a:solidFill>
                <a:latin typeface="Pretendard Medium"/>
              </a:rPr>
              <a:t>INDEX</a:t>
            </a:r>
            <a:endParaRPr lang="en-US" sz="4500" b="0" i="0" u="none" strike="noStrike">
              <a:solidFill>
                <a:srgbClr val="c2c2c2"/>
              </a:solidFill>
              <a:latin typeface="Pretendard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20800" y="2730500"/>
            <a:ext cx="3810000" cy="160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9000" b="0" i="0" u="none" strike="noStrike">
                <a:solidFill>
                  <a:srgbClr val="000000"/>
                </a:solidFill>
                <a:ea typeface="Pretendard Bold"/>
              </a:rPr>
              <a:t>목차</a:t>
            </a:r>
            <a:endParaRPr lang="ko-KR" sz="90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graphicFrame>
        <p:nvGraphicFramePr>
          <p:cNvPr id="28" name="표 27"/>
          <p:cNvGraphicFramePr>
            <a:graphicFrameLocks noGrp="1"/>
          </p:cNvGraphicFramePr>
          <p:nvPr/>
        </p:nvGraphicFramePr>
        <p:xfrm>
          <a:off x="7389496" y="2349500"/>
          <a:ext cx="9526904" cy="72136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830704"/>
                <a:gridCol w="7696200"/>
              </a:tblGrid>
              <a:tr h="9017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ko-KR" sz="3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3200" b="0">
                          <a:solidFill>
                            <a:schemeClr val="tx1"/>
                          </a:solidFill>
                        </a:rPr>
                        <a:t>역할 분담</a:t>
                      </a:r>
                      <a:endParaRPr lang="ko-KR" altLang="en-US" sz="3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9017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ko-KR" sz="3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3200" b="0">
                          <a:solidFill>
                            <a:schemeClr val="tx1"/>
                          </a:solidFill>
                        </a:rPr>
                        <a:t>프로젝트 개요</a:t>
                      </a:r>
                      <a:endParaRPr lang="ko-KR" altLang="en-US" sz="32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9017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3</a:t>
                      </a:r>
                      <a:endParaRPr lang="en-US" altLang="ko-KR" sz="3200"/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3200">
                          <a:solidFill>
                            <a:schemeClr val="tx1"/>
                          </a:solidFill>
                        </a:rPr>
                        <a:t>기획 배경 </a:t>
                      </a:r>
                      <a:r>
                        <a:rPr lang="en-US" altLang="ko-KR" sz="320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ko-KR" altLang="en-US" sz="3200">
                          <a:solidFill>
                            <a:schemeClr val="tx1"/>
                          </a:solidFill>
                        </a:rPr>
                        <a:t> 목표</a:t>
                      </a:r>
                      <a:endParaRPr lang="ko-KR" altLang="en-US" sz="32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9017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4</a:t>
                      </a:r>
                      <a:endParaRPr lang="en-US" altLang="ko-KR" sz="3200"/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3200">
                          <a:solidFill>
                            <a:schemeClr val="tx1"/>
                          </a:solidFill>
                        </a:rPr>
                        <a:t>기술 구조</a:t>
                      </a:r>
                      <a:endParaRPr lang="ko-KR" altLang="en-US" sz="32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9017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5</a:t>
                      </a:r>
                      <a:endParaRPr lang="en-US" altLang="ko-KR" sz="3200"/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3200">
                          <a:solidFill>
                            <a:schemeClr val="tx1"/>
                          </a:solidFill>
                        </a:rPr>
                        <a:t>핵심 기능 </a:t>
                      </a:r>
                      <a:r>
                        <a:rPr lang="en-US" altLang="ko-KR" sz="320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ko-KR" altLang="en-US" sz="3200">
                          <a:solidFill>
                            <a:schemeClr val="tx1"/>
                          </a:solidFill>
                        </a:rPr>
                        <a:t> 사용자 흐름</a:t>
                      </a:r>
                      <a:endParaRPr lang="ko-KR" altLang="en-US" sz="32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9017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6</a:t>
                      </a:r>
                      <a:endParaRPr lang="en-US" altLang="ko-KR" sz="3200"/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3200">
                          <a:solidFill>
                            <a:schemeClr val="tx1"/>
                          </a:solidFill>
                        </a:rPr>
                        <a:t>화면 설계</a:t>
                      </a:r>
                      <a:endParaRPr lang="ko-KR" altLang="en-US" sz="32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9017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7</a:t>
                      </a:r>
                      <a:endParaRPr lang="en-US" altLang="ko-KR" sz="3200"/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3200">
                          <a:solidFill>
                            <a:schemeClr val="tx1"/>
                          </a:solidFill>
                        </a:rPr>
                        <a:t>시스템 설계</a:t>
                      </a:r>
                      <a:endParaRPr lang="ko-KR" altLang="en-US" sz="32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9017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/>
                        <a:t>8</a:t>
                      </a:r>
                      <a:endParaRPr lang="en-US" altLang="ko-KR" sz="3200"/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3200">
                          <a:solidFill>
                            <a:schemeClr val="tx1"/>
                          </a:solidFill>
                        </a:rPr>
                        <a:t>WBS</a:t>
                      </a:r>
                      <a:endParaRPr lang="en-US" altLang="ko-KR" sz="320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"/>
          <p:cNvGrpSpPr>
            <a:grpSpLocks noSelect="1"/>
          </p:cNvGrpSpPr>
          <p:nvPr/>
        </p:nvGrpSpPr>
        <p:grpSpPr>
          <a:xfrm rot="0">
            <a:off x="457200" y="431800"/>
            <a:ext cx="17373600" cy="9436100"/>
            <a:chOff x="457200" y="431800"/>
            <a:chExt cx="17373600" cy="9436100"/>
          </a:xfrm>
        </p:grpSpPr>
        <p:grpSp>
          <p:nvGrpSpPr>
            <p:cNvPr id="25" name=""/>
            <p:cNvGrpSpPr/>
            <p:nvPr/>
          </p:nvGrpSpPr>
          <p:grpSpPr>
            <a:xfrm rot="0">
              <a:off x="457201" y="431800"/>
              <a:ext cx="17373600" cy="9423400"/>
              <a:chOff x="450852" y="431800"/>
              <a:chExt cx="17373600" cy="9423400"/>
            </a:xfrm>
            <a:blipFill rotWithShape="1">
              <a:blip r:embed="rId3">
                <a:alphaModFix amt="0"/>
              </a:blip>
              <a:stretch>
                <a:fillRect/>
              </a:stretch>
            </a:blipFill>
          </p:grpSpPr>
          <p:pic>
            <p:nvPicPr>
              <p:cNvPr id="2" name="Picture 2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783A4284-B454-46f5-B8C8-42B5039CE256">
                    <hp:hncPhoto xmlns:hp="http://schemas.haansoft.com/office/presentation/8.0">
                      <hd:imgLayer xmlns:hd="http://schemas.haansoft.com/office/drawingml/8.0" r:embed="rId4">
                        <hd:imgEffect xmlns:hd="http://schemas.haansoft.com/office/drawingml/8.0">
                          <hd:artEffectSharpenSoften/>
                        </hd:imgEffect>
                      </hd:imgLayer>
                    </hp:hncPhoto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450852" y="723900"/>
                <a:ext cx="17373600" cy="9131300"/>
              </a:xfrm>
              <a:prstGeom prst="rect">
                <a:avLst/>
              </a:prstGeom>
              <a:blipFill rotWithShape="1">
                <a:blip r:embed="rId6">
                  <a:alphaModFix amt="0"/>
                </a:blip>
                <a:stretch>
                  <a:fillRect/>
                </a:stretch>
              </a:blipFill>
              <a:effectLst>
                <a:outerShdw blurRad="1106733" dist="362644" dir="4020000">
                  <a:srgbClr val="000000">
                    <a:alpha val="50000"/>
                  </a:srgbClr>
                </a:outerShdw>
              </a:effectLst>
            </p:spPr>
          </p:pic>
          <p:pic>
            <p:nvPicPr>
              <p:cNvPr id="3" name="Picture 3"/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783A4284-B454-46f5-B8C8-42B5039CE256">
                    <hp:hncPhoto xmlns:hp="http://schemas.haansoft.com/office/presentation/8.0">
                      <hd:imgLayer xmlns:hd="http://schemas.haansoft.com/office/drawingml/8.0" r:embed="rId7">
                        <hd:imgEffect xmlns:hd="http://schemas.haansoft.com/office/drawingml/8.0">
                          <hd:artEffectSharpenSoften/>
                        </hd:imgEffect>
                      </hd:imgLayer>
                    </hp:hncPhoto>
                  </a:ext>
                </a:extLst>
              </a:blip>
              <a:stretch>
                <a:fillRect/>
              </a:stretch>
            </p:blipFill>
            <p:spPr>
              <a:xfrm>
                <a:off x="457200" y="431800"/>
                <a:ext cx="17360900" cy="901700"/>
              </a:xfrm>
              <a:prstGeom prst="rect">
                <a:avLst/>
              </a:prstGeom>
              <a:grpFill/>
            </p:spPr>
          </p:pic>
          <p:pic>
            <p:nvPicPr>
              <p:cNvPr id="4" name="Picture 4"/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783A4284-B454-46f5-B8C8-42B5039CE256">
                    <hp:hncPhoto xmlns:hp="http://schemas.haansoft.com/office/presentation/8.0">
                      <hd:imgLayer xmlns:hd="http://schemas.haansoft.com/office/drawingml/8.0" r:embed="rId9">
                        <hd:imgEffect xmlns:hd="http://schemas.haansoft.com/office/drawingml/8.0">
                          <hd:artEffectSharpenSoften/>
                        </hd:imgEffect>
                      </hd:imgLayer>
                    </hp:hncPhoto>
                  </a:ext>
                </a:extLst>
              </a:blip>
              <a:stretch>
                <a:fillRect/>
              </a:stretch>
            </p:blipFill>
            <p:spPr>
              <a:xfrm>
                <a:off x="5499100" y="660400"/>
                <a:ext cx="7289800" cy="444500"/>
              </a:xfrm>
              <a:prstGeom prst="rect">
                <a:avLst/>
              </a:prstGeom>
              <a:grpFill/>
            </p:spPr>
          </p:pic>
        </p:grpSp>
        <p:pic>
          <p:nvPicPr>
            <p:cNvPr id="5" name="Picture 5"/>
            <p:cNvPicPr>
              <a:picLocks noChangeAspect="1"/>
            </p:cNvPicPr>
            <p:nvPr/>
          </p:nvPicPr>
          <p:blipFill rotWithShape="1">
            <a:blip r:embed="rId11"/>
            <a:stretch>
              <a:fillRect/>
            </a:stretch>
          </p:blipFill>
          <p:spPr>
            <a:xfrm>
              <a:off x="939800" y="774700"/>
              <a:ext cx="228600" cy="22860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 rotWithShape="1">
            <a:blip r:embed="rId12"/>
            <a:stretch>
              <a:fillRect/>
            </a:stretch>
          </p:blipFill>
          <p:spPr>
            <a:xfrm>
              <a:off x="1308100" y="774700"/>
              <a:ext cx="228600" cy="22860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 rotWithShape="1">
            <a:blip r:embed="rId13"/>
            <a:stretch>
              <a:fillRect/>
            </a:stretch>
          </p:blipFill>
          <p:spPr>
            <a:xfrm>
              <a:off x="1663700" y="774700"/>
              <a:ext cx="228600" cy="22860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 rotWithShape="1">
            <a:blip r:embed="rId14"/>
            <a:stretch>
              <a:fillRect/>
            </a:stretch>
          </p:blipFill>
          <p:spPr>
            <a:xfrm>
              <a:off x="17106900" y="736600"/>
              <a:ext cx="228600" cy="27940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6845300" y="698500"/>
              <a:ext cx="4597400" cy="355600"/>
            </a:xfrm>
            <a:prstGeom prst="rect">
              <a:avLst/>
            </a:prstGeom>
          </p:spPr>
          <p:txBody>
            <a:bodyPr lIns="0" tIns="0" rIns="0" bIns="0" anchor="ctr"/>
            <a:lstStyle/>
            <a:p>
              <a:pPr lvl="0" algn="ctr">
                <a:lnSpc>
                  <a:spcPct val="99600"/>
                </a:lnSpc>
                <a:defRPr/>
              </a:pPr>
              <a:r>
                <a:rPr lang="en-US" sz="2000" b="0" i="0" u="none" strike="noStrike">
                  <a:solidFill>
                    <a:srgbClr val="ffffff"/>
                  </a:solidFill>
                  <a:latin typeface="Pretendard Light"/>
                </a:rPr>
                <a:t>presentation_index</a:t>
              </a:r>
              <a:endParaRPr lang="en-US" sz="2000" b="0" i="0" u="none" strike="noStrike">
                <a:solidFill>
                  <a:srgbClr val="ffffff"/>
                </a:solidFill>
                <a:latin typeface="Pretendard Light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457200" y="1333500"/>
              <a:ext cx="17373600" cy="8534400"/>
            </a:xfrm>
            <a:prstGeom prst="rect">
              <a:avLst/>
            </a:prstGeom>
            <a:solidFill>
              <a:schemeClr val="lt1">
                <a:alpha val="58000"/>
              </a:schemeClr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</p:grpSp>
      <p:graphicFrame>
        <p:nvGraphicFramePr>
          <p:cNvPr id="33" name="표 32"/>
          <p:cNvGraphicFramePr>
            <a:graphicFrameLocks noGrp="1"/>
          </p:cNvGraphicFramePr>
          <p:nvPr/>
        </p:nvGraphicFramePr>
        <p:xfrm>
          <a:off x="3047999" y="1943100"/>
          <a:ext cx="12117705" cy="751947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025325"/>
                <a:gridCol w="6092380"/>
              </a:tblGrid>
              <a:tr h="753534"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3500">
                          <a:solidFill>
                            <a:schemeClr val="tx1"/>
                          </a:solidFill>
                          <a:latin typeface="맑은 고딕"/>
                        </a:rPr>
                        <a:t>Frontend</a:t>
                      </a:r>
                      <a:endParaRPr lang="en-US" altLang="ko-KR" sz="350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>
                        <a:alpha val="63000"/>
                      </a:schemeClr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>
                    <a:solidFill>
                      <a:schemeClr val="lt1">
                        <a:alpha val="63000"/>
                      </a:schemeClr>
                    </a:solidFill>
                  </a:tcPr>
                </a:tc>
              </a:tr>
              <a:tr h="2026739">
                <a:tc>
                  <a:txBody>
                    <a:bodyPr vert="horz" wrap="square" lIns="324040" tIns="180022" rIns="91440" bIns="45720" anchor="t" anchorCtr="0">
                      <a:spAutoFit/>
                    </a:bodyPr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2100" b="1" spc="0">
                          <a:solidFill>
                            <a:schemeClr val="tx1"/>
                          </a:solidFill>
                          <a:latin typeface="맑은 고딕"/>
                        </a:rPr>
                        <a:t>권성민</a:t>
                      </a:r>
                      <a:endParaRPr lang="ko-KR" altLang="en-US" sz="2100" b="1" spc="0">
                        <a:solidFill>
                          <a:schemeClr val="tx1"/>
                        </a:solidFill>
                        <a:latin typeface="맑은 고딕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</a:t>
                      </a:r>
                      <a:r>
                        <a:rPr sz="1600" b="0" spc="0" baseline="0">
                          <a:latin typeface="맑은 고딕"/>
                        </a:rPr>
                        <a:t>와이어프레임</a:t>
                      </a: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작성</a:t>
                      </a:r>
                      <a:endParaRPr lang="ko-KR" altLang="en-US" sz="1600" b="0" spc="0" baseline="0">
                        <a:latin typeface="맑은 고딕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화면 </a:t>
                      </a:r>
                      <a:r>
                        <a:rPr sz="1600" b="0" spc="0" baseline="0">
                          <a:latin typeface="맑은 고딕"/>
                        </a:rPr>
                        <a:t>구현</a:t>
                      </a:r>
                      <a:endParaRPr sz="1600" b="0" spc="0" baseline="0">
                        <a:latin typeface="맑은 고딕"/>
                      </a:endParaRPr>
                    </a:p>
                  </a:txBody>
                  <a:tcPr marL="324040" marR="91440" marT="1800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>
                        <a:alpha val="63000"/>
                      </a:schemeClr>
                    </a:solidFill>
                  </a:tcPr>
                </a:tc>
                <a:tc>
                  <a:txBody>
                    <a:bodyPr vert="horz" wrap="square" lIns="324040" tIns="180022" rIns="91440" bIns="45720" anchor="t" anchorCtr="0">
                      <a:spAutoFit/>
                    </a:bodyPr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2100" b="1" spc="0">
                          <a:solidFill>
                            <a:schemeClr val="tx1"/>
                          </a:solidFill>
                          <a:latin typeface="맑은 고딕"/>
                        </a:rPr>
                        <a:t>윤승근</a:t>
                      </a:r>
                      <a:endParaRPr lang="ko-KR" altLang="en-US" sz="2100" spc="0">
                        <a:solidFill>
                          <a:schemeClr val="tx1"/>
                        </a:solidFill>
                        <a:latin typeface="맑은 고딕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spc="0">
                          <a:solidFill>
                            <a:schemeClr val="tx1"/>
                          </a:solidFill>
                          <a:latin typeface="맑은 고딕"/>
                        </a:rPr>
                        <a:t>-</a:t>
                      </a:r>
                      <a:r>
                        <a:rPr lang="ko-KR" altLang="en-US" sz="1600" spc="0">
                          <a:solidFill>
                            <a:schemeClr val="tx1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spc="0" baseline="0">
                          <a:latin typeface="맑은 고딕"/>
                        </a:rPr>
                        <a:t>와이어프레임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작성</a:t>
                      </a:r>
                      <a:endParaRPr sz="1600" b="0" spc="0" baseline="0">
                        <a:latin typeface="맑은 고딕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</a:t>
                      </a:r>
                      <a:r>
                        <a:rPr sz="1600" b="0" spc="0" baseline="0">
                          <a:latin typeface="맑은 고딕"/>
                        </a:rPr>
                        <a:t>스토리보드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작성</a:t>
                      </a:r>
                      <a:r>
                        <a:rPr lang="ko" sz="1600" b="0" spc="0" baseline="0">
                          <a:latin typeface="맑은 고딕"/>
                        </a:rPr>
                        <a:t> </a:t>
                      </a:r>
                      <a:endParaRPr sz="1600" b="0" spc="0" baseline="0">
                        <a:latin typeface="맑은 고딕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화면 </a:t>
                      </a:r>
                      <a:r>
                        <a:rPr sz="1600" b="0" spc="0" baseline="0">
                          <a:latin typeface="맑은 고딕"/>
                        </a:rPr>
                        <a:t>구현</a:t>
                      </a:r>
                      <a:endParaRPr sz="1600" b="0" spc="0" baseline="0">
                        <a:latin typeface="맑은 고딕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</a:t>
                      </a: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Front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팀장</a:t>
                      </a:r>
                      <a:endParaRPr lang="ko-KR" altLang="en-US" sz="1600" b="0" spc="0" baseline="0">
                        <a:latin typeface="맑은 고딕"/>
                      </a:endParaRPr>
                    </a:p>
                  </a:txBody>
                  <a:tcPr marL="324040" marR="91440" marT="1800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>
                        <a:alpha val="63000"/>
                      </a:schemeClr>
                    </a:solidFill>
                  </a:tcPr>
                </a:tc>
              </a:tr>
              <a:tr h="744117"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3500" b="1" spc="0">
                          <a:solidFill>
                            <a:schemeClr val="tx1"/>
                          </a:solidFill>
                          <a:latin typeface="맑은 고딕"/>
                        </a:rPr>
                        <a:t>Backend</a:t>
                      </a:r>
                      <a:endParaRPr lang="en-US" altLang="ko-KR" sz="3500" b="1" spc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>
                        <a:alpha val="63000"/>
                      </a:schemeClr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>
                    <a:solidFill>
                      <a:schemeClr val="lt1">
                        <a:alpha val="63000"/>
                      </a:schemeClr>
                    </a:solidFill>
                  </a:tcPr>
                </a:tc>
              </a:tr>
              <a:tr h="1926491">
                <a:tc>
                  <a:txBody>
                    <a:bodyPr vert="horz" wrap="square" lIns="324040" tIns="180022" rIns="91440" bIns="45720" anchor="t" anchorCtr="0">
                      <a:spAutoFit/>
                    </a:bodyPr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2100" b="1" spc="0">
                          <a:solidFill>
                            <a:schemeClr val="tx1"/>
                          </a:solidFill>
                          <a:latin typeface="맑은 고딕"/>
                        </a:rPr>
                        <a:t>문진우</a:t>
                      </a:r>
                      <a:endParaRPr sz="2100" b="0" spc="0" baseline="0">
                        <a:latin typeface="맑은 고딕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</a:t>
                      </a:r>
                      <a:r>
                        <a:rPr sz="1600" b="0" spc="0" baseline="0">
                          <a:latin typeface="맑은 고딕"/>
                        </a:rPr>
                        <a:t>데이터베이스 담당</a:t>
                      </a:r>
                      <a:endParaRPr sz="1600" b="0" spc="0" baseline="0">
                        <a:latin typeface="맑은 고딕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</a:t>
                      </a:r>
                      <a:r>
                        <a:rPr sz="1600" b="0" spc="0" baseline="0">
                          <a:latin typeface="맑은 고딕"/>
                        </a:rPr>
                        <a:t>로그인 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기능 구현</a:t>
                      </a:r>
                      <a:endParaRPr lang="ko-KR" altLang="en-US" sz="1600" b="0" spc="0" baseline="0">
                        <a:latin typeface="맑은 고딕"/>
                      </a:endParaRPr>
                    </a:p>
                  </a:txBody>
                  <a:tcPr marL="324040" marR="91440" marT="1800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>
                        <a:alpha val="63000"/>
                      </a:schemeClr>
                    </a:solidFill>
                  </a:tcPr>
                </a:tc>
                <a:tc>
                  <a:txBody>
                    <a:bodyPr vert="horz" wrap="square" lIns="324040" tIns="180022" rIns="91440" bIns="45720" anchor="t" anchorCtr="0">
                      <a:spAutoFit/>
                    </a:bodyPr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2100" b="1" spc="0">
                          <a:solidFill>
                            <a:schemeClr val="tx1"/>
                          </a:solidFill>
                          <a:latin typeface="맑은 고딕"/>
                        </a:rPr>
                        <a:t>박태란</a:t>
                      </a:r>
                      <a:endParaRPr sz="2100" b="0" spc="0" baseline="0">
                        <a:latin typeface="맑은 고딕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</a:t>
                      </a:r>
                      <a:r>
                        <a:rPr sz="1600" b="0" spc="0" baseline="0">
                          <a:latin typeface="맑은 고딕"/>
                        </a:rPr>
                        <a:t>마이페이지</a:t>
                      </a:r>
                      <a:r>
                        <a:rPr lang="ko" sz="1600" b="0" spc="0" baseline="0">
                          <a:latin typeface="맑은 고딕"/>
                        </a:rPr>
                        <a:t>, </a:t>
                      </a:r>
                      <a:r>
                        <a:rPr sz="1600" b="0" spc="0" baseline="0">
                          <a:latin typeface="맑은 고딕"/>
                        </a:rPr>
                        <a:t>일정 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기능 구현</a:t>
                      </a:r>
                      <a:endParaRPr lang="ko-KR" altLang="en-US" sz="1600" b="0" spc="0" baseline="0">
                        <a:latin typeface="맑은 고딕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</a:t>
                      </a:r>
                      <a:r>
                        <a:rPr sz="1600" b="0" spc="0" baseline="0">
                          <a:latin typeface="맑은 고딕"/>
                        </a:rPr>
                        <a:t>서류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작성</a:t>
                      </a:r>
                      <a:endParaRPr lang="ko-KR" altLang="en-US" sz="1600" b="0" spc="0" baseline="0">
                        <a:latin typeface="맑은 고딕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</a:t>
                      </a: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Multi_FC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팀장</a:t>
                      </a:r>
                      <a:endParaRPr lang="ko-KR" altLang="en-US" sz="1600" b="0" spc="0" baseline="0">
                        <a:latin typeface="맑은 고딕"/>
                      </a:endParaRPr>
                    </a:p>
                  </a:txBody>
                  <a:tcPr marL="324040" marR="91440" marT="1800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>
                        <a:alpha val="63000"/>
                      </a:schemeClr>
                    </a:solidFill>
                  </a:tcPr>
                </a:tc>
              </a:tr>
              <a:tr h="1926491">
                <a:tc>
                  <a:txBody>
                    <a:bodyPr vert="horz" wrap="square" lIns="324040" tIns="180022" rIns="91440" bIns="45720" anchor="t" anchorCtr="0">
                      <a:spAutoFit/>
                    </a:bodyPr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2100" b="1" spc="0">
                          <a:solidFill>
                            <a:schemeClr val="tx1"/>
                          </a:solidFill>
                          <a:latin typeface="맑은 고딕"/>
                        </a:rPr>
                        <a:t>최준호</a:t>
                      </a:r>
                      <a:endParaRPr lang="ko-KR" altLang="en-US" sz="1600" b="1" spc="0">
                        <a:solidFill>
                          <a:schemeClr val="tx1"/>
                        </a:solidFill>
                        <a:latin typeface="맑은 고딕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</a:t>
                      </a:r>
                      <a:r>
                        <a:rPr lang="ko" sz="1600" b="0" spc="0" baseline="0">
                          <a:latin typeface="맑은 고딕"/>
                        </a:rPr>
                        <a:t>Git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</a:t>
                      </a:r>
                      <a:r>
                        <a:rPr sz="1600" b="0" spc="0" baseline="0">
                          <a:latin typeface="맑은 고딕"/>
                        </a:rPr>
                        <a:t>관리</a:t>
                      </a:r>
                      <a:endParaRPr sz="1600" b="0" spc="0" baseline="0">
                        <a:latin typeface="맑은 고딕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</a:t>
                      </a:r>
                      <a:r>
                        <a:rPr sz="1600" b="0" spc="0" baseline="0">
                          <a:latin typeface="맑은 고딕"/>
                        </a:rPr>
                        <a:t>채팅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기능 구현</a:t>
                      </a:r>
                      <a:endParaRPr lang="ko-KR" altLang="en-US" sz="1600" b="0" spc="0" baseline="0">
                        <a:latin typeface="맑은 고딕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</a:t>
                      </a: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Backend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팀장</a:t>
                      </a:r>
                      <a:endParaRPr sz="1600" b="0" spc="0" baseline="0">
                        <a:latin typeface="맑은 고딕"/>
                      </a:endParaRPr>
                    </a:p>
                  </a:txBody>
                  <a:tcPr marL="324040" marR="91440" marT="1800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>
                        <a:alpha val="63000"/>
                      </a:schemeClr>
                    </a:solidFill>
                  </a:tcPr>
                </a:tc>
                <a:tc>
                  <a:txBody>
                    <a:bodyPr vert="horz" wrap="square" lIns="324040" tIns="180022" rIns="91440" bIns="45720" anchor="t" anchorCtr="0">
                      <a:spAutoFit/>
                    </a:bodyPr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2100" b="1" spc="0">
                          <a:solidFill>
                            <a:schemeClr val="tx1"/>
                          </a:solidFill>
                          <a:latin typeface="맑은 고딕"/>
                        </a:rPr>
                        <a:t>홍예린</a:t>
                      </a:r>
                      <a:endParaRPr lang="ko-KR" altLang="en-US" sz="2100" b="1" spc="0">
                        <a:solidFill>
                          <a:schemeClr val="tx1"/>
                        </a:solidFill>
                        <a:latin typeface="맑은 고딕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spc="0">
                          <a:solidFill>
                            <a:schemeClr val="tx1"/>
                          </a:solidFill>
                          <a:latin typeface="맑은 고딕"/>
                        </a:rPr>
                        <a:t>-</a:t>
                      </a:r>
                      <a:r>
                        <a:rPr lang="ko-KR" altLang="en-US" sz="1600" b="1" spc="0">
                          <a:solidFill>
                            <a:schemeClr val="tx1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spc="0" baseline="0">
                          <a:latin typeface="맑은 고딕"/>
                        </a:rPr>
                        <a:t>구장</a:t>
                      </a:r>
                      <a:r>
                        <a:rPr lang="ko" sz="1600" b="0" spc="0" baseline="0">
                          <a:latin typeface="맑은 고딕"/>
                        </a:rPr>
                        <a:t>, </a:t>
                      </a:r>
                      <a:r>
                        <a:rPr sz="1600" b="0" spc="0" baseline="0">
                          <a:latin typeface="맑은 고딕"/>
                        </a:rPr>
                        <a:t>경기 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기능 구현</a:t>
                      </a:r>
                      <a:endParaRPr sz="1600" b="0" spc="0" baseline="0">
                        <a:latin typeface="맑은 고딕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0" spc="0" baseline="0">
                          <a:latin typeface="맑은 고딕"/>
                          <a:cs typeface="맑은 고딕"/>
                        </a:rPr>
                        <a:t>-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 </a:t>
                      </a:r>
                      <a:r>
                        <a:rPr sz="1600" b="0" spc="0" baseline="0">
                          <a:latin typeface="맑은 고딕"/>
                        </a:rPr>
                        <a:t>커뮤니티 </a:t>
                      </a:r>
                      <a:r>
                        <a:rPr lang="ko-KR" altLang="en-US" sz="1600" b="0" spc="0" baseline="0">
                          <a:latin typeface="맑은 고딕"/>
                        </a:rPr>
                        <a:t>기능 구현</a:t>
                      </a:r>
                      <a:endParaRPr lang="ko-KR" altLang="en-US" sz="1600" b="0" spc="0" baseline="0">
                        <a:latin typeface="맑은 고딕"/>
                      </a:endParaRPr>
                    </a:p>
                  </a:txBody>
                  <a:tcPr marL="324040" marR="91440" marT="1800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>
                        <a:alpha val="63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460500" y="4648200"/>
            <a:ext cx="3949700" cy="1803400"/>
          </a:xfrm>
          <a:prstGeom prst="rect">
            <a:avLst/>
          </a:prstGeom>
          <a:effectLst>
            <a:outerShdw blurRad="80605" dist="69203" dir="4020000">
              <a:srgbClr val="000000">
                <a:alpha val="2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803400" y="4152900"/>
            <a:ext cx="1003300" cy="1003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5257800" y="4648200"/>
            <a:ext cx="3949700" cy="1803400"/>
          </a:xfrm>
          <a:prstGeom prst="rect">
            <a:avLst/>
          </a:prstGeom>
          <a:effectLst>
            <a:outerShdw blurRad="80605" dist="69203" dir="4020000">
              <a:srgbClr val="000000">
                <a:alpha val="20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5473700" y="8166100"/>
            <a:ext cx="3581400" cy="889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ko-KR" altLang="en-US" sz="2400" b="0" i="0" u="none" strike="noStrike">
                <a:solidFill>
                  <a:srgbClr val="717377"/>
                </a:solidFill>
                <a:ea typeface="Pretendard Regular"/>
              </a:rPr>
              <a:t>매칭 완료 시 그룹채팅 생성</a:t>
            </a:r>
            <a:endParaRPr lang="ko-KR" altLang="en-US" sz="2400" b="0" i="0" u="none" strike="noStrike">
              <a:solidFill>
                <a:srgbClr val="717377"/>
              </a:solidFill>
              <a:ea typeface="Pretendard Regular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ko-KR" altLang="en-US" sz="2400" b="0" i="0" u="none" strike="noStrike">
                <a:solidFill>
                  <a:srgbClr val="717377"/>
                </a:solidFill>
                <a:ea typeface="Pretendard Regular"/>
              </a:rPr>
              <a:t>사용자 간의 </a:t>
            </a:r>
            <a:r>
              <a:rPr lang="en-US" altLang="ko-KR" sz="2400" b="0" i="0" u="none" strike="noStrike">
                <a:solidFill>
                  <a:srgbClr val="717377"/>
                </a:solidFill>
                <a:ea typeface="Pretendard Regular"/>
              </a:rPr>
              <a:t>1:1</a:t>
            </a:r>
            <a:r>
              <a:rPr lang="ko-KR" altLang="en-US" sz="2400" b="0" i="0" u="none" strike="noStrike">
                <a:solidFill>
                  <a:srgbClr val="717377"/>
                </a:solidFill>
                <a:ea typeface="Pretendard Regular"/>
              </a:rPr>
              <a:t> 채팅 생성</a:t>
            </a:r>
            <a:endParaRPr lang="ko-KR" altLang="en-US" sz="2400" b="0" i="0" u="none" strike="noStrike">
              <a:solidFill>
                <a:srgbClr val="717377"/>
              </a:solidFill>
              <a:ea typeface="Pretendard Regular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9067800" y="4648200"/>
            <a:ext cx="3949700" cy="1803400"/>
          </a:xfrm>
          <a:prstGeom prst="rect">
            <a:avLst/>
          </a:prstGeom>
          <a:effectLst>
            <a:outerShdw blurRad="80605" dist="69203" dir="4020000">
              <a:srgbClr val="000000">
                <a:alpha val="20000"/>
              </a:srgbClr>
            </a:outerShdw>
          </a:effectLst>
        </p:spPr>
      </p:pic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2877800" y="4648200"/>
            <a:ext cx="3949700" cy="1803400"/>
          </a:xfrm>
          <a:prstGeom prst="rect">
            <a:avLst/>
          </a:prstGeom>
          <a:effectLst>
            <a:outerShdw blurRad="80605" dist="69203" dir="4020000">
              <a:srgbClr val="000000">
                <a:alpha val="20000"/>
              </a:srgbClr>
            </a:outerShdw>
          </a:effectLst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5549900" y="4152900"/>
            <a:ext cx="1003300" cy="1003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9423400" y="4152900"/>
            <a:ext cx="1003300" cy="1003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3233400" y="4152900"/>
            <a:ext cx="1003300" cy="10033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6845300" y="7239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Pretendard Light"/>
              </a:rPr>
              <a:t>프로젝트 개요</a:t>
            </a:r>
            <a:endParaRPr lang="ko-KR" altLang="en-US" sz="3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803400" y="4318000"/>
            <a:ext cx="10033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1</a:t>
            </a:r>
            <a:endParaRPr lang="en-US" sz="4000" b="0" i="0" u="none" strike="noStrike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549900" y="4318000"/>
            <a:ext cx="10033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2</a:t>
            </a:r>
            <a:endParaRPr lang="en-US" sz="4000" b="0" i="0" u="none" strike="noStrike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423400" y="4318000"/>
            <a:ext cx="10033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3</a:t>
            </a:r>
            <a:endParaRPr lang="en-US" sz="4000" b="0" i="0" u="none" strike="noStrike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233400" y="4318000"/>
            <a:ext cx="10033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4</a:t>
            </a:r>
            <a:endParaRPr lang="en-US" sz="4000" b="0" i="0" u="none" strike="noStrike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676400" y="7226300"/>
            <a:ext cx="35941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500" b="0" i="0" u="none" strike="noStrike">
                <a:solidFill>
                  <a:srgbClr val="000000"/>
                </a:solidFill>
                <a:ea typeface="Pretendard Bold"/>
              </a:rPr>
              <a:t>풋살 매칭</a:t>
            </a:r>
            <a:endParaRPr lang="ko-KR" altLang="en-US" sz="35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676400" y="8166100"/>
            <a:ext cx="3581400" cy="889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ko-KR" altLang="en-US" sz="2400" b="0" i="0" u="none" strike="noStrike">
                <a:solidFill>
                  <a:srgbClr val="717377"/>
                </a:solidFill>
                <a:ea typeface="Pretendard Regular"/>
              </a:rPr>
              <a:t>경기 개설 및 경기 참여</a:t>
            </a:r>
            <a:endParaRPr lang="ko-KR" altLang="en-US" sz="2400" b="0" i="0" u="none" strike="noStrike">
              <a:solidFill>
                <a:srgbClr val="717377"/>
              </a:solidFill>
              <a:ea typeface="Pretendard Regula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486400" y="7226300"/>
            <a:ext cx="35941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500" b="0" i="0" u="none" strike="noStrike">
                <a:solidFill>
                  <a:srgbClr val="000000"/>
                </a:solidFill>
                <a:ea typeface="Pretendard Bold"/>
              </a:rPr>
              <a:t>채팅</a:t>
            </a:r>
            <a:endParaRPr lang="ko-KR" altLang="en-US" sz="35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296400" y="7226300"/>
            <a:ext cx="35941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500" b="0" i="0" u="none" strike="noStrike">
                <a:solidFill>
                  <a:srgbClr val="000000"/>
                </a:solidFill>
                <a:ea typeface="Pretendard Bold"/>
              </a:rPr>
              <a:t>커뮤니티</a:t>
            </a:r>
            <a:endParaRPr lang="ko-KR" altLang="en-US" sz="35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283700" y="8166100"/>
            <a:ext cx="3581400" cy="1346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ko-KR" altLang="en-US" sz="2400" b="0" i="0" u="none" strike="noStrike">
                <a:solidFill>
                  <a:srgbClr val="717377"/>
                </a:solidFill>
                <a:ea typeface="Pretendard Regular"/>
              </a:rPr>
              <a:t>정보 공유</a:t>
            </a:r>
            <a:endParaRPr lang="ko-KR" altLang="en-US" sz="2400" b="0" i="0" u="none" strike="noStrike">
              <a:solidFill>
                <a:srgbClr val="717377"/>
              </a:solidFill>
              <a:ea typeface="Pretendard Regular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106400" y="7226300"/>
            <a:ext cx="35941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500" b="0" i="0" u="none" strike="noStrike">
                <a:solidFill>
                  <a:srgbClr val="000000"/>
                </a:solidFill>
                <a:ea typeface="Pretendard Bold"/>
              </a:rPr>
              <a:t>일정 관리</a:t>
            </a:r>
            <a:endParaRPr lang="ko-KR" altLang="en-US" sz="35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3093700" y="8166100"/>
            <a:ext cx="3581400" cy="1346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ko-KR" altLang="en-US" sz="2400" b="0" i="0" u="none" strike="noStrike">
                <a:solidFill>
                  <a:srgbClr val="717377"/>
                </a:solidFill>
                <a:ea typeface="Pretendard Regular"/>
              </a:rPr>
              <a:t>매칭 된 일정 자동 연결</a:t>
            </a:r>
            <a:endParaRPr lang="ko-KR" altLang="en-US" sz="2400" b="0" i="0" u="none" strike="noStrike">
              <a:solidFill>
                <a:srgbClr val="717377"/>
              </a:solidFill>
              <a:ea typeface="Pretendard Regular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ko-KR" altLang="en-US" sz="2400" b="0" i="0" u="none" strike="noStrike">
                <a:solidFill>
                  <a:srgbClr val="717377"/>
                </a:solidFill>
                <a:ea typeface="Pretendard Regular"/>
              </a:rPr>
              <a:t>개인 일정 관리</a:t>
            </a:r>
            <a:endParaRPr lang="ko-KR" altLang="en-US" sz="2400" b="0" i="0" u="none" strike="noStrike">
              <a:solidFill>
                <a:srgbClr val="717377"/>
              </a:solidFill>
              <a:ea typeface="Pretendard Regula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667000" y="2603500"/>
            <a:ext cx="57150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99600"/>
              </a:lnSpc>
              <a:defRPr/>
            </a:pPr>
            <a:r>
              <a:rPr lang="ko-KR" altLang="en-US" sz="4000" b="0" i="0" u="none" strike="noStrike">
                <a:solidFill>
                  <a:srgbClr val="000000"/>
                </a:solidFill>
                <a:ea typeface="Pretendard Bold"/>
              </a:rPr>
              <a:t>프로젝트명 </a:t>
            </a:r>
            <a:r>
              <a:rPr lang="en-US" altLang="ko-KR" sz="4000" b="0" i="0" u="none" strike="noStrike">
                <a:solidFill>
                  <a:srgbClr val="000000"/>
                </a:solidFill>
                <a:ea typeface="Pretendard Bold"/>
              </a:rPr>
              <a:t>:</a:t>
            </a:r>
            <a:r>
              <a:rPr lang="ko-KR" altLang="en-US" sz="4000" b="0" i="0" u="none" strike="noStrike">
                <a:solidFill>
                  <a:srgbClr val="000000"/>
                </a:solidFill>
                <a:ea typeface="Pretendard Bold"/>
              </a:rPr>
              <a:t> </a:t>
            </a:r>
            <a:r>
              <a:rPr lang="en-US" altLang="ko-KR" sz="4000" b="0" i="0" u="none" strike="noStrike">
                <a:solidFill>
                  <a:srgbClr val="000000"/>
                </a:solidFill>
                <a:ea typeface="Pretendard Bold"/>
              </a:rPr>
              <a:t>Multi_FC</a:t>
            </a:r>
            <a:endParaRPr lang="en-US" altLang="ko-KR" sz="40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2832100" y="4942204"/>
            <a:ext cx="1266191" cy="1266191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6769100" y="5048884"/>
            <a:ext cx="1123316" cy="1123316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14452600" y="5037454"/>
            <a:ext cx="1075691" cy="1075691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10642600" y="5064759"/>
            <a:ext cx="1107441" cy="1107441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1689734" y="2413634"/>
            <a:ext cx="901066" cy="9010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749300"/>
            <a:ext cx="3873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Pretendard Light"/>
              </a:rPr>
              <a:t>기획 배경 </a:t>
            </a:r>
            <a:r>
              <a:rPr lang="en-US" altLang="ko-KR" sz="3000" b="0" i="0" u="none" strike="noStrike">
                <a:solidFill>
                  <a:srgbClr val="ffffff"/>
                </a:solidFill>
                <a:latin typeface="Pretendard Light"/>
              </a:rPr>
              <a:t>&amp;</a:t>
            </a:r>
            <a:r>
              <a:rPr lang="ko-KR" altLang="en-US" sz="3000" b="0" i="0" u="none" strike="noStrike">
                <a:solidFill>
                  <a:srgbClr val="ffffff"/>
                </a:solidFill>
                <a:latin typeface="Pretendard Light"/>
              </a:rPr>
              <a:t> 목표</a:t>
            </a:r>
            <a:endParaRPr lang="ko-KR" altLang="en-US" sz="3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10800" y="2247900"/>
            <a:ext cx="7467600" cy="53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동호회 가입 비율 중 </a:t>
            </a:r>
            <a:r>
              <a:rPr xmlns:mc="http://schemas.openxmlformats.org/markup-compatibility/2006" xmlns:hp="http://schemas.haansoft.com/office/presentation/8.0" lang="en-US" altLang="ko-KR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‘</a:t>
            </a: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풋살</a:t>
            </a:r>
            <a:r>
              <a:rPr xmlns:mc="http://schemas.openxmlformats.org/markup-compatibility/2006" xmlns:hp="http://schemas.haansoft.com/office/presentation/8.0" lang="en-US" altLang="ko-KR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축구</a:t>
            </a:r>
            <a:r>
              <a:rPr xmlns:mc="http://schemas.openxmlformats.org/markup-compatibility/2006" xmlns:hp="http://schemas.haansoft.com/office/presentation/8.0" lang="en-US" altLang="ko-KR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’</a:t>
            </a: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 종목이 가장 높음</a:t>
            </a:r>
            <a:r>
              <a:rPr xmlns:mc="http://schemas.openxmlformats.org/markup-compatibility/2006" xmlns:hp="http://schemas.haansoft.com/office/presentation/8.0" lang="ko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, </a:t>
            </a:r>
            <a:r>
              <a:rPr xmlns:mc="http://schemas.openxmlformats.org/markup-compatibility/2006" xmlns:hp="http://schemas.haansoft.com/office/presentation/8.0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그러나 팀 구성</a:t>
            </a:r>
            <a:r>
              <a:rPr xmlns:mc="http://schemas.openxmlformats.org/markup-compatibility/2006" xmlns:hp="http://schemas.haansoft.com/office/presentation/8.0" lang="ko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시간 조율</a:t>
            </a:r>
            <a:r>
              <a:rPr xmlns:mc="http://schemas.openxmlformats.org/markup-compatibility/2006" xmlns:hp="http://schemas.haansoft.com/office/presentation/8.0" lang="ko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실시간 소통의 한계 존재</a:t>
            </a:r>
            <a:endParaRPr xmlns:mc="http://schemas.openxmlformats.org/markup-compatibility/2006" xmlns:hp="http://schemas.haansoft.com/office/presentation/8.0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121902" y="3771900"/>
            <a:ext cx="7480299" cy="1371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기존 동호회 중심의 풋살 환경에서 개인 사용자가 팀에 참여하거나 경기를 개설하기 어</a:t>
            </a:r>
            <a:r>
              <a: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  <a:latin typeface="맑은 고딕"/>
                <a:ea typeface="맑은 고딕"/>
                <a:cs typeface="맑은 고딕"/>
              </a:rPr>
              <a:t>려움</a:t>
            </a:r>
            <a:endParaRPr xmlns:mc="http://schemas.openxmlformats.org/markup-compatibility/2006" xmlns:hp="http://schemas.haansoft.com/office/presentation/8.0" lang="ko-KR" altLang="en-US" sz="2500" b="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sz="2500" b="1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sz="2500" b="1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sz="250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9455784" y="2171700"/>
            <a:ext cx="504191" cy="50419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448800" y="3771900"/>
            <a:ext cx="504191" cy="504191"/>
          </a:xfrm>
          <a:prstGeom prst="rect">
            <a:avLst/>
          </a:prstGeom>
        </p:spPr>
      </p:pic>
      <p:sp>
        <p:nvSpPr>
          <p:cNvPr id="20" name="가로 글상자 19"/>
          <p:cNvSpPr txBox="1"/>
          <p:nvPr/>
        </p:nvSpPr>
        <p:spPr>
          <a:xfrm>
            <a:off x="10058400" y="6561455"/>
            <a:ext cx="7620000" cy="237109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xmlns:mc="http://schemas.openxmlformats.org/markup-compatibility/2006" xmlns:hp="http://schemas.haansoft.com/office/presentation/8.0" sz="2500" i="0" u="none" strike="noStrike" baseline="0" mc:Ignorable="hp" hp:hslEmbossed="0">
                <a:latin typeface="맑은 고딕"/>
                <a:ea typeface="맑은 고딕"/>
                <a:cs typeface="맑은 고딕"/>
              </a:rPr>
              <a:t>개인 중심의 경기 개설과 실시간 팀 매칭 기능을 통해 이러한 접근성을 개선</a:t>
            </a:r>
            <a:endParaRPr xmlns:mc="http://schemas.openxmlformats.org/markup-compatibility/2006" xmlns:hp="http://schemas.haansoft.com/office/presentation/8.0" sz="250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sz="250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sz="2500" i="0" u="none" strike="noStrike" baseline="0" mc:Ignorable="hp" hp:hslEmbossed="0">
                <a:latin typeface="맑은 고딕"/>
                <a:ea typeface="맑은 고딕"/>
                <a:cs typeface="맑은 고딕"/>
              </a:rPr>
              <a:t>통합적 서비스를 통해 풋살 참여 장벽을 낮추고</a:t>
            </a:r>
            <a:r>
              <a:rPr xmlns:mc="http://schemas.openxmlformats.org/markup-compatibility/2006" xmlns:hp="http://schemas.haansoft.com/office/presentation/8.0" lang="EN-US" sz="2500" i="0" u="none" strike="noStrike" baseline="0" mc:Ignorable="hp" hp:hslEmbossed="0">
                <a:latin typeface="맑은 고딕"/>
                <a:ea typeface="맑은 고딕"/>
                <a:cs typeface="맑은 고딕"/>
              </a:rPr>
              <a:t>, </a:t>
            </a:r>
            <a:r>
              <a:rPr xmlns:mc="http://schemas.openxmlformats.org/markup-compatibility/2006" xmlns:hp="http://schemas.haansoft.com/office/presentation/8.0" sz="2500" i="0" u="none" strike="noStrike" baseline="0" mc:Ignorable="hp" hp:hslEmbossed="0">
                <a:latin typeface="맑은 고딕"/>
                <a:ea typeface="맑은 고딕"/>
                <a:cs typeface="맑은 고딕"/>
              </a:rPr>
              <a:t>실시간 소통 중심의 새로운 스포츠 커뮤니티 경험을 제공</a:t>
            </a:r>
            <a:endParaRPr lang="ko-KR" altLang="en-US" sz="250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448800" y="6591300"/>
            <a:ext cx="504191" cy="504191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9441816" y="7734300"/>
            <a:ext cx="504191" cy="504191"/>
          </a:xfrm>
          <a:prstGeom prst="rect">
            <a:avLst/>
          </a:prstGeom>
        </p:spPr>
      </p:pic>
      <p:sp>
        <p:nvSpPr>
          <p:cNvPr id="24" name="아래쪽 화살표 23"/>
          <p:cNvSpPr/>
          <p:nvPr/>
        </p:nvSpPr>
        <p:spPr>
          <a:xfrm>
            <a:off x="13030200" y="4914900"/>
            <a:ext cx="685800" cy="1371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ef99"/>
          </a:solidFill>
          <a:ln>
            <a:solidFill>
              <a:srgbClr val="ffef9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graphicFrame>
        <p:nvGraphicFramePr>
          <p:cNvPr id="26" name="표 25"/>
          <p:cNvGraphicFramePr>
            <a:graphicFrameLocks noGrp="1"/>
          </p:cNvGraphicFramePr>
          <p:nvPr/>
        </p:nvGraphicFramePr>
        <p:xfrm>
          <a:off x="609600" y="571500"/>
          <a:ext cx="8117205" cy="9100752"/>
        </p:xfrm>
        <a:graphic>
          <a:graphicData uri="http://schemas.openxmlformats.org/drawingml/2006/table">
            <a:tbl>
              <a:tblPr firstRow="1" bandRow="1"/>
              <a:tblGrid>
                <a:gridCol w="453390"/>
                <a:gridCol w="1392555"/>
                <a:gridCol w="2459355"/>
                <a:gridCol w="3811905"/>
              </a:tblGrid>
              <a:tr h="289005">
                <a:tc gridSpan="4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구장 검색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e599">
                        <a:alpha val="100000"/>
                      </a:srgbClr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40326">
                <a:tc rowSpan="16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회원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경기 생성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경기 생성 기능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경기명, 시간, 장소 입력 후 등록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6133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지도 업데이트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생성된 경기 마커를 KakaoMap에 실시간 반영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40326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유효성 검사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입력값 검증(시간, 인원 등)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6133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참가 인원 관리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인원 수 실시간 표시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WebSocket을 통해 경기별 현재 참가 인원을 실시간으로 업데이트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6133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참가 인원 검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최대·최소 인원 기준을 확인하여 참가 가능 여부를 자동 판단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6133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최대/최소 인원 설정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경기 생성 시 인원 제한값을 설정하여 참가자 수를 제어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6133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구장 검색 및 상세 보기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KakaoMap API 연동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KakaoMap API를 이용해 구장 위치와 정보를 지도에 표시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6133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구장 필터링 기능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종목, 지역, 시간대 등 조건별로 구장 목록을 필터링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6133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상세 팝업/페이지 연동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구장 마커 클릭 시 상세 정보 팝업 또는 별도 페이지로 연결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6133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매칭방 연동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WebSocket 서버 연동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경기 인원, 매칭 상태, 채팅 메시지를 실시간으로 송수신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6133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매칭 자동 생성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인원 충족 시 자동으로 경기 매칭방 생성 및 사용자 연결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6133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일정 및 채팅 연결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매칭방 내에서 경기 일정 공유와 채팅 기능을 함께 제공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6133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매칭방 기능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실시간 채팅 연동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매칭된 사용자 간 메시지를 WebSocket으로 실시간 교환 연동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6133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후기 작성 연동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경기 종료 후 매칭방에서 후기 작성 기능과 연결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6133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일정 공유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매칭방 내에서 경기 일정 정보를 함께 확인 및 수정 가능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6133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그룹 채팅방 리다이렉트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매칭 완료 시 자동 이동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6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매칭 완료 시 해당 경기의 그룹 채팅방으로 자동 리다이렉트</a:t>
                      </a:r>
                      <a:endParaRPr xmlns:mc="http://schemas.openxmlformats.org/markup-compatibility/2006" xmlns:hp="http://schemas.haansoft.com/office/presentation/8.0" sz="16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276600" y="3200400"/>
            <a:ext cx="6115050" cy="2908300"/>
          </a:xfrm>
          <a:prstGeom prst="rect">
            <a:avLst/>
          </a:prstGeom>
          <a:effectLst>
            <a:outerShdw blurRad="80605" dist="69203" dir="4020000">
              <a:srgbClr val="000000">
                <a:alpha val="2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619500" y="2705100"/>
            <a:ext cx="1003300" cy="1003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156700" y="3200400"/>
            <a:ext cx="6115050" cy="2908300"/>
          </a:xfrm>
          <a:prstGeom prst="rect">
            <a:avLst/>
          </a:prstGeom>
          <a:effectLst>
            <a:outerShdw blurRad="80605" dist="69203" dir="4020000">
              <a:srgbClr val="000000">
                <a:alpha val="20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10058400" y="3924300"/>
            <a:ext cx="4648200" cy="889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" sz="2600" b="0" i="0" u="none" strike="noStrike" baseline="0" mc:Ignorable="hp" hp:hslEmbossed="0">
                <a:latin typeface="Arial"/>
                <a:ea typeface="맑은 고딕"/>
                <a:cs typeface="Arial"/>
              </a:rPr>
              <a:t>Vanilla HTML/CSS/JavaScrip</a:t>
            </a:r>
            <a:endParaRPr lang="en-US" sz="26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3276600" y="6591300"/>
            <a:ext cx="6115050" cy="2908300"/>
          </a:xfrm>
          <a:prstGeom prst="rect">
            <a:avLst/>
          </a:prstGeom>
          <a:effectLst>
            <a:outerShdw blurRad="80605" dist="69203" dir="4020000">
              <a:srgbClr val="000000">
                <a:alpha val="20000"/>
              </a:srgbClr>
            </a:outerShdw>
          </a:effectLst>
        </p:spPr>
      </p:pic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9201150" y="6591300"/>
            <a:ext cx="6115050" cy="2908300"/>
          </a:xfrm>
          <a:prstGeom prst="rect">
            <a:avLst/>
          </a:prstGeom>
          <a:effectLst>
            <a:outerShdw blurRad="80605" dist="69203" dir="4020000">
              <a:srgbClr val="000000">
                <a:alpha val="20000"/>
              </a:srgbClr>
            </a:outerShdw>
          </a:effectLst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9448800" y="2705100"/>
            <a:ext cx="1003300" cy="1003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3632200" y="6096000"/>
            <a:ext cx="1003300" cy="1003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9556750" y="6096000"/>
            <a:ext cx="1003300" cy="10033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6845300" y="7493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sz="3000">
                <a:solidFill>
                  <a:schemeClr val="lt1"/>
                </a:solidFill>
              </a:rPr>
              <a:t>기술 구조</a:t>
            </a:r>
            <a:endParaRPr lang="en-US" sz="3000" b="0" i="0" u="none" strike="noStrike">
              <a:solidFill>
                <a:schemeClr val="lt1"/>
              </a:solidFill>
              <a:latin typeface="Pretendard Ligh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619500" y="2870200"/>
            <a:ext cx="10033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4000" b="0" i="0" u="none" strike="noStrike">
                <a:solidFill>
                  <a:srgbClr val="ffffff"/>
                </a:solidFill>
                <a:latin typeface="Pretendard Bold"/>
              </a:rPr>
              <a:t>B</a:t>
            </a:r>
            <a:endParaRPr lang="en-US" altLang="ko-KR" sz="4000" b="0" i="0" u="none" strike="noStrike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448800" y="2870200"/>
            <a:ext cx="10033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4000" b="0" i="0" u="none" strike="noStrike">
                <a:solidFill>
                  <a:srgbClr val="ffffff"/>
                </a:solidFill>
                <a:latin typeface="Pretendard Bold"/>
              </a:rPr>
              <a:t>F</a:t>
            </a:r>
            <a:endParaRPr lang="en-US" altLang="ko-KR" sz="4000" b="0" i="0" u="none" strike="noStrike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632200" y="6261100"/>
            <a:ext cx="10033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4000" b="0" i="0" u="none" strike="noStrike">
                <a:solidFill>
                  <a:srgbClr val="ffffff"/>
                </a:solidFill>
                <a:latin typeface="Pretendard Bold"/>
              </a:rPr>
              <a:t>D</a:t>
            </a:r>
            <a:endParaRPr lang="en-US" altLang="ko-KR" sz="4000" b="0" i="0" u="none" strike="noStrike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556750" y="6261100"/>
            <a:ext cx="10033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4000" b="0" i="0" u="none" strike="noStrike">
                <a:solidFill>
                  <a:srgbClr val="ffffff"/>
                </a:solidFill>
                <a:latin typeface="Pretendard Bold"/>
              </a:rPr>
              <a:t>E</a:t>
            </a:r>
            <a:endParaRPr lang="en-US" altLang="ko-KR" sz="4000" b="0" i="0" u="none" strike="noStrike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267200" y="3924300"/>
            <a:ext cx="4648200" cy="889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" sz="2600" b="0" i="0" u="none" strike="noStrike" baseline="0" mc:Ignorable="hp" hp:hslEmbossed="0">
                <a:latin typeface="Arial"/>
                <a:ea typeface="맑은 고딕"/>
                <a:cs typeface="Arial"/>
              </a:rPr>
              <a:t>Spring Boot, Spring Web, Spring Security(JWT), MyBatis, WebSocket(STOMP), RabbitMQ</a:t>
            </a:r>
            <a:endParaRPr lang="en-US" sz="26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267200" y="7315200"/>
            <a:ext cx="4648200" cy="1346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ko" sz="2600" b="0" i="0" u="none" strike="noStrike" baseline="0" mc:Ignorable="hp" hp:hslEmbossed="0">
                <a:latin typeface="Arial"/>
                <a:ea typeface="맑은 고딕"/>
                <a:cs typeface="Arial"/>
              </a:rPr>
              <a:t>MySQL, AWS RDS, drawio</a:t>
            </a:r>
            <a:endParaRPr lang="en-US" sz="26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906000" y="7315200"/>
            <a:ext cx="4648200" cy="1346200"/>
          </a:xfrm>
          <a:prstGeom prst="rect">
            <a:avLst/>
          </a:prstGeom>
        </p:spPr>
        <p:txBody>
          <a:bodyPr lIns="0" tIns="0" rIns="0" bIns="0" anchor="t"/>
          <a:lstStyle/>
          <a:p>
            <a:pPr marL="457200" lvl="1" indent="-228600">
              <a:spcBef>
                <a:spcPts val="0"/>
              </a:spcBef>
              <a:spcAft>
                <a:spcPts val="0"/>
              </a:spcAft>
              <a:buFont typeface="Symbol"/>
              <a:buChar char=""/>
              <a:tabLst>
                <a:tab pos="457200" algn="l"/>
              </a:tabLst>
              <a:defRPr/>
            </a:pPr>
            <a:r>
              <a:rPr xmlns:mc="http://schemas.openxmlformats.org/markup-compatibility/2006" xmlns:hp="http://schemas.haansoft.com/office/presentation/8.0" lang="EN-US" sz="2600" i="0" u="none" strike="noStrike" baseline="0" mc:Ignorable="hp" hp:hslEmbossed="0">
                <a:latin typeface="맑은 고딕"/>
                <a:ea typeface="맑은 고딕"/>
                <a:cs typeface="맑은 고딕"/>
              </a:rPr>
              <a:t>API: kakaoMaps</a:t>
            </a:r>
            <a:endParaRPr xmlns:mc="http://schemas.openxmlformats.org/markup-compatibility/2006" xmlns:hp="http://schemas.haansoft.com/office/presentation/8.0" lang="EN-US" sz="260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marL="457200" lvl="1" indent="-228600">
              <a:spcBef>
                <a:spcPts val="0"/>
              </a:spcBef>
              <a:spcAft>
                <a:spcPts val="0"/>
              </a:spcAft>
              <a:buFont typeface="Symbol"/>
              <a:buChar char=""/>
              <a:tabLst>
                <a:tab pos="457200" algn="l"/>
              </a:tabLst>
              <a:defRPr/>
            </a:pPr>
            <a:r>
              <a:rPr xmlns:mc="http://schemas.openxmlformats.org/markup-compatibility/2006" xmlns:hp="http://schemas.haansoft.com/office/presentation/8.0" sz="2600" i="0" u="none" strike="noStrike" baseline="0" mc:Ignorable="hp" hp:hslEmbossed="0">
                <a:latin typeface="맑은 고딕"/>
                <a:ea typeface="맑은 고딕"/>
                <a:cs typeface="맑은 고딕"/>
              </a:rPr>
              <a:t>배포 및 빌드</a:t>
            </a:r>
            <a:r>
              <a:rPr xmlns:mc="http://schemas.openxmlformats.org/markup-compatibility/2006" xmlns:hp="http://schemas.haansoft.com/office/presentation/8.0" lang="EN-US" sz="2600" i="0" u="none" strike="noStrike" baseline="0" mc:Ignorable="hp" hp:hslEmbossed="0">
                <a:latin typeface="맑은 고딕"/>
                <a:ea typeface="맑은 고딕"/>
                <a:cs typeface="맑은 고딕"/>
              </a:rPr>
              <a:t>: AWS, S3</a:t>
            </a:r>
            <a:endParaRPr xmlns:mc="http://schemas.openxmlformats.org/markup-compatibility/2006" xmlns:hp="http://schemas.haansoft.com/office/presentation/8.0" lang="EN-US" sz="2600" i="0" u="none" strike="noStrike" baseline="0" mc:Ignorable="hp" hp:hslEmbossed="0">
              <a:latin typeface="맑은 고딕"/>
              <a:ea typeface="맑은 고딕"/>
              <a:cs typeface="맑은 고딕"/>
            </a:endParaRPr>
          </a:p>
          <a:p>
            <a:pPr marL="457200" lvl="1" indent="-228600">
              <a:spcBef>
                <a:spcPts val="0"/>
              </a:spcBef>
              <a:spcAft>
                <a:spcPts val="800"/>
              </a:spcAft>
              <a:buFont typeface="Symbol"/>
              <a:buChar char=""/>
              <a:tabLst>
                <a:tab pos="457200" algn="l"/>
              </a:tabLst>
              <a:defRPr/>
            </a:pPr>
            <a:r>
              <a:rPr xmlns:mc="http://schemas.openxmlformats.org/markup-compatibility/2006" xmlns:hp="http://schemas.haansoft.com/office/presentation/8.0" sz="2600" i="0" u="none" strike="noStrike" baseline="0" mc:Ignorable="hp" hp:hslEmbossed="0">
                <a:latin typeface="맑은 고딕"/>
                <a:ea typeface="맑은 고딕"/>
                <a:cs typeface="맑은 고딕"/>
              </a:rPr>
              <a:t>협업</a:t>
            </a:r>
            <a:r>
              <a:rPr xmlns:mc="http://schemas.openxmlformats.org/markup-compatibility/2006" xmlns:hp="http://schemas.haansoft.com/office/presentation/8.0" lang="EN-US" sz="2600" i="0" u="none" strike="noStrike" baseline="0" mc:Ignorable="hp" hp:hslEmbossed="0">
                <a:latin typeface="맑은 고딕"/>
                <a:ea typeface="맑은 고딕"/>
                <a:cs typeface="맑은 고딕"/>
              </a:rPr>
              <a:t>: GitHub, Notion, Figma</a:t>
            </a:r>
            <a:endParaRPr lang="en-US" sz="260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334000" y="1866900"/>
            <a:ext cx="76200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4000" i="0" u="none" strike="noStrike" baseline="0" mc:Ignorable="hp" hp:hslEmbossed="0">
                <a:latin typeface="맑은 고딕"/>
                <a:ea typeface="맑은 고딕"/>
                <a:cs typeface="맑은 고딕"/>
              </a:rPr>
              <a:t>프로젝트 수행 도구</a:t>
            </a:r>
            <a:endParaRPr lang="ko-KR" sz="4000" i="0" u="none" strike="noStrike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6172833" y="1791333"/>
            <a:ext cx="685166" cy="68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605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99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  <a:endParaRPr lang="ko-KR" sz="40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7493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핵심 기능 &amp; 사용자 흐름</a:t>
            </a:r>
            <a:endParaRPr lang="en-US" sz="3000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36700" y="1714500"/>
            <a:ext cx="28829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500" b="0" i="0" u="none" strike="noStrike">
                <a:solidFill>
                  <a:srgbClr val="000000"/>
                </a:solidFill>
                <a:ea typeface="Pretendard Bold"/>
              </a:rPr>
              <a:t>주요기능 목록</a:t>
            </a:r>
            <a:endParaRPr lang="ko-KR" altLang="en-US" sz="35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914400" y="1714500"/>
            <a:ext cx="504191" cy="504191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580489" y="2324100"/>
            <a:ext cx="11127022" cy="7254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461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  <a:endParaRPr lang="ko-KR" sz="40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61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7493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핵심 기능 &amp; 사용자 흐름</a:t>
            </a:r>
            <a:endParaRPr lang="en-US" sz="3000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36700" y="1714500"/>
            <a:ext cx="35687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500" b="0" i="0" u="none" strike="noStrike">
                <a:solidFill>
                  <a:srgbClr val="000000"/>
                </a:solidFill>
                <a:ea typeface="Pretendard Bold"/>
              </a:rPr>
              <a:t>요구사항 정의서</a:t>
            </a:r>
            <a:endParaRPr lang="ko-KR" altLang="en-US" sz="35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914400" y="1714500"/>
            <a:ext cx="504191" cy="504191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10"/>
          <a:srcRect b="73077"/>
          <a:stretch>
            <a:fillRect/>
          </a:stretch>
        </p:blipFill>
        <p:spPr>
          <a:xfrm>
            <a:off x="838200" y="2476500"/>
            <a:ext cx="16734928" cy="6629399"/>
          </a:xfrm>
          <a:prstGeom prst="rect">
            <a:avLst/>
          </a:prstGeom>
        </p:spPr>
      </p:pic>
      <p:pic>
        <p:nvPicPr>
          <p:cNvPr id="29" name="그림 28">
            <a:hlinkClick r:id="rId11" tooltip="요구사항 정의서"/>
          </p:cNvPr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6535400" y="8496300"/>
            <a:ext cx="1266191" cy="126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53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  <a:endParaRPr lang="ko-KR" sz="40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506200" y="1663700"/>
            <a:ext cx="6002187" cy="2946400"/>
          </a:xfrm>
          <a:prstGeom prst="rect">
            <a:avLst/>
          </a:prstGeom>
          <a:effectLst>
            <a:outerShdw blurRad="226448" dist="133936" dir="4020000">
              <a:srgbClr val="000000">
                <a:alpha val="2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7493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핵심 기능 &amp; 사용자 흐름</a:t>
            </a:r>
            <a:endParaRPr lang="en-US" sz="3000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204700" y="1866900"/>
            <a:ext cx="53975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ea typeface="Pretendard Bold"/>
              </a:rPr>
              <a:t>Service Information Architecture &amp; User Flow</a:t>
            </a:r>
            <a:endParaRPr lang="en-US" altLang="ko-KR" sz="35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1582400" y="1866900"/>
            <a:ext cx="504191" cy="504191"/>
          </a:xfrm>
          <a:prstGeom prst="rect">
            <a:avLst/>
          </a:prstGeom>
        </p:spPr>
      </p:pic>
      <p:sp>
        <p:nvSpPr>
          <p:cNvPr id="25" name="TextBox 12"/>
          <p:cNvSpPr txBox="1"/>
          <p:nvPr/>
        </p:nvSpPr>
        <p:spPr>
          <a:xfrm>
            <a:off x="11734800" y="3263900"/>
            <a:ext cx="5638800" cy="889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ko-KR" altLang="en-US" sz="2400" b="0" i="0" u="none" strike="noStrike">
                <a:solidFill>
                  <a:srgbClr val="717377"/>
                </a:solidFill>
                <a:ea typeface="Pretendard Regular"/>
              </a:rPr>
              <a:t>비회원과 회원으로 나누어 접근할 수 있는 페이지와 사용 가능 한 기능 구분</a:t>
            </a:r>
            <a:endParaRPr lang="ko-KR" altLang="en-US" sz="2400" b="0" i="0" u="none" strike="noStrike">
              <a:solidFill>
                <a:srgbClr val="717377"/>
              </a:solidFill>
              <a:ea typeface="Pretendard Regular"/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95350" y="1562100"/>
            <a:ext cx="10291763" cy="815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649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0375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  <a:endParaRPr lang="ko-KR" sz="40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82200" y="1663700"/>
            <a:ext cx="7526187" cy="3163744"/>
          </a:xfrm>
          <a:prstGeom prst="rect">
            <a:avLst/>
          </a:prstGeom>
          <a:effectLst>
            <a:outerShdw blurRad="226448" dist="133936" dir="4020000">
              <a:srgbClr val="000000">
                <a:alpha val="2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7493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핵심 기능 &amp; 사용자 흐름</a:t>
            </a:r>
            <a:endParaRPr lang="en-US" sz="3000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756900" y="1790700"/>
            <a:ext cx="63119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ea typeface="Pretendard Bold"/>
              </a:rPr>
              <a:t>Matchmaking User Journey Flow</a:t>
            </a:r>
            <a:endParaRPr lang="en-US" altLang="ko-KR" sz="35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0134600" y="1790700"/>
            <a:ext cx="504191" cy="504191"/>
          </a:xfrm>
          <a:prstGeom prst="rect">
            <a:avLst/>
          </a:prstGeom>
        </p:spPr>
      </p:pic>
      <p:sp>
        <p:nvSpPr>
          <p:cNvPr id="25" name="TextBox 12"/>
          <p:cNvSpPr txBox="1"/>
          <p:nvPr/>
        </p:nvSpPr>
        <p:spPr>
          <a:xfrm>
            <a:off x="10287000" y="2654300"/>
            <a:ext cx="6324600" cy="889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ko-KR" altLang="en-US" sz="2400" b="0" i="0" u="none" strike="noStrike">
                <a:solidFill>
                  <a:srgbClr val="717377"/>
                </a:solidFill>
                <a:latin typeface="맑은 고딕"/>
              </a:rPr>
              <a:t>매칭</a:t>
            </a:r>
            <a:r>
              <a:rPr lang="en-US" altLang="ko-KR" sz="2400" b="0" i="0" u="none" strike="noStrike">
                <a:solidFill>
                  <a:srgbClr val="717377"/>
                </a:solidFill>
                <a:latin typeface="맑은 고딕"/>
              </a:rPr>
              <a:t> </a:t>
            </a:r>
            <a:r>
              <a:rPr lang="ko-KR" altLang="en-US" sz="2400" b="0" i="0" u="none" strike="noStrike">
                <a:solidFill>
                  <a:srgbClr val="717377"/>
                </a:solidFill>
                <a:latin typeface="맑은 고딕"/>
              </a:rPr>
              <a:t>유저를 타겟으로 했을 때 </a:t>
            </a:r>
            <a:r>
              <a:rPr lang="en-US" altLang="ko-KR" sz="2400" b="0" i="0" u="none" strike="noStrike">
                <a:solidFill>
                  <a:srgbClr val="717377"/>
                </a:solidFill>
                <a:latin typeface="맑은 고딕"/>
              </a:rPr>
              <a:t>Flow</a:t>
            </a:r>
            <a:endParaRPr lang="en-US" altLang="ko-KR" sz="2400" b="0" i="0" u="none" strike="noStrike">
              <a:solidFill>
                <a:srgbClr val="717377"/>
              </a:solidFill>
              <a:latin typeface="맑은 고딕"/>
            </a:endParaRPr>
          </a:p>
          <a:p>
            <a:pPr lvl="0" algn="l">
              <a:lnSpc>
                <a:spcPct val="124499"/>
              </a:lnSpc>
              <a:defRPr/>
            </a:pPr>
            <a:endParaRPr lang="en-US" altLang="ko-KR" sz="2400" b="0" i="0" u="none" strike="noStrike">
              <a:solidFill>
                <a:srgbClr val="717377"/>
              </a:solidFill>
              <a:latin typeface="맑은 고딕"/>
            </a:endParaRPr>
          </a:p>
          <a:p>
            <a:pPr lvl="0">
              <a:defRPr/>
            </a:pPr>
            <a:r>
              <a:rPr lang="ko-KR" altLang="en-US" sz="2400">
                <a:latin typeface="맑은 고딕"/>
              </a:rPr>
              <a:t>로그인 → 매칭 → 신청 → 채팅 → 경기 진행 → 리뷰</a:t>
            </a:r>
            <a:endParaRPr lang="ko-KR" altLang="en-US" sz="2400">
              <a:latin typeface="맑은 고딕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524000" y="1428228"/>
            <a:ext cx="8317039" cy="836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38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0375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  <a:endParaRPr lang="ko-KR" sz="40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7493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핵심 기능 &amp; 사용자 흐름</a:t>
            </a:r>
            <a:endParaRPr lang="en-US" sz="3000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9"/>
          <a:srcRect l="4192" r="3579" b="6210"/>
          <a:stretch>
            <a:fillRect/>
          </a:stretch>
        </p:blipFill>
        <p:spPr>
          <a:xfrm>
            <a:off x="609600" y="1866900"/>
            <a:ext cx="15230190" cy="7842249"/>
          </a:xfrm>
          <a:prstGeom prst="rect">
            <a:avLst/>
          </a:prstGeom>
        </p:spPr>
      </p:pic>
      <p:grpSp>
        <p:nvGrpSpPr>
          <p:cNvPr id="29" name=""/>
          <p:cNvGrpSpPr/>
          <p:nvPr/>
        </p:nvGrpSpPr>
        <p:grpSpPr>
          <a:xfrm rot="0">
            <a:off x="14630400" y="1409700"/>
            <a:ext cx="3962400" cy="2641600"/>
            <a:chOff x="14630400" y="1663700"/>
            <a:chExt cx="3962400" cy="26416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 rotWithShape="1">
            <a:blip r:embed="rId10"/>
            <a:stretch>
              <a:fillRect/>
            </a:stretch>
          </p:blipFill>
          <p:spPr>
            <a:xfrm>
              <a:off x="14630400" y="1663700"/>
              <a:ext cx="3048000" cy="2641600"/>
            </a:xfrm>
            <a:prstGeom prst="rect">
              <a:avLst/>
            </a:prstGeom>
            <a:effectLst>
              <a:outerShdw blurRad="226448" dist="133936" dir="4020000">
                <a:srgbClr val="000000">
                  <a:alpha val="20000"/>
                </a:srgbClr>
              </a:outerShdw>
            </a:effectLst>
          </p:spPr>
        </p:pic>
        <p:sp>
          <p:nvSpPr>
            <p:cNvPr id="19" name="TextBox 19"/>
            <p:cNvSpPr txBox="1"/>
            <p:nvPr/>
          </p:nvSpPr>
          <p:spPr>
            <a:xfrm>
              <a:off x="15328900" y="1790700"/>
              <a:ext cx="2578100" cy="622300"/>
            </a:xfrm>
            <a:prstGeom prst="rect">
              <a:avLst/>
            </a:prstGeom>
          </p:spPr>
          <p:txBody>
            <a:bodyPr lIns="0" tIns="0" rIns="0" bIns="0" anchor="t"/>
            <a:lstStyle/>
            <a:p>
              <a:pPr lvl="0" algn="l">
                <a:lnSpc>
                  <a:spcPct val="99600"/>
                </a:lnSpc>
                <a:defRPr/>
              </a:pPr>
              <a:r>
                <a:rPr lang="en-US" altLang="ko-KR" sz="3500" b="0" i="0" u="none" strike="noStrike">
                  <a:solidFill>
                    <a:srgbClr val="000000"/>
                  </a:solidFill>
                  <a:ea typeface="Pretendard Bold"/>
                </a:rPr>
                <a:t>Screen Flow</a:t>
              </a:r>
              <a:endParaRPr lang="en-US" altLang="ko-KR" sz="3500" b="0" i="0" u="none" strike="noStrike">
                <a:solidFill>
                  <a:srgbClr val="000000"/>
                </a:solidFill>
                <a:ea typeface="Pretendard Bold"/>
              </a:endParaRPr>
            </a:p>
          </p:txBody>
        </p:sp>
        <p:pic>
          <p:nvPicPr>
            <p:cNvPr id="24" name="그림 23"/>
            <p:cNvPicPr>
              <a:picLocks noChangeAspect="1"/>
            </p:cNvPicPr>
            <p:nvPr/>
          </p:nvPicPr>
          <p:blipFill rotWithShape="1">
            <a:blip r:embed="rId11"/>
            <a:stretch>
              <a:fillRect/>
            </a:stretch>
          </p:blipFill>
          <p:spPr>
            <a:xfrm>
              <a:off x="14706600" y="1790700"/>
              <a:ext cx="504191" cy="504191"/>
            </a:xfrm>
            <a:prstGeom prst="rect">
              <a:avLst/>
            </a:prstGeom>
          </p:spPr>
        </p:pic>
        <p:sp>
          <p:nvSpPr>
            <p:cNvPr id="25" name="TextBox 12"/>
            <p:cNvSpPr txBox="1"/>
            <p:nvPr/>
          </p:nvSpPr>
          <p:spPr>
            <a:xfrm>
              <a:off x="14782800" y="2552700"/>
              <a:ext cx="3810000" cy="889000"/>
            </a:xfrm>
            <a:prstGeom prst="rect">
              <a:avLst/>
            </a:prstGeom>
          </p:spPr>
          <p:txBody>
            <a:bodyPr lIns="0" tIns="0" rIns="0" bIns="0" anchor="t"/>
            <a:lstStyle/>
            <a:p>
              <a:pPr lvl="0" algn="l">
                <a:lnSpc>
                  <a:spcPct val="124499"/>
                </a:lnSpc>
                <a:defRPr/>
              </a:pPr>
              <a:r>
                <a:rPr lang="ko-KR" altLang="en-US" sz="2400" b="0" i="0" u="none" strike="noStrike">
                  <a:solidFill>
                    <a:srgbClr val="717377"/>
                  </a:solidFill>
                  <a:ea typeface="Pretendard Regular"/>
                </a:rPr>
                <a:t>유저</a:t>
              </a:r>
              <a:r>
                <a:rPr lang="en-US" altLang="ko-KR" sz="2400" b="0" i="0" u="none" strike="noStrike">
                  <a:solidFill>
                    <a:srgbClr val="717377"/>
                  </a:solidFill>
                  <a:ea typeface="Pretendard Regular"/>
                </a:rPr>
                <a:t> </a:t>
              </a:r>
              <a:r>
                <a:rPr lang="ko-KR" altLang="en-US" sz="2400" b="0" i="0" u="none" strike="noStrike">
                  <a:solidFill>
                    <a:srgbClr val="717377"/>
                  </a:solidFill>
                  <a:ea typeface="Pretendard Regular"/>
                </a:rPr>
                <a:t>여정을 실제 화면 흐름으로 구상</a:t>
              </a:r>
              <a:endParaRPr lang="ko-KR" altLang="en-US" sz="2400" b="0" i="0" u="none" strike="noStrike">
                <a:solidFill>
                  <a:srgbClr val="717377"/>
                </a:solidFill>
                <a:ea typeface="Pretendard Regula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4647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46100" y="431799"/>
            <a:ext cx="17360900" cy="9664701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  <a:endParaRPr lang="ko-KR" sz="40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61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867400" y="723900"/>
            <a:ext cx="67945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화면 설계 </a:t>
            </a:r>
            <a:r>
              <a:rPr lang="en-US" altLang="ko-KR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-</a:t>
            </a: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 와이어프레임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028616" y="1430507"/>
            <a:ext cx="12230767" cy="8513593"/>
          </a:xfrm>
          <a:prstGeom prst="rect">
            <a:avLst/>
          </a:prstGeom>
        </p:spPr>
      </p:pic>
      <p:pic>
        <p:nvPicPr>
          <p:cNvPr id="42" name="그림 41">
            <a:hlinkClick r:id="rId10" tooltip="와이어프레임"/>
          </p:cNvPr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6488409" y="8572500"/>
            <a:ext cx="1266191" cy="126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20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6100" y="431799"/>
            <a:ext cx="17360900" cy="9664701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  <a:endParaRPr lang="ko-KR" sz="40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61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464300" y="723900"/>
            <a:ext cx="53467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화면 설계 </a:t>
            </a:r>
            <a:r>
              <a:rPr lang="en-US" altLang="ko-KR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-</a:t>
            </a: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 시나리오 보드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334455" y="1638300"/>
            <a:ext cx="15619090" cy="8232140"/>
          </a:xfrm>
          <a:prstGeom prst="rect">
            <a:avLst/>
          </a:prstGeom>
        </p:spPr>
      </p:pic>
      <p:pic>
        <p:nvPicPr>
          <p:cNvPr id="48" name="그림 47">
            <a:hlinkClick r:id="rId11" tooltip="시나리오 보드"/>
          </p:cNvPr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6535400" y="8525510"/>
            <a:ext cx="1266191" cy="126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328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6100" y="431799"/>
            <a:ext cx="17360900" cy="9664701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  <a:endParaRPr lang="ko-KR" sz="40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61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464300" y="723900"/>
            <a:ext cx="53467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시스템 설계</a:t>
            </a:r>
            <a:r>
              <a:rPr lang="en-US" altLang="ko-KR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 - ERD</a:t>
            </a:r>
            <a:endParaRPr lang="en-US" altLang="ko-KR" sz="3000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pic>
        <p:nvPicPr>
          <p:cNvPr id="47" name="그림 46">
            <a:hlinkClick r:id="rId10" action="ppaction://hlinkfile"/>
          </p:cNvPr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828800" y="1638300"/>
            <a:ext cx="14194844" cy="819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985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6100" y="431799"/>
            <a:ext cx="17360900" cy="9664701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  <a:endParaRPr lang="ko-KR" sz="40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61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464300" y="723900"/>
            <a:ext cx="53467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시스템 설계</a:t>
            </a:r>
            <a:r>
              <a:rPr lang="en-US" altLang="ko-KR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 - ERD</a:t>
            </a:r>
            <a:endParaRPr lang="en-US" altLang="ko-KR" sz="3000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794794" y="1714500"/>
            <a:ext cx="12698412" cy="8190475"/>
          </a:xfrm>
          <a:prstGeom prst="rect">
            <a:avLst/>
          </a:prstGeom>
        </p:spPr>
      </p:pic>
      <p:pic>
        <p:nvPicPr>
          <p:cNvPr id="50" name="그림 49">
            <a:hlinkClick r:id="rId11" tooltip="요구사항 별 쿼리"/>
          </p:cNvPr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6306800" y="8525509"/>
            <a:ext cx="1266191" cy="126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697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6100" y="431799"/>
            <a:ext cx="17360900" cy="9588501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  <a:endParaRPr lang="ko-KR" sz="40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61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464300" y="723900"/>
            <a:ext cx="53467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시스템 설계</a:t>
            </a:r>
            <a:r>
              <a:rPr lang="en-US" altLang="ko-KR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 - API</a:t>
            </a:r>
            <a:r>
              <a:rPr lang="ko-KR" altLang="en-US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 명세서</a:t>
            </a:r>
            <a:endParaRPr lang="ko-KR" altLang="en-US" sz="3000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49" name="표 48"/>
          <p:cNvGraphicFramePr>
            <a:graphicFrameLocks noGrp="1"/>
          </p:cNvGraphicFramePr>
          <p:nvPr/>
        </p:nvGraphicFramePr>
        <p:xfrm>
          <a:off x="914400" y="2233642"/>
          <a:ext cx="16687799" cy="7253257"/>
        </p:xfrm>
        <a:graphic>
          <a:graphicData uri="http://schemas.openxmlformats.org/drawingml/2006/table">
            <a:tbl>
              <a:tblPr firstRow="1" bandRow="1"/>
              <a:tblGrid>
                <a:gridCol w="984480"/>
                <a:gridCol w="2207968"/>
                <a:gridCol w="3815573"/>
                <a:gridCol w="2449820"/>
                <a:gridCol w="7229957"/>
              </a:tblGrid>
              <a:tr h="320040">
                <a:tc gridSpan="5"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5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API </a:t>
                      </a:r>
                      <a:r>
                        <a:rPr xmlns:mc="http://schemas.openxmlformats.org/markup-compatibility/2006" xmlns:hp="http://schemas.haansoft.com/office/presentation/8.0" sz="15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</a:rPr>
                        <a:t>명세서</a:t>
                      </a:r>
                      <a:endParaRPr xmlns:mc="http://schemas.openxmlformats.org/markup-compatibility/2006" xmlns:hp="http://schemas.haansoft.com/office/presentation/8.0" sz="150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1440" marR="91440" anchor="b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dce6f1">
                        <a:alpha val="100000"/>
                      </a:srgbClr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48639"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5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페이지 명</a:t>
                      </a:r>
                      <a:endParaRPr xmlns:mc="http://schemas.openxmlformats.org/markup-compatibility/2006" xmlns:hp="http://schemas.haansoft.com/office/presentation/8.0" sz="150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5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Http Method</a:t>
                      </a:r>
                      <a:endParaRPr xmlns:mc="http://schemas.openxmlformats.org/markup-compatibility/2006" xmlns:hp="http://schemas.haansoft.com/office/presentation/8.0" sz="150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5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router</a:t>
                      </a:r>
                      <a:endParaRPr xmlns:mc="http://schemas.openxmlformats.org/markup-compatibility/2006" xmlns:hp="http://schemas.haansoft.com/office/presentation/8.0" sz="150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5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요구사항명</a:t>
                      </a:r>
                      <a:endParaRPr xmlns:mc="http://schemas.openxmlformats.org/markup-compatibility/2006" xmlns:hp="http://schemas.haansoft.com/office/presentation/8.0" sz="150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5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요구사항 내용</a:t>
                      </a:r>
                      <a:endParaRPr xmlns:mc="http://schemas.openxmlformats.org/markup-compatibility/2006" xmlns:hp="http://schemas.haansoft.com/office/presentation/8.0" sz="150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20040">
                <a:tc rowSpan="8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로그인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GET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/login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로그인 페이지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로그인 페이지로 리다이렉트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20040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POST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/api/auth/login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로그인 요청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로그인 요청 ( body - username, password )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20040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POST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/api/auth/logout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로그아웃 요청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로그아웃 처리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20040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POST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/api/auth/refresh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토큰 갱신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Refresh Token으로 Access Token 재발급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20040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GET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/kakaologin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카카오 로그인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카카오로그인 OAuth 페이지 리다이렉트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63442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GET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/api/auth/oauth2/google/callback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구글 로그인 콜백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구글 인증 후 콜백 처리 및 JWT 발급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20040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GET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/googlelogin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구글 로그인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구글 로그인 OAuth 페이지 리다이렉트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63442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GET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/api/auth/oauth2/kakao/callback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카카오 로그인 콜백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카카오 인증 후 콜백 처리 및 JWT 발급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20040">
                <a:tc rowSpan="4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회원가입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GET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/signup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회원가입 페이지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회원가입 페이지로 리다이렉트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63442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POST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/api/auth/signup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회원가입 요청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회원가입 요청 (body - username, password, email, nickname, address, level)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63442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GET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/api/auth/check-username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아이디 중복 확인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아이디 중복 여부 확인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63442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GET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/api/auth/check-nickname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닉네임 중복 확인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닉네임 중복 여부 확인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63442">
                <a:tc row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아이디 찾기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GET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/find-username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아이디 찾기 페이지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아이디 찾기 페이지로 리다이렉트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20040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POST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/api/auth/find-username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인증번호 전송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이메일로 6자리 인증번호 전송 (body - email)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20040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POST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/api/auth/verify-username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인증번호 검증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인증번호 검증 후 마스킹된 아이디 반환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63442">
                <a:tc rowSpan="4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비밀번호 찾기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ctr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GET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/reset-password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비밀번호 찾기 페이지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아이디 찾기 페이지로 리다이렉트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20040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POST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/api/auth/reset-password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인증번호 전송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이메일로 6자리 인증번호 전송 (body - email)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20040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POST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/api/auth/verify-password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인증번호 검증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인증번호 검증 후 마스킹된 아이디 반환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20040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PUT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/api/auth/update-password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비밀번호 재설정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b" anchorCtr="0">
                      <a:spAutoFit/>
                    </a:bodyPr>
                    <a:p>
                      <a:pPr lvl="0">
                        <a:defRPr/>
                      </a:pPr>
                      <a:r>
                        <a:rPr xmlns:mc="http://schemas.openxmlformats.org/markup-compatibility/2006" xmlns:hp="http://schemas.haansoft.com/office/presentation/8.0" sz="15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cs typeface="Arial"/>
                        </a:rPr>
                        <a:t>새 비밀번호로 변경</a:t>
                      </a:r>
                      <a:endParaRPr xmlns:mc="http://schemas.openxmlformats.org/markup-compatibility/2006" xmlns:hp="http://schemas.haansoft.com/office/presentation/8.0" sz="15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cs typeface="Arial"/>
                      </a:endParaRPr>
                    </a:p>
                  </a:txBody>
                  <a:tcPr marL="91440" marR="91440" anchor="b">
                    <a:lnL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w="1524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w="15240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1" name="그림 50">
            <a:hlinkClick r:id="rId10" tooltip="api명세서"/>
          </p:cNvPr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6459200" y="8754109"/>
            <a:ext cx="1266191" cy="126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1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6100" y="431799"/>
            <a:ext cx="17360900" cy="9588501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  <a:endParaRPr lang="ko-KR" sz="40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61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464300" y="723900"/>
            <a:ext cx="53467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3000" b="0" i="0" u="none" strike="noStrike">
                <a:solidFill>
                  <a:srgbClr val="ffffff"/>
                </a:solidFill>
                <a:latin typeface="맑은 고딕"/>
                <a:ea typeface="맑은 고딕"/>
              </a:rPr>
              <a:t>WBS</a:t>
            </a:r>
            <a:endParaRPr lang="en-US" altLang="ko-KR" sz="3000" b="0" i="0" u="none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349116" y="2324100"/>
            <a:ext cx="15589766" cy="7162800"/>
          </a:xfrm>
          <a:prstGeom prst="rect">
            <a:avLst/>
          </a:prstGeom>
        </p:spPr>
      </p:pic>
      <p:pic>
        <p:nvPicPr>
          <p:cNvPr id="53" name="그림 52">
            <a:hlinkClick r:id="rId11" tooltip="WBS"/>
          </p:cNvPr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6383000" y="8677909"/>
            <a:ext cx="1266191" cy="126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602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</a:t>
            </a:r>
            <a:endParaRPr lang="en-US" sz="2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028950" y="6210300"/>
            <a:ext cx="12230100" cy="800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3400" b="1" i="0" u="none" strike="noStrike">
                <a:solidFill>
                  <a:srgbClr val="494a4e"/>
                </a:solidFill>
                <a:latin typeface="맑은 고딕"/>
              </a:rPr>
              <a:t>Multi_FC | </a:t>
            </a:r>
            <a:r>
              <a:rPr lang="ko-KR" altLang="en-US" sz="3400" b="1" i="0" u="none" strike="noStrike">
                <a:solidFill>
                  <a:srgbClr val="494a4e"/>
                </a:solidFill>
                <a:latin typeface="맑은 고딕"/>
              </a:rPr>
              <a:t>권성민 문진우 박태란 윤승근 최준호 홍예린</a:t>
            </a:r>
            <a:endParaRPr lang="ko-KR" altLang="en-US" sz="3400" b="1" i="0" u="none" strike="noStrike">
              <a:solidFill>
                <a:srgbClr val="494a4e"/>
              </a:solidFill>
              <a:latin typeface="맑은 고딕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971799" y="4229100"/>
            <a:ext cx="12344400" cy="1600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altLang="en-US" sz="9000" b="1" i="0" u="none" strike="noStrike">
                <a:solidFill>
                  <a:srgbClr val="000000"/>
                </a:solidFill>
                <a:latin typeface="맑은 고딕"/>
              </a:rPr>
              <a:t>감사합니다</a:t>
            </a:r>
            <a:endParaRPr lang="ko-KR" altLang="en-US" sz="9000" b="1" i="0" u="none" strike="noStrike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934209" y="2277109"/>
            <a:ext cx="1266191" cy="1266191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315084" y="5620384"/>
            <a:ext cx="1123316" cy="1123316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753600" y="7353300"/>
            <a:ext cx="1075691" cy="107569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607559" y="8455659"/>
            <a:ext cx="1107441" cy="1107441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4126209" y="8267700"/>
            <a:ext cx="1266191" cy="1266191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6324600" y="2620009"/>
            <a:ext cx="1075691" cy="1075691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0896600" y="1714500"/>
            <a:ext cx="1123316" cy="1123316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15732759" y="3426459"/>
            <a:ext cx="1107441" cy="11074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300">
        <p:push dir="u"/>
      </p:transition>
    </mc:Choice>
    <mc:Fallback>
      <p:transition xmlns:mc="http://schemas.openxmlformats.org/markup-compatibility/2006" xmlns:hp="http://schemas.haansoft.com/office/presentation/8.0" mc:Ignorable="hp" hp:hslDur="300">
        <p:fade/>
      </p:transition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286</ep:Words>
  <ep:PresentationFormat>On-screen Show (4:3)</ep:PresentationFormat>
  <ep:Paragraphs>77</ep:Paragraphs>
  <ep:Slides>18</ep:Slides>
  <ep:Notes>7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taera</cp:lastModifiedBy>
  <dcterms:modified xsi:type="dcterms:W3CDTF">2025-11-09T10:58:11.239</dcterms:modified>
  <cp:revision>59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