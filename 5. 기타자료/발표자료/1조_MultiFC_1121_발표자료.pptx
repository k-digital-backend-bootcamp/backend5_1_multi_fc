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86" r:id="rId3"/>
    <p:sldId id="257" r:id="rId4"/>
    <p:sldId id="292" r:id="rId5"/>
    <p:sldId id="294" r:id="rId6"/>
    <p:sldId id="259" r:id="rId7"/>
    <p:sldId id="295" r:id="rId8"/>
    <p:sldId id="288" r:id="rId9"/>
    <p:sldId id="293" r:id="rId10"/>
    <p:sldId id="296" r:id="rId11"/>
    <p:sldId id="298" r:id="rId12"/>
    <p:sldId id="290" r:id="rId13"/>
    <p:sldId id="291" r:id="rId14"/>
    <p:sldId id="256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3607" autoAdjust="0"/>
    <p:restoredTop sz="94327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3239"/>
        <p:guide pos="575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7681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751222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472571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360267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318739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463263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49832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60093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.png"  /><Relationship Id="rId11" Type="http://schemas.openxmlformats.org/officeDocument/2006/relationships/image" Target="../media/image10.png"  /><Relationship Id="rId12" Type="http://schemas.openxmlformats.org/officeDocument/2006/relationships/image" Target="../media/image11.png"  /><Relationship Id="rId13" Type="http://schemas.openxmlformats.org/officeDocument/2006/relationships/image" Target="../media/image8.png"  /><Relationship Id="rId14" Type="http://schemas.openxmlformats.org/officeDocument/2006/relationships/image" Target="../media/image10.png"  /><Relationship Id="rId15" Type="http://schemas.openxmlformats.org/officeDocument/2006/relationships/image" Target="../media/image9.png"  /><Relationship Id="rId16" Type="http://schemas.openxmlformats.org/officeDocument/2006/relationships/image" Target="../media/image11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12.png"  /><Relationship Id="rId6" Type="http://schemas.openxmlformats.org/officeDocument/2006/relationships/image" Target="../media/image13.png"  /><Relationship Id="rId7" Type="http://schemas.openxmlformats.org/officeDocument/2006/relationships/image" Target="../media/image14.png"  /><Relationship Id="rId8" Type="http://schemas.openxmlformats.org/officeDocument/2006/relationships/image" Target="../media/image15.png"  /><Relationship Id="rId9" Type="http://schemas.openxmlformats.org/officeDocument/2006/relationships/image" Target="../media/image16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20.png"  /><Relationship Id="rId11" Type="http://schemas.openxmlformats.org/officeDocument/2006/relationships/image" Target="../media/image20.png"  /><Relationship Id="rId12" Type="http://schemas.openxmlformats.org/officeDocument/2006/relationships/image" Target="../media/image21.png"  /><Relationship Id="rId13" Type="http://schemas.openxmlformats.org/officeDocument/2006/relationships/image" Target="../media/image22.png"  /><Relationship Id="rId14" Type="http://schemas.openxmlformats.org/officeDocument/2006/relationships/image" Target="../media/image23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4.png"  /><Relationship Id="rId2" Type="http://schemas.openxmlformats.org/officeDocument/2006/relationships/image" Target="../media/image17.png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19.png"  /><Relationship Id="rId9" Type="http://schemas.openxmlformats.org/officeDocument/2006/relationships/image" Target="../media/image20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10" Type="http://schemas.openxmlformats.org/officeDocument/2006/relationships/image" Target="../media/image20.png"  /><Relationship Id="rId11" Type="http://schemas.openxmlformats.org/officeDocument/2006/relationships/image" Target="../media/image20.png"  /><Relationship Id="rId12" Type="http://schemas.openxmlformats.org/officeDocument/2006/relationships/image" Target="../media/image25.png"  /><Relationship Id="rId13" Type="http://schemas.openxmlformats.org/officeDocument/2006/relationships/image" Target="../media/image26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10" Type="http://schemas.openxmlformats.org/officeDocument/2006/relationships/image" Target="../media/image20.png"  /><Relationship Id="rId11" Type="http://schemas.openxmlformats.org/officeDocument/2006/relationships/image" Target="../media/image20.png"  /><Relationship Id="rId12" Type="http://schemas.openxmlformats.org/officeDocument/2006/relationships/image" Target="../media/image27.png"  /><Relationship Id="rId13" Type="http://schemas.openxmlformats.org/officeDocument/2006/relationships/image" Target="../media/image28.png"  /><Relationship Id="rId14" Type="http://schemas.openxmlformats.org/officeDocument/2006/relationships/image" Target="../media/image29.png"  /><Relationship Id="rId15" Type="http://schemas.openxmlformats.org/officeDocument/2006/relationships/image" Target="../media/image30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1.png"  /><Relationship Id="rId11" Type="http://schemas.openxmlformats.org/officeDocument/2006/relationships/image" Target="../media/image20.png"  /><Relationship Id="rId2" Type="http://schemas.openxmlformats.org/officeDocument/2006/relationships/image" Target="../media/image17.png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19.png"  /><Relationship Id="rId9" Type="http://schemas.openxmlformats.org/officeDocument/2006/relationships/image" Target="../media/image20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10" Type="http://schemas.openxmlformats.org/officeDocument/2006/relationships/image" Target="../media/image19.png"  /><Relationship Id="rId11" Type="http://schemas.openxmlformats.org/officeDocument/2006/relationships/image" Target="../media/image20.png"  /><Relationship Id="rId12" Type="http://schemas.openxmlformats.org/officeDocument/2006/relationships/image" Target="../media/image20.png"  /><Relationship Id="rId13" Type="http://schemas.openxmlformats.org/officeDocument/2006/relationships/image" Target="../media/image32.png"  /><Relationship Id="rId14" Type="http://schemas.openxmlformats.org/officeDocument/2006/relationships/image" Target="../media/image33.png"  /><Relationship Id="rId15" Type="http://schemas.openxmlformats.org/officeDocument/2006/relationships/image" Target="../media/image34.png"  /><Relationship Id="rId16" Type="http://schemas.openxmlformats.org/officeDocument/2006/relationships/image" Target="../media/image35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7.png"  /><Relationship Id="rId6" Type="http://schemas.openxmlformats.org/officeDocument/2006/relationships/image" Target="../media/image18.png"  /><Relationship Id="rId7" Type="http://schemas.openxmlformats.org/officeDocument/2006/relationships/image" Target="../media/image4.png"  /><Relationship Id="rId8" Type="http://schemas.openxmlformats.org/officeDocument/2006/relationships/image" Target="../media/image5.png"  /><Relationship Id="rId9" Type="http://schemas.openxmlformats.org/officeDocument/2006/relationships/image" Target="../media/image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10" Type="http://schemas.openxmlformats.org/officeDocument/2006/relationships/image" Target="../media/image19.png"  /><Relationship Id="rId11" Type="http://schemas.openxmlformats.org/officeDocument/2006/relationships/image" Target="../media/image20.png"  /><Relationship Id="rId12" Type="http://schemas.openxmlformats.org/officeDocument/2006/relationships/image" Target="../media/image20.png"  /><Relationship Id="rId13" Type="http://schemas.openxmlformats.org/officeDocument/2006/relationships/image" Target="../media/image36.png"  /><Relationship Id="rId14" Type="http://schemas.openxmlformats.org/officeDocument/2006/relationships/image" Target="../media/image37.png"  /><Relationship Id="rId15" Type="http://schemas.openxmlformats.org/officeDocument/2006/relationships/image" Target="../media/image38.png"  /><Relationship Id="rId16" Type="http://schemas.openxmlformats.org/officeDocument/2006/relationships/image" Target="../media/image39.png"  /><Relationship Id="rId17" Type="http://schemas.openxmlformats.org/officeDocument/2006/relationships/image" Target="../media/image40.png"  /><Relationship Id="rId18" Type="http://schemas.openxmlformats.org/officeDocument/2006/relationships/image" Target="../media/image41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7.png"  /><Relationship Id="rId6" Type="http://schemas.openxmlformats.org/officeDocument/2006/relationships/image" Target="../media/image18.png"  /><Relationship Id="rId7" Type="http://schemas.openxmlformats.org/officeDocument/2006/relationships/image" Target="../media/image4.png"  /><Relationship Id="rId8" Type="http://schemas.openxmlformats.org/officeDocument/2006/relationships/image" Target="../media/image5.png"  /><Relationship Id="rId9" Type="http://schemas.openxmlformats.org/officeDocument/2006/relationships/image" Target="../media/image6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10" Type="http://schemas.openxmlformats.org/officeDocument/2006/relationships/image" Target="../media/image20.png"  /><Relationship Id="rId11" Type="http://schemas.openxmlformats.org/officeDocument/2006/relationships/image" Target="../media/image42.png"  /><Relationship Id="rId12" Type="http://schemas.openxmlformats.org/officeDocument/2006/relationships/image" Target="../media/image43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1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10" Type="http://schemas.openxmlformats.org/officeDocument/2006/relationships/image" Target="../media/image44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3.png"  /><Relationship Id="rId11" Type="http://schemas.openxmlformats.org/officeDocument/2006/relationships/image" Target="../media/image54.png"  /><Relationship Id="rId12" Type="http://schemas.openxmlformats.org/officeDocument/2006/relationships/image" Target="../media/image55.png"  /><Relationship Id="rId13" Type="http://schemas.openxmlformats.org/officeDocument/2006/relationships/image" Target="../media/image52.png"  /><Relationship Id="rId14" Type="http://schemas.openxmlformats.org/officeDocument/2006/relationships/image" Target="../media/image54.png"  /><Relationship Id="rId15" Type="http://schemas.openxmlformats.org/officeDocument/2006/relationships/image" Target="../media/image53.png"  /><Relationship Id="rId16" Type="http://schemas.openxmlformats.org/officeDocument/2006/relationships/image" Target="../media/image55.png"  /><Relationship Id="rId2" Type="http://schemas.openxmlformats.org/officeDocument/2006/relationships/image" Target="../media/image45.png"  /><Relationship Id="rId3" Type="http://schemas.openxmlformats.org/officeDocument/2006/relationships/image" Target="../media/image46.png"  /><Relationship Id="rId4" Type="http://schemas.openxmlformats.org/officeDocument/2006/relationships/image" Target="../media/image47.png"  /><Relationship Id="rId5" Type="http://schemas.openxmlformats.org/officeDocument/2006/relationships/image" Target="../media/image48.png"  /><Relationship Id="rId6" Type="http://schemas.openxmlformats.org/officeDocument/2006/relationships/image" Target="../media/image49.png"  /><Relationship Id="rId7" Type="http://schemas.openxmlformats.org/officeDocument/2006/relationships/image" Target="../media/image50.png"  /><Relationship Id="rId8" Type="http://schemas.openxmlformats.org/officeDocument/2006/relationships/image" Target="../media/image51.png"  /><Relationship Id="rId9" Type="http://schemas.openxmlformats.org/officeDocument/2006/relationships/image" Target="../media/image5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</a:t>
            </a:r>
            <a:endParaRPr lang="en-US" sz="2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028950" y="6210300"/>
            <a:ext cx="12230100" cy="800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3400" b="1" i="0" u="none" strike="noStrike">
                <a:solidFill>
                  <a:srgbClr val="494a4e"/>
                </a:solidFill>
                <a:latin typeface="맑은 고딕"/>
              </a:rPr>
              <a:t>Multi_FC | </a:t>
            </a:r>
            <a:r>
              <a:rPr lang="ko-KR" altLang="en-US" sz="3400" b="1" i="0" u="none" strike="noStrike">
                <a:solidFill>
                  <a:srgbClr val="494a4e"/>
                </a:solidFill>
                <a:latin typeface="맑은 고딕"/>
              </a:rPr>
              <a:t>권성민 문진우 박태란 윤승근 최준호 홍예린</a:t>
            </a:r>
            <a:endParaRPr lang="ko-KR" altLang="en-US" sz="3400" b="1" i="0" u="none" strike="noStrike">
              <a:solidFill>
                <a:srgbClr val="494a4e"/>
              </a:solidFill>
              <a:latin typeface="맑은 고딕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971799" y="4229100"/>
            <a:ext cx="12344400" cy="1600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9000" b="1" i="0" u="none" strike="noStrike">
                <a:solidFill>
                  <a:srgbClr val="000000"/>
                </a:solidFill>
                <a:latin typeface="맑은 고딕"/>
              </a:rPr>
              <a:t>1</a:t>
            </a:r>
            <a:r>
              <a:rPr lang="ko-KR" altLang="en-US" sz="9000" b="1" i="0" u="none" strike="noStrike">
                <a:solidFill>
                  <a:srgbClr val="000000"/>
                </a:solidFill>
                <a:latin typeface="맑은 고딕"/>
              </a:rPr>
              <a:t>조 중간 발표</a:t>
            </a:r>
            <a:endParaRPr lang="ko-KR" altLang="en-US" sz="9000" b="1" i="0" u="none" strike="noStrike">
              <a:solidFill>
                <a:srgbClr val="000000"/>
              </a:solidFill>
              <a:latin typeface="맑은 고딕"/>
            </a:endParaRPr>
          </a:p>
          <a:p>
            <a:pPr lvl="0" algn="ctr">
              <a:lnSpc>
                <a:spcPct val="99600"/>
              </a:lnSpc>
              <a:defRPr/>
            </a:pPr>
            <a:r>
              <a:rPr lang="en-US" altLang="ko-KR" sz="2000" b="1" i="0" u="none" strike="noStrike">
                <a:solidFill>
                  <a:srgbClr val="000000"/>
                </a:solidFill>
                <a:latin typeface="맑은 고딕"/>
              </a:rPr>
              <a:t>2025-11-21</a:t>
            </a:r>
            <a:endParaRPr lang="en-US" altLang="ko-KR" sz="2000" b="1" i="0" u="none" strike="noStrike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934209" y="2277109"/>
            <a:ext cx="1266191" cy="126619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315084" y="5620384"/>
            <a:ext cx="1123316" cy="1123316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753600" y="7353300"/>
            <a:ext cx="1075691" cy="107569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607559" y="8455659"/>
            <a:ext cx="1107441" cy="1107441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4126209" y="8267700"/>
            <a:ext cx="1266191" cy="1266191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6324600" y="2620009"/>
            <a:ext cx="1075691" cy="1075691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0896600" y="1714500"/>
            <a:ext cx="1123316" cy="1123316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5732759" y="3426459"/>
            <a:ext cx="1107441" cy="110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528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10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"/>
          <p:cNvGrpSpPr/>
          <p:nvPr/>
        </p:nvGrpSpPr>
        <p:grpSpPr>
          <a:xfrm rot="0">
            <a:off x="463549" y="431800"/>
            <a:ext cx="17360900" cy="9423400"/>
            <a:chOff x="457200" y="431800"/>
            <a:chExt cx="17360900" cy="94234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457200" y="431800"/>
              <a:ext cx="17360900" cy="9423400"/>
            </a:xfrm>
            <a:prstGeom prst="rect">
              <a:avLst/>
            </a:prstGeom>
            <a:effectLst>
              <a:outerShdw blurRad="1106733" dist="362644" dir="4020000">
                <a:srgbClr val="000000">
                  <a:alpha val="50000"/>
                </a:srgbClr>
              </a:outerShdw>
            </a:effectLst>
          </p:spPr>
        </p:pic>
        <p:pic>
          <p:nvPicPr>
            <p:cNvPr id="3" name="Picture 3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57200" y="431800"/>
              <a:ext cx="17360900" cy="90170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499100" y="660400"/>
              <a:ext cx="7289800" cy="444500"/>
            </a:xfrm>
            <a:prstGeom prst="rect">
              <a:avLst/>
            </a:prstGeom>
          </p:spPr>
        </p:pic>
      </p:grp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371600" y="8102600"/>
            <a:ext cx="1003300" cy="889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presentation_index</a:t>
            </a:r>
            <a:endParaRPr lang="en-US" sz="2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20800" y="2019300"/>
            <a:ext cx="3695700" cy="800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INDEX</a:t>
            </a:r>
            <a:endParaRPr lang="en-US" sz="4500" b="0" i="0" u="none" strike="noStrike">
              <a:solidFill>
                <a:srgbClr val="c2c2c2"/>
              </a:solidFill>
              <a:latin typeface="Pretendard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20800" y="2730500"/>
            <a:ext cx="3810000" cy="160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9000" b="0" i="0" u="none" strike="noStrike">
                <a:solidFill>
                  <a:srgbClr val="000000"/>
                </a:solidFill>
                <a:ea typeface="Pretendard Bold"/>
              </a:rPr>
              <a:t>목차</a:t>
            </a:r>
            <a:endParaRPr lang="ko-KR" sz="90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graphicFrame>
        <p:nvGraphicFramePr>
          <p:cNvPr id="28" name="표 27"/>
          <p:cNvGraphicFramePr>
            <a:graphicFrameLocks noGrp="1"/>
          </p:cNvGraphicFramePr>
          <p:nvPr/>
        </p:nvGraphicFramePr>
        <p:xfrm>
          <a:off x="7389496" y="4191000"/>
          <a:ext cx="9526904" cy="27051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830704"/>
                <a:gridCol w="7696200"/>
              </a:tblGrid>
              <a:tr h="9017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3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 b="0">
                          <a:solidFill>
                            <a:schemeClr val="tx1"/>
                          </a:solidFill>
                        </a:rPr>
                        <a:t>11.14</a:t>
                      </a:r>
                      <a:r>
                        <a:rPr lang="ko-KR" altLang="en-US" sz="3200" b="0">
                          <a:solidFill>
                            <a:schemeClr val="tx1"/>
                          </a:solidFill>
                        </a:rPr>
                        <a:t> 발표 이후 달라진 점</a:t>
                      </a:r>
                      <a:endParaRPr lang="ko-KR" altLang="en-US" sz="3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9017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ko-KR" sz="3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3200" b="0">
                          <a:solidFill>
                            <a:schemeClr val="tx1"/>
                          </a:solidFill>
                        </a:rPr>
                        <a:t>진행 상황</a:t>
                      </a:r>
                      <a:endParaRPr lang="ko-KR" altLang="en-US" sz="3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9017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3</a:t>
                      </a:r>
                      <a:endParaRPr lang="en-US" altLang="ko-KR" sz="3200"/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3200">
                          <a:solidFill>
                            <a:schemeClr val="tx1"/>
                          </a:solidFill>
                        </a:rPr>
                        <a:t>시연</a:t>
                      </a:r>
                      <a:endParaRPr lang="ko-KR" altLang="en-US" sz="32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Pretendard Light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10800" y="22479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google/kakao 로그인 및 회원가입 기능 추가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455784" y="2171700"/>
            <a:ext cx="504191" cy="504191"/>
          </a:xfrm>
          <a:prstGeom prst="rect">
            <a:avLst/>
          </a:prstGeom>
        </p:spPr>
      </p:pic>
      <p:sp>
        <p:nvSpPr>
          <p:cNvPr id="20" name="가로 글상자 19"/>
          <p:cNvSpPr txBox="1"/>
          <p:nvPr/>
        </p:nvSpPr>
        <p:spPr>
          <a:xfrm>
            <a:off x="10058400" y="3162300"/>
            <a:ext cx="7620000" cy="84709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xmlns:mc="http://schemas.openxmlformats.org/markup-compatibility/2006" xmlns:hp="http://schemas.haansoft.com/office/presentation/8.0" sz="2500" i="0" u="none" strike="noStrike" baseline="0" mc:Ignorable="hp" hp:hslEmbossed="0">
                <a:latin typeface="맑은 고딕"/>
                <a:ea typeface="맑은 고딕"/>
                <a:cs typeface="맑은 고딕"/>
              </a:rPr>
              <a:t>통합 로그인 구현해 google/kakao 로 회원가입 시 입력</a:t>
            </a:r>
            <a:r>
              <a:rPr xmlns:mc="http://schemas.openxmlformats.org/markup-compatibility/2006" xmlns:hp="http://schemas.haansoft.com/office/presentation/8.0" lang="ko-KR" altLang="en-US" sz="2500" i="0" u="none" strike="noStrike" baseline="0" mc:Ignorable="hp" hp:hslEmbossed="0">
                <a:latin typeface="맑은 고딕"/>
                <a:ea typeface="맑은 고딕"/>
                <a:cs typeface="맑은 고딕"/>
              </a:rPr>
              <a:t>한</a:t>
            </a:r>
            <a:r>
              <a:rPr xmlns:mc="http://schemas.openxmlformats.org/markup-compatibility/2006" xmlns:hp="http://schemas.haansoft.com/office/presentation/8.0" sz="250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아이디, 비밀번호로 로그인 가능하게 함</a:t>
            </a:r>
            <a:endParaRPr xmlns:mc="http://schemas.openxmlformats.org/markup-compatibility/2006" xmlns:hp="http://schemas.haansoft.com/office/presentation/8.0" sz="250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448800" y="3192145"/>
            <a:ext cx="504191" cy="504191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990600" y="3002279"/>
            <a:ext cx="3611880" cy="656082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4953000" y="3009899"/>
            <a:ext cx="3528060" cy="6530340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3017520" y="822960"/>
            <a:ext cx="3154680" cy="180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66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3400" y="431800"/>
            <a:ext cx="53340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48400" y="431800"/>
            <a:ext cx="115697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48400" y="431800"/>
            <a:ext cx="115697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5913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9596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3152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001000" y="660400"/>
            <a:ext cx="93726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05156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Pretendard Light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162800" y="1638300"/>
            <a:ext cx="10439400" cy="7010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JWT 기반 인증 구조(Security 패키지 설명)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1) JwtUtil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JWT 토큰 생성 / 검증 / 파싱 담당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HS256 알고리즘 기반으로 토큰 발급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2) JwtAuthenticationFilter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모든 요청에서 Authorization 헤더 검사</a:t>
            </a:r>
            <a:r>
              <a:rPr xmlns:mc="http://schemas.openxmlformats.org/markup-compatibility/2006" xmlns:hp="http://schemas.haansoft.com/office/presentation/8.0" lang="en-US" altLang="ko-KR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,</a:t>
            </a: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토큰 유효하면 SecurityContext에 인증 객체 저장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3) CustomUserDetails / CustomUserDetailsService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DB에서 User 정보를 불러와 Security에서 사용 가능한 형태로 변환</a:t>
            </a:r>
            <a:r>
              <a:rPr xmlns:mc="http://schemas.openxmlformats.org/markup-compatibility/2006" xmlns:hp="http://schemas.haansoft.com/office/presentation/8.0" lang="en-US" altLang="ko-KR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,</a:t>
            </a: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로그인 사용자 정보를 SecurityContext에 올릴 때 사용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4) OAuth2LoginSuccessHandler / CustomOAuth2UserService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구글/카카오 OAuth2 로그인 성공 시 처리</a:t>
            </a:r>
            <a:r>
              <a:rPr xmlns:mc="http://schemas.openxmlformats.org/markup-compatibility/2006" xmlns:hp="http://schemas.haansoft.com/office/presentation/8.0" lang="en-US" altLang="ko-KR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,</a:t>
            </a: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소셜 로그인 사용자도 자체 ID/PW 로그인 가능하게 통합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5) JwtChannelInterceptor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WebSocket(Stomp CONNECT) 요청에서 JWT 검증</a:t>
            </a:r>
            <a:r>
              <a:rPr xmlns:mc="http://schemas.openxmlformats.org/markup-compatibility/2006" xmlns:hp="http://schemas.haansoft.com/office/presentation/8.0" lang="en-US" altLang="ko-KR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,</a:t>
            </a: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채팅 기능 → WebSocket 연결 시 인증 처리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6) WebSocketConfig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STOMP 엔드포인트 설정(/ws)</a:t>
            </a:r>
            <a:r>
              <a:rPr xmlns:mc="http://schemas.openxmlformats.org/markup-compatibility/2006" xmlns:hp="http://schemas.haansoft.com/office/presentation/8.0" lang="en-US" altLang="ko-KR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,</a:t>
            </a: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메시지 브로커 설정(/topic, /app)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7) SecurityConfig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JWT 기반 무상태 인증 (SessionCreationPolicy.STATELESS) 토큰 필터 추가</a:t>
            </a:r>
            <a:r>
              <a:rPr xmlns:mc="http://schemas.openxmlformats.org/markup-compatibility/2006" xmlns:hp="http://schemas.haansoft.com/office/presentation/8.0" lang="en-US" altLang="ko-KR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,</a:t>
            </a:r>
            <a:r>
              <a: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API별 인증/인가 정책 설정</a:t>
            </a:r>
            <a:endParaRPr xmlns:mc="http://schemas.openxmlformats.org/markup-compatibility/2006" xmlns:hp="http://schemas.haansoft.com/office/presentation/8.0" lang="ko-KR" altLang="en-US" sz="20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6477000" y="1485900"/>
            <a:ext cx="504191" cy="504191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685800" y="2366362"/>
            <a:ext cx="4952143" cy="513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301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800" y="3644900"/>
            <a:ext cx="17526000" cy="6146799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81000" y="876300"/>
            <a:ext cx="17437100" cy="25146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81000" y="431800"/>
            <a:ext cx="174371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144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2827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383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2895600" y="660400"/>
            <a:ext cx="127889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0993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Pretendard Light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76400" y="1866900"/>
            <a:ext cx="149352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kakaomap api연동 해 구장 지도 뜨게 하고 구장 데이터 넣어 검색 기능 완성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21384" y="1790700"/>
            <a:ext cx="504191" cy="504191"/>
          </a:xfrm>
          <a:prstGeom prst="rect">
            <a:avLst/>
          </a:prstGeom>
        </p:spPr>
      </p:pic>
      <p:sp>
        <p:nvSpPr>
          <p:cNvPr id="20" name="가로 글상자 19"/>
          <p:cNvSpPr txBox="1"/>
          <p:nvPr/>
        </p:nvSpPr>
        <p:spPr>
          <a:xfrm>
            <a:off x="1524000" y="2543810"/>
            <a:ext cx="10439400" cy="46609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xmlns:mc="http://schemas.openxmlformats.org/markup-compatibility/2006" xmlns:hp="http://schemas.haansoft.com/office/presentation/8.0" sz="2500" i="0" u="none" strike="noStrike" baseline="0" mc:Ignorable="hp" hp:hslEmbossed="0">
                <a:latin typeface="맑은 고딕"/>
                <a:ea typeface="맑은 고딕"/>
                <a:cs typeface="맑은 고딕"/>
              </a:rPr>
              <a:t>구장검색 쪽애서 매칭방 개설 및 참여 가능하게 구현</a:t>
            </a:r>
            <a:endParaRPr xmlns:mc="http://schemas.openxmlformats.org/markup-compatibility/2006" xmlns:hp="http://schemas.haansoft.com/office/presentation/8.0" sz="250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14400" y="2476500"/>
            <a:ext cx="504191" cy="504191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09599" y="4076699"/>
            <a:ext cx="8407099" cy="5167853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9368792" y="4042409"/>
            <a:ext cx="7700009" cy="5133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800" y="3644900"/>
            <a:ext cx="17526000" cy="6146799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81000" y="876300"/>
            <a:ext cx="17437100" cy="25146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81000" y="431800"/>
            <a:ext cx="174371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144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2827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383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124200" y="660400"/>
            <a:ext cx="125603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478838" y="749300"/>
            <a:ext cx="11608762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Pretendard Light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76400" y="1866900"/>
            <a:ext cx="149352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메인페이지 7일 이내 일정 부분 경기일정은 상세보기 클릭 시 경기상세페이지로 이동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21384" y="1790700"/>
            <a:ext cx="504191" cy="504191"/>
          </a:xfrm>
          <a:prstGeom prst="rect">
            <a:avLst/>
          </a:prstGeom>
        </p:spPr>
      </p:pic>
      <p:sp>
        <p:nvSpPr>
          <p:cNvPr id="20" name="가로 글상자 19"/>
          <p:cNvSpPr txBox="1"/>
          <p:nvPr/>
        </p:nvSpPr>
        <p:spPr>
          <a:xfrm>
            <a:off x="1524000" y="2543810"/>
            <a:ext cx="10439400" cy="46609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개인일정은 달력에서 보기 클릭 시 마이페이지 일정 부분으로 이동</a:t>
            </a:r>
            <a:endParaRPr xmlns:mc="http://schemas.openxmlformats.org/markup-compatibility/2006" xmlns:hp="http://schemas.haansoft.com/office/presentation/8.0" sz="250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14400" y="2476500"/>
            <a:ext cx="504191" cy="504191"/>
          </a:xfrm>
          <a:prstGeom prst="rect">
            <a:avLst/>
          </a:prstGeom>
        </p:spPr>
      </p:pic>
      <p:pic>
        <p:nvPicPr>
          <p:cNvPr id="35" name="그림 34"/>
          <p:cNvPicPr/>
          <p:nvPr/>
        </p:nvPicPr>
        <p:blipFill rotWithShape="1">
          <a:blip r:embed="rId12"/>
          <a:stretch>
            <a:fillRect/>
          </a:stretch>
        </p:blipFill>
        <p:spPr>
          <a:xfrm>
            <a:off x="449580" y="5326380"/>
            <a:ext cx="3135630" cy="2613660"/>
          </a:xfrm>
          <a:prstGeom prst="rect">
            <a:avLst/>
          </a:prstGeom>
        </p:spPr>
      </p:pic>
      <p:pic>
        <p:nvPicPr>
          <p:cNvPr id="36" name="그림 35"/>
          <p:cNvPicPr/>
          <p:nvPr/>
        </p:nvPicPr>
        <p:blipFill rotWithShape="1">
          <a:blip r:embed="rId13"/>
          <a:stretch>
            <a:fillRect/>
          </a:stretch>
        </p:blipFill>
        <p:spPr>
          <a:xfrm>
            <a:off x="8915400" y="5372100"/>
            <a:ext cx="3135630" cy="2613660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3921043" y="4152900"/>
            <a:ext cx="4887123" cy="5223509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2420600" y="5143500"/>
            <a:ext cx="5445141" cy="3040380"/>
          </a:xfrm>
          <a:prstGeom prst="rect">
            <a:avLst/>
          </a:prstGeom>
        </p:spPr>
      </p:pic>
      <p:sp>
        <p:nvSpPr>
          <p:cNvPr id="39" name="직사각형 38"/>
          <p:cNvSpPr/>
          <p:nvPr/>
        </p:nvSpPr>
        <p:spPr>
          <a:xfrm>
            <a:off x="2438400" y="6362700"/>
            <a:ext cx="914400" cy="533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40" name="화살표 39"/>
          <p:cNvCxnSpPr/>
          <p:nvPr/>
        </p:nvCxnSpPr>
        <p:spPr>
          <a:xfrm rot="120000" flipV="1">
            <a:off x="3352800" y="6591300"/>
            <a:ext cx="914400" cy="3810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10972800" y="6362700"/>
            <a:ext cx="914400" cy="533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42" name="화살표 41"/>
          <p:cNvCxnSpPr/>
          <p:nvPr/>
        </p:nvCxnSpPr>
        <p:spPr>
          <a:xfrm rot="120000" flipV="1">
            <a:off x="11887200" y="6591300"/>
            <a:ext cx="914400" cy="3810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104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3400" y="431800"/>
            <a:ext cx="71628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153400" y="431800"/>
            <a:ext cx="96647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153400" y="431800"/>
            <a:ext cx="96647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420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788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9144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9544239" y="660400"/>
            <a:ext cx="7829361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7348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Pretendard Light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067800" y="1638300"/>
            <a:ext cx="83058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3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기존 </a:t>
            </a:r>
            <a:r>
              <a:rPr xmlns:mc="http://schemas.openxmlformats.org/markup-compatibility/2006" xmlns:hp="http://schemas.haansoft.com/office/presentation/8.0" lang="en-US" altLang="ko-KR" sz="23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lang="ko-KR" altLang="en-US" sz="23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경기 참가 상태가 확정이고 모집 완료 인 경우 일정 연동  </a:t>
            </a:r>
            <a:endParaRPr xmlns:mc="http://schemas.openxmlformats.org/markup-compatibility/2006" xmlns:hp="http://schemas.haansoft.com/office/presentation/8.0" lang="ko-KR" altLang="en-US" sz="23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382000" y="1591309"/>
            <a:ext cx="504191" cy="504191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685800" y="1445330"/>
            <a:ext cx="6656704" cy="7396339"/>
          </a:xfrm>
          <a:prstGeom prst="rect">
            <a:avLst/>
          </a:prstGeom>
        </p:spPr>
      </p:pic>
      <p:sp>
        <p:nvSpPr>
          <p:cNvPr id="34" name="가로 글상자 33"/>
          <p:cNvSpPr txBox="1"/>
          <p:nvPr/>
        </p:nvSpPr>
        <p:spPr>
          <a:xfrm>
            <a:off x="8991600" y="2552700"/>
            <a:ext cx="9144000" cy="4362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3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변경 </a:t>
            </a:r>
            <a:r>
              <a:rPr xmlns:mc="http://schemas.openxmlformats.org/markup-compatibility/2006" xmlns:hp="http://schemas.haansoft.com/office/presentation/8.0" lang="en-US" altLang="ko-KR" sz="23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:  </a:t>
            </a:r>
            <a:r>
              <a:rPr xmlns:mc="http://schemas.openxmlformats.org/markup-compatibility/2006" xmlns:hp="http://schemas.haansoft.com/office/presentation/8.0" lang="ko-KR" altLang="en-US" sz="23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사용자가 경기 개설한 호스트일 때 일정 연동 쿼리 추가</a:t>
            </a:r>
            <a:endParaRPr xmlns:mc="http://schemas.openxmlformats.org/markup-compatibility/2006" xmlns:hp="http://schemas.haansoft.com/office/presentation/8.0" lang="ko-KR" altLang="en-US" sz="23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382000" y="2505709"/>
            <a:ext cx="504191" cy="504191"/>
          </a:xfrm>
          <a:prstGeom prst="rect">
            <a:avLst/>
          </a:prstGeom>
        </p:spPr>
      </p:pic>
      <p:sp>
        <p:nvSpPr>
          <p:cNvPr id="36" name="직사각형 35"/>
          <p:cNvSpPr/>
          <p:nvPr/>
        </p:nvSpPr>
        <p:spPr>
          <a:xfrm>
            <a:off x="914400" y="5372100"/>
            <a:ext cx="6172200" cy="34290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511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82202" y="342900"/>
            <a:ext cx="8000999" cy="97536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04800" y="3644900"/>
            <a:ext cx="9144000" cy="6146799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81000" y="876300"/>
            <a:ext cx="9144000" cy="25146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" y="431800"/>
            <a:ext cx="91440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9144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827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6383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362200" y="660400"/>
            <a:ext cx="65532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438400" y="749300"/>
            <a:ext cx="6087625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19200" y="1866900"/>
            <a:ext cx="149352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게시글 CUD, 댓글 </a:t>
            </a:r>
            <a:r>
              <a:rPr xmlns:mc="http://schemas.openxmlformats.org/markup-compatibility/2006" xmlns:hp="http://schemas.haansoft.com/office/presentation/8.0" lang="en-US" altLang="ko-KR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·</a:t>
            </a: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대댓글 기능, 본인 게시글 </a:t>
            </a:r>
            <a:r>
              <a:rPr xmlns:mc="http://schemas.openxmlformats.org/markup-compatibility/2006" xmlns:hp="http://schemas.haansoft.com/office/presentation/8.0" lang="en-US" altLang="ko-KR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·</a:t>
            </a: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댓글 인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경우만 수정 삭제 가능하게 구현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533400" y="1790700"/>
            <a:ext cx="504191" cy="504191"/>
          </a:xfrm>
          <a:prstGeom prst="rect">
            <a:avLst/>
          </a:prstGeom>
        </p:spPr>
      </p:pic>
      <p:sp>
        <p:nvSpPr>
          <p:cNvPr id="20" name="가로 글상자 19"/>
          <p:cNvSpPr txBox="1"/>
          <p:nvPr/>
        </p:nvSpPr>
        <p:spPr>
          <a:xfrm>
            <a:off x="1066800" y="2696210"/>
            <a:ext cx="10439400" cy="46609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xss방지 구현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533400" y="2628900"/>
            <a:ext cx="504191" cy="504191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533400" y="3924300"/>
            <a:ext cx="8635383" cy="2760431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1731458" y="495300"/>
            <a:ext cx="4861092" cy="4457552"/>
          </a:xfrm>
          <a:prstGeom prst="rect">
            <a:avLst/>
          </a:prstGeom>
        </p:spPr>
      </p:pic>
      <p:pic>
        <p:nvPicPr>
          <p:cNvPr id="46" name="그림 45"/>
          <p:cNvPicPr/>
          <p:nvPr/>
        </p:nvPicPr>
        <p:blipFill rotWithShape="1">
          <a:blip r:embed="rId15"/>
          <a:stretch>
            <a:fillRect/>
          </a:stretch>
        </p:blipFill>
        <p:spPr>
          <a:xfrm>
            <a:off x="11750632" y="4991100"/>
            <a:ext cx="4860967" cy="5012054"/>
          </a:xfrm>
          <a:prstGeom prst="rect">
            <a:avLst/>
          </a:prstGeom>
        </p:spPr>
      </p:pic>
      <p:sp>
        <p:nvSpPr>
          <p:cNvPr id="47" name="직사각형 46"/>
          <p:cNvSpPr/>
          <p:nvPr/>
        </p:nvSpPr>
        <p:spPr>
          <a:xfrm>
            <a:off x="8153013" y="4022655"/>
            <a:ext cx="914400" cy="533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48" name="화살표 47"/>
          <p:cNvCxnSpPr/>
          <p:nvPr/>
        </p:nvCxnSpPr>
        <p:spPr>
          <a:xfrm flipV="1">
            <a:off x="9067028" y="1790700"/>
            <a:ext cx="2820172" cy="248268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2133986" y="5829300"/>
            <a:ext cx="914400" cy="533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50" name="화살표 49"/>
          <p:cNvCxnSpPr/>
          <p:nvPr/>
        </p:nvCxnSpPr>
        <p:spPr>
          <a:xfrm flipV="1">
            <a:off x="3048000" y="6057900"/>
            <a:ext cx="8915400" cy="2213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609600" y="6850380"/>
            <a:ext cx="5213093" cy="275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414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525002" y="419100"/>
            <a:ext cx="8458199" cy="93726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04800" y="3644900"/>
            <a:ext cx="9220200" cy="6146799"/>
          </a:xfrm>
          <a:prstGeom prst="rect">
            <a:avLst/>
          </a:prstGeom>
          <a:effectLst/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81000" y="876300"/>
            <a:ext cx="9144000" cy="2514600"/>
          </a:xfrm>
          <a:prstGeom prst="rect">
            <a:avLst/>
          </a:prstGeom>
          <a:effectLst/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" y="431800"/>
            <a:ext cx="91440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9144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827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6383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362200" y="660400"/>
            <a:ext cx="65532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438400" y="749300"/>
            <a:ext cx="6087625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19200" y="1562100"/>
            <a:ext cx="81534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schedule 테이블에 match_room_id 추가 해 일정 내 경기 클릭 시 경기 상세페이지로 이동하게 함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533400" y="1485900"/>
            <a:ext cx="504191" cy="504191"/>
          </a:xfrm>
          <a:prstGeom prst="rect">
            <a:avLst/>
          </a:prstGeom>
        </p:spPr>
      </p:pic>
      <p:sp>
        <p:nvSpPr>
          <p:cNvPr id="20" name="가로 글상자 19"/>
          <p:cNvSpPr txBox="1"/>
          <p:nvPr/>
        </p:nvSpPr>
        <p:spPr>
          <a:xfrm>
            <a:off x="1066800" y="2391410"/>
            <a:ext cx="8305800" cy="8451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post테이블에 view_count, image_url 컬럼 추가 해 게시글 조회수와 게시글 이미지 첨부 구현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533400" y="2324100"/>
            <a:ext cx="504191" cy="504191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9926834" y="647700"/>
            <a:ext cx="1546860" cy="2910840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533400" y="5524500"/>
            <a:ext cx="1981200" cy="2499360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2321540" y="647700"/>
            <a:ext cx="2308860" cy="3771900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9996548" y="5060316"/>
            <a:ext cx="7681852" cy="4121784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3124200" y="3695700"/>
            <a:ext cx="3399283" cy="4563744"/>
          </a:xfrm>
          <a:prstGeom prst="rect">
            <a:avLst/>
          </a:prstGeom>
        </p:spPr>
      </p:pic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6690743" y="6438900"/>
            <a:ext cx="2667000" cy="2819400"/>
          </a:xfrm>
          <a:prstGeom prst="rect">
            <a:avLst/>
          </a:prstGeom>
        </p:spPr>
      </p:pic>
      <p:cxnSp>
        <p:nvCxnSpPr>
          <p:cNvPr id="61" name="화살표 60"/>
          <p:cNvCxnSpPr/>
          <p:nvPr/>
        </p:nvCxnSpPr>
        <p:spPr>
          <a:xfrm rot="5400000" flipH="1" flipV="1">
            <a:off x="1596754" y="5223146"/>
            <a:ext cx="1835692" cy="167640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화살표 61"/>
          <p:cNvCxnSpPr/>
          <p:nvPr/>
        </p:nvCxnSpPr>
        <p:spPr>
          <a:xfrm>
            <a:off x="1752600" y="7588792"/>
            <a:ext cx="4800600" cy="113610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화살표 62"/>
          <p:cNvCxnSpPr/>
          <p:nvPr/>
        </p:nvCxnSpPr>
        <p:spPr>
          <a:xfrm rot="16200000" flipH="1">
            <a:off x="13144500" y="4876800"/>
            <a:ext cx="990600" cy="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407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800" y="2628900"/>
            <a:ext cx="17526000" cy="7162799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81000" y="876300"/>
            <a:ext cx="17437100" cy="15240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81000" y="431800"/>
            <a:ext cx="174371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144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2827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383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124200" y="660400"/>
            <a:ext cx="125603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478838" y="749300"/>
            <a:ext cx="11608762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변경사항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76400" y="1638300"/>
            <a:ext cx="149352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채팅 기능 연동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21384" y="1562100"/>
            <a:ext cx="504191" cy="504191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14400" y="3300503"/>
            <a:ext cx="2514145" cy="3685993"/>
          </a:xfrm>
          <a:prstGeom prst="rect">
            <a:avLst/>
          </a:prstGeom>
        </p:spPr>
      </p:pic>
      <p:sp>
        <p:nvSpPr>
          <p:cNvPr id="46" name="직사각형 45"/>
          <p:cNvSpPr/>
          <p:nvPr/>
        </p:nvSpPr>
        <p:spPr>
          <a:xfrm>
            <a:off x="1371600" y="6134100"/>
            <a:ext cx="1676400" cy="533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3733800" y="3390900"/>
            <a:ext cx="13732807" cy="5725590"/>
          </a:xfrm>
          <a:prstGeom prst="rect">
            <a:avLst/>
          </a:prstGeom>
        </p:spPr>
      </p:pic>
      <p:cxnSp>
        <p:nvCxnSpPr>
          <p:cNvPr id="47" name="화살표 46"/>
          <p:cNvCxnSpPr/>
          <p:nvPr/>
        </p:nvCxnSpPr>
        <p:spPr>
          <a:xfrm rot="5400000" flipH="1" flipV="1">
            <a:off x="2095114" y="4571614"/>
            <a:ext cx="2895600" cy="99137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3505200" y="4610100"/>
            <a:ext cx="1676400" cy="533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105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"/>
          <p:cNvGrpSpPr/>
          <p:nvPr/>
        </p:nvGrpSpPr>
        <p:grpSpPr>
          <a:xfrm rot="0">
            <a:off x="463549" y="431800"/>
            <a:ext cx="17360900" cy="9423400"/>
            <a:chOff x="457200" y="431800"/>
            <a:chExt cx="17360900" cy="94234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 rotWithShape="1">
            <a:blip r:embed="rId2">
              <a:lum/>
            </a:blip>
            <a:stretch>
              <a:fillRect/>
            </a:stretch>
          </p:blipFill>
          <p:spPr>
            <a:xfrm>
              <a:off x="457200" y="431800"/>
              <a:ext cx="17360900" cy="9423400"/>
            </a:xfrm>
            <a:prstGeom prst="rect">
              <a:avLst/>
            </a:prstGeom>
            <a:effectLst>
              <a:outerShdw blurRad="1106733" dist="362644" dir="4020000">
                <a:srgbClr val="000000">
                  <a:alpha val="50000"/>
                </a:srgbClr>
              </a:outerShdw>
            </a:effectLst>
          </p:spPr>
        </p:pic>
        <p:pic>
          <p:nvPicPr>
            <p:cNvPr id="3" name="Picture 3"/>
            <p:cNvPicPr>
              <a:picLocks noChangeAspect="1"/>
            </p:cNvPicPr>
            <p:nvPr/>
          </p:nvPicPr>
          <p:blipFill rotWithShape="1">
            <a:blip r:embed="rId3">
              <a:lum/>
            </a:blip>
            <a:stretch>
              <a:fillRect/>
            </a:stretch>
          </p:blipFill>
          <p:spPr>
            <a:xfrm>
              <a:off x="457200" y="431800"/>
              <a:ext cx="17360900" cy="90170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 rotWithShape="1">
            <a:blip r:embed="rId4">
              <a:lum/>
            </a:blip>
            <a:stretch>
              <a:fillRect/>
            </a:stretch>
          </p:blipFill>
          <p:spPr>
            <a:xfrm>
              <a:off x="5499100" y="660400"/>
              <a:ext cx="7289800" cy="444500"/>
            </a:xfrm>
            <a:prstGeom prst="rect">
              <a:avLst/>
            </a:prstGeom>
          </p:spPr>
        </p:pic>
      </p:grp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진행 현황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9" name="가로 글상자 28"/>
          <p:cNvSpPr txBox="1"/>
          <p:nvPr/>
        </p:nvSpPr>
        <p:spPr>
          <a:xfrm>
            <a:off x="4038598" y="1706880"/>
            <a:ext cx="10210802" cy="8151495"/>
          </a:xfrm>
          <a:prstGeom prst="rect">
            <a:avLst/>
          </a:prstGeom>
        </p:spPr>
        <p:txBody>
          <a:bodyPr wrap="square" bIns="0" anchor="ctr" anchorCtr="0">
            <a:spAutoFit/>
          </a:bodyPr>
          <a:p>
            <a:pPr lvl="0">
              <a:defRPr/>
            </a:pPr>
            <a:r>
              <a:rPr lang="en-US" altLang="ko-KR" sz="2800">
                <a:latin typeface="맑은 고딕"/>
              </a:rPr>
              <a:t>1.</a:t>
            </a:r>
            <a:r>
              <a:rPr lang="ko-KR" altLang="en-US" sz="2800">
                <a:latin typeface="맑은 고딕"/>
              </a:rPr>
              <a:t> </a:t>
            </a:r>
            <a:r>
              <a:rPr lang="en-US" altLang="ko-KR" sz="2800">
                <a:latin typeface="맑은 고딕"/>
              </a:rPr>
              <a:t>OAuth2(Google/Kakao) 로그인 + 일반 로그인 통합 완료</a:t>
            </a:r>
            <a:endParaRPr lang="en-US" altLang="ko-KR" sz="2800">
              <a:latin typeface="맑은 고딕"/>
            </a:endParaRPr>
          </a:p>
          <a:p>
            <a:pPr lvl="0">
              <a:defRPr/>
            </a:pPr>
            <a:endParaRPr lang="en-US" altLang="ko-KR" sz="2800">
              <a:latin typeface="맑은 고딕"/>
            </a:endParaRPr>
          </a:p>
          <a:p>
            <a:pPr lvl="0">
              <a:defRPr/>
            </a:pPr>
            <a:r>
              <a:rPr lang="en-US" altLang="ko-KR" sz="2800">
                <a:latin typeface="맑은 고딕"/>
              </a:rPr>
              <a:t>2.</a:t>
            </a:r>
            <a:r>
              <a:rPr lang="ko-KR" altLang="en-US" sz="2800">
                <a:latin typeface="맑은 고딕"/>
              </a:rPr>
              <a:t> </a:t>
            </a:r>
            <a:r>
              <a:rPr lang="en-US" altLang="ko-KR" sz="2800">
                <a:latin typeface="맑은 고딕"/>
              </a:rPr>
              <a:t>JWT 기반 인증/인가 구조 구축</a:t>
            </a:r>
            <a:endParaRPr lang="en-US" altLang="ko-KR" sz="2800">
              <a:latin typeface="맑은 고딕"/>
            </a:endParaRPr>
          </a:p>
          <a:p>
            <a:pPr lvl="0">
              <a:defRPr/>
            </a:pPr>
            <a:endParaRPr lang="en-US" altLang="ko-KR" sz="2800">
              <a:latin typeface="맑은 고딕"/>
            </a:endParaRPr>
          </a:p>
          <a:p>
            <a:pPr lvl="0">
              <a:defRPr/>
            </a:pPr>
            <a:r>
              <a:rPr lang="en-US" altLang="ko-KR" sz="2800">
                <a:latin typeface="맑은 고딕"/>
              </a:rPr>
              <a:t>3.</a:t>
            </a:r>
            <a:r>
              <a:rPr lang="ko-KR" altLang="en-US" sz="2800">
                <a:latin typeface="맑은 고딕"/>
              </a:rPr>
              <a:t> </a:t>
            </a:r>
            <a:r>
              <a:rPr lang="en-US" altLang="ko-KR" sz="2800">
                <a:latin typeface="맑은 고딕"/>
              </a:rPr>
              <a:t>KakaoMap 연동으로 구장 지도·검색 기능 완성</a:t>
            </a:r>
            <a:endParaRPr lang="en-US" altLang="ko-KR" sz="2800">
              <a:latin typeface="맑은 고딕"/>
            </a:endParaRPr>
          </a:p>
          <a:p>
            <a:pPr lvl="0">
              <a:defRPr/>
            </a:pPr>
            <a:endParaRPr lang="en-US" altLang="ko-KR" sz="2800">
              <a:latin typeface="맑은 고딕"/>
            </a:endParaRPr>
          </a:p>
          <a:p>
            <a:pPr lvl="0">
              <a:defRPr/>
            </a:pPr>
            <a:r>
              <a:rPr lang="en-US" altLang="ko-KR" sz="2800">
                <a:latin typeface="맑은 고딕"/>
              </a:rPr>
              <a:t>4.</a:t>
            </a:r>
            <a:r>
              <a:rPr lang="ko-KR" altLang="en-US" sz="2800">
                <a:latin typeface="맑은 고딕"/>
              </a:rPr>
              <a:t> </a:t>
            </a:r>
            <a:r>
              <a:rPr lang="en-US" altLang="ko-KR" sz="2800">
                <a:latin typeface="맑은 고딕"/>
              </a:rPr>
              <a:t>매칭방 개설 및 참여 기능 구축</a:t>
            </a:r>
            <a:endParaRPr lang="en-US" altLang="ko-KR" sz="2800">
              <a:latin typeface="맑은 고딕"/>
            </a:endParaRPr>
          </a:p>
          <a:p>
            <a:pPr lvl="0">
              <a:defRPr/>
            </a:pPr>
            <a:endParaRPr lang="en-US" altLang="ko-KR" sz="2800">
              <a:latin typeface="맑은 고딕"/>
            </a:endParaRPr>
          </a:p>
          <a:p>
            <a:pPr lvl="0">
              <a:defRPr/>
            </a:pPr>
            <a:r>
              <a:rPr lang="en-US" altLang="ko-KR" sz="2800">
                <a:latin typeface="맑은 고딕"/>
              </a:rPr>
              <a:t>5.</a:t>
            </a:r>
            <a:r>
              <a:rPr lang="ko-KR" altLang="en-US" sz="2800">
                <a:latin typeface="맑은 고딕"/>
              </a:rPr>
              <a:t> </a:t>
            </a:r>
            <a:r>
              <a:rPr lang="en-US" altLang="ko-KR" sz="2800">
                <a:latin typeface="맑은 고딕"/>
              </a:rPr>
              <a:t>메인페이지 일정 → 상세 페이지 이동 흐름 완성</a:t>
            </a:r>
            <a:endParaRPr lang="en-US" altLang="ko-KR" sz="2800">
              <a:latin typeface="맑은 고딕"/>
            </a:endParaRPr>
          </a:p>
          <a:p>
            <a:pPr lvl="0">
              <a:defRPr/>
            </a:pPr>
            <a:endParaRPr lang="en-US" altLang="ko-KR" sz="2800">
              <a:latin typeface="맑은 고딕"/>
            </a:endParaRPr>
          </a:p>
          <a:p>
            <a:pPr lvl="0">
              <a:defRPr/>
            </a:pPr>
            <a:r>
              <a:rPr lang="en-US" altLang="ko-KR" sz="2800">
                <a:latin typeface="맑은 고딕"/>
              </a:rPr>
              <a:t>6.</a:t>
            </a:r>
            <a:r>
              <a:rPr lang="ko-KR" altLang="en-US" sz="2800">
                <a:latin typeface="맑은 고딕"/>
              </a:rPr>
              <a:t> </a:t>
            </a:r>
            <a:r>
              <a:rPr lang="en-US" altLang="ko-KR" sz="2800">
                <a:latin typeface="맑은 고딕"/>
              </a:rPr>
              <a:t>경기 일정 자동 연동 기능 개선</a:t>
            </a:r>
            <a:endParaRPr lang="en-US" altLang="ko-KR" sz="2800">
              <a:latin typeface="맑은 고딕"/>
            </a:endParaRPr>
          </a:p>
          <a:p>
            <a:pPr lvl="0">
              <a:defRPr/>
            </a:pPr>
            <a:endParaRPr lang="en-US" altLang="ko-KR" sz="2800">
              <a:latin typeface="맑은 고딕"/>
            </a:endParaRPr>
          </a:p>
          <a:p>
            <a:pPr lvl="0">
              <a:defRPr/>
            </a:pPr>
            <a:r>
              <a:rPr lang="en-US" altLang="ko-KR" sz="2800">
                <a:latin typeface="맑은 고딕"/>
              </a:rPr>
              <a:t>7.</a:t>
            </a:r>
            <a:r>
              <a:rPr lang="ko-KR" altLang="en-US" sz="2800">
                <a:latin typeface="맑은 고딕"/>
              </a:rPr>
              <a:t> </a:t>
            </a:r>
            <a:r>
              <a:rPr lang="en-US" altLang="ko-KR" sz="2800">
                <a:latin typeface="맑은 고딕"/>
              </a:rPr>
              <a:t>커뮤니티 게시판 + 댓글/대댓글 + XSS 방지까지 개발 완료</a:t>
            </a:r>
            <a:endParaRPr lang="en-US" altLang="ko-KR" sz="2800">
              <a:latin typeface="맑은 고딕"/>
            </a:endParaRPr>
          </a:p>
          <a:p>
            <a:pPr lvl="0">
              <a:defRPr/>
            </a:pPr>
            <a:endParaRPr lang="en-US" altLang="ko-KR" sz="2800">
              <a:latin typeface="맑은 고딕"/>
            </a:endParaRPr>
          </a:p>
          <a:p>
            <a:pPr lvl="0">
              <a:defRPr/>
            </a:pPr>
            <a:r>
              <a:rPr lang="en-US" altLang="ko-KR" sz="2800">
                <a:latin typeface="맑은 고딕"/>
              </a:rPr>
              <a:t>8.</a:t>
            </a:r>
            <a:r>
              <a:rPr lang="ko-KR" altLang="en-US" sz="2800">
                <a:latin typeface="맑은 고딕"/>
              </a:rPr>
              <a:t> </a:t>
            </a:r>
            <a:r>
              <a:rPr lang="en-US" altLang="ko-KR" sz="2800">
                <a:latin typeface="맑은 고딕"/>
              </a:rPr>
              <a:t>일정(match_room_id) &amp; 게시글(view_count, 이미지) 구조 확장</a:t>
            </a:r>
            <a:endParaRPr lang="en-US" altLang="ko-KR" sz="2800">
              <a:latin typeface="맑은 고딕"/>
            </a:endParaRPr>
          </a:p>
          <a:p>
            <a:pPr lvl="0">
              <a:defRPr/>
            </a:pPr>
            <a:endParaRPr lang="en-US" altLang="ko-KR" sz="2800">
              <a:latin typeface="맑은 고딕"/>
            </a:endParaRPr>
          </a:p>
          <a:p>
            <a:pPr lvl="0">
              <a:defRPr/>
            </a:pPr>
            <a:r>
              <a:rPr lang="en-US" altLang="ko-KR" sz="2800">
                <a:latin typeface="맑은 고딕"/>
              </a:rPr>
              <a:t>9.</a:t>
            </a:r>
            <a:r>
              <a:rPr lang="ko-KR" altLang="en-US" sz="2800">
                <a:latin typeface="맑은 고딕"/>
              </a:rPr>
              <a:t> </a:t>
            </a:r>
            <a:r>
              <a:rPr lang="en-US" altLang="ko-KR" sz="2800">
                <a:latin typeface="맑은 고딕"/>
              </a:rPr>
              <a:t>실시간 채팅 기능</a:t>
            </a:r>
            <a:endParaRPr lang="en-US" altLang="ko-KR" sz="2800">
              <a:latin typeface="맑은 고딕"/>
            </a:endParaRPr>
          </a:p>
          <a:p>
            <a:pPr lvl="0">
              <a:defRPr/>
            </a:pPr>
            <a:endParaRPr lang="ko-KR" altLang="en-US" sz="280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35942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"/>
          <p:cNvGrpSpPr/>
          <p:nvPr/>
        </p:nvGrpSpPr>
        <p:grpSpPr>
          <a:xfrm rot="0">
            <a:off x="463549" y="431800"/>
            <a:ext cx="17360900" cy="9423400"/>
            <a:chOff x="457200" y="431800"/>
            <a:chExt cx="17360900" cy="94234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 rotWithShape="1">
            <a:blip r:embed="rId3">
              <a:lum/>
            </a:blip>
            <a:stretch>
              <a:fillRect/>
            </a:stretch>
          </p:blipFill>
          <p:spPr>
            <a:xfrm>
              <a:off x="457200" y="431800"/>
              <a:ext cx="17360900" cy="9423400"/>
            </a:xfrm>
            <a:prstGeom prst="rect">
              <a:avLst/>
            </a:prstGeom>
            <a:effectLst>
              <a:outerShdw blurRad="1106733" dist="362644" dir="4020000">
                <a:srgbClr val="000000">
                  <a:alpha val="50000"/>
                </a:srgbClr>
              </a:outerShdw>
            </a:effectLst>
          </p:spPr>
        </p:pic>
        <p:pic>
          <p:nvPicPr>
            <p:cNvPr id="3" name="Picture 3"/>
            <p:cNvPicPr>
              <a:picLocks noChangeAspect="1"/>
            </p:cNvPicPr>
            <p:nvPr/>
          </p:nvPicPr>
          <p:blipFill rotWithShape="1">
            <a:blip r:embed="rId4">
              <a:lum/>
            </a:blip>
            <a:stretch>
              <a:fillRect/>
            </a:stretch>
          </p:blipFill>
          <p:spPr>
            <a:xfrm>
              <a:off x="457200" y="431800"/>
              <a:ext cx="17360900" cy="90170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 rotWithShape="1">
            <a:blip r:embed="rId5">
              <a:lum/>
            </a:blip>
            <a:stretch>
              <a:fillRect/>
            </a:stretch>
          </p:blipFill>
          <p:spPr>
            <a:xfrm>
              <a:off x="5499100" y="660400"/>
              <a:ext cx="7289800" cy="444500"/>
            </a:xfrm>
            <a:prstGeom prst="rect">
              <a:avLst/>
            </a:prstGeom>
          </p:spPr>
        </p:pic>
      </p:grp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</a:rPr>
              <a:t>시연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</a:endParaRPr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319495" y="1928494"/>
            <a:ext cx="15649010" cy="732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68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</a:t>
            </a:r>
            <a:endParaRPr lang="en-US" sz="2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028950" y="6210300"/>
            <a:ext cx="12230100" cy="800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3400" b="1" i="0" u="none" strike="noStrike">
                <a:solidFill>
                  <a:srgbClr val="494a4e"/>
                </a:solidFill>
                <a:latin typeface="맑은 고딕"/>
              </a:rPr>
              <a:t>Multi_FC | </a:t>
            </a:r>
            <a:r>
              <a:rPr lang="ko-KR" altLang="en-US" sz="3400" b="1" i="0" u="none" strike="noStrike">
                <a:solidFill>
                  <a:srgbClr val="494a4e"/>
                </a:solidFill>
                <a:latin typeface="맑은 고딕"/>
              </a:rPr>
              <a:t>권성민 문진우 박태란 윤승근 최준호 홍예린</a:t>
            </a:r>
            <a:endParaRPr lang="ko-KR" altLang="en-US" sz="3400" b="1" i="0" u="none" strike="noStrike">
              <a:solidFill>
                <a:srgbClr val="494a4e"/>
              </a:solidFill>
              <a:latin typeface="맑은 고딕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971799" y="4229100"/>
            <a:ext cx="12344400" cy="1600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9000" b="1" i="0" u="none" strike="noStrike">
                <a:solidFill>
                  <a:srgbClr val="000000"/>
                </a:solidFill>
                <a:latin typeface="맑은 고딕"/>
              </a:rPr>
              <a:t>감사합니다</a:t>
            </a:r>
            <a:endParaRPr lang="ko-KR" altLang="en-US" sz="9000" b="1" i="0" u="none" strike="noStrike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934209" y="2277109"/>
            <a:ext cx="1266191" cy="126619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315084" y="5620384"/>
            <a:ext cx="1123316" cy="1123316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753600" y="7353300"/>
            <a:ext cx="1075691" cy="107569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607559" y="8455659"/>
            <a:ext cx="1107441" cy="1107441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4126209" y="8267700"/>
            <a:ext cx="1266191" cy="1266191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6324600" y="2620009"/>
            <a:ext cx="1075691" cy="1075691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0896600" y="1714500"/>
            <a:ext cx="1123316" cy="1123316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5732759" y="3426459"/>
            <a:ext cx="1107441" cy="11074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319</ep:Words>
  <ep:PresentationFormat>On-screen Show (4:3)</ep:PresentationFormat>
  <ep:Paragraphs>83</ep:Paragraphs>
  <ep:Slides>13</ep:Slides>
  <ep:Notes>7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taera</cp:lastModifiedBy>
  <dcterms:modified xsi:type="dcterms:W3CDTF">2025-11-21T02:35:40.909</dcterms:modified>
  <cp:revision>89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